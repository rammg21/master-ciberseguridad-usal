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50" r:id="rId5"/>
  </p:sldMasterIdLst>
  <p:notesMasterIdLst>
    <p:notesMasterId r:id="rId31"/>
  </p:notesMasterIdLst>
  <p:sldIdLst>
    <p:sldId id="256" r:id="rId6"/>
    <p:sldId id="282" r:id="rId7"/>
    <p:sldId id="287" r:id="rId8"/>
    <p:sldId id="283" r:id="rId9"/>
    <p:sldId id="284" r:id="rId10"/>
    <p:sldId id="285" r:id="rId11"/>
    <p:sldId id="286" r:id="rId12"/>
    <p:sldId id="270" r:id="rId13"/>
    <p:sldId id="260" r:id="rId14"/>
    <p:sldId id="271" r:id="rId15"/>
    <p:sldId id="289" r:id="rId16"/>
    <p:sldId id="261" r:id="rId17"/>
    <p:sldId id="290" r:id="rId18"/>
    <p:sldId id="273" r:id="rId19"/>
    <p:sldId id="291" r:id="rId20"/>
    <p:sldId id="292" r:id="rId21"/>
    <p:sldId id="276" r:id="rId22"/>
    <p:sldId id="277" r:id="rId23"/>
    <p:sldId id="263" r:id="rId24"/>
    <p:sldId id="278" r:id="rId25"/>
    <p:sldId id="288" r:id="rId26"/>
    <p:sldId id="279" r:id="rId27"/>
    <p:sldId id="280" r:id="rId28"/>
    <p:sldId id="281" r:id="rId29"/>
    <p:sldId id="293" r:id="rId3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CC0BF"/>
    <a:srgbClr val="2E6CA4"/>
    <a:srgbClr val="63A4A2"/>
    <a:srgbClr val="1424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B306612-EDCD-448F-A7C7-03FB30F607AE}" v="15" dt="2026-10-14T14:03:15.7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17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34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microsoft.com/office/2015/10/relationships/revisionInfo" Target="revisionInfo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tableStyles" Target="tableStyles.xml"/><Relationship Id="rId8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65360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el objetivo de la exposición: explicar cómo se realizará el trabajo, no afirmar que ya se han obtenido resultados. 35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Persona 1 · 0:55. Encontramos la iniciativa QKD del CDTI. Habla de I+D para dos prototipos de cargas útiles satelitales, GEO y LEO, con sus segmentos terrestres. Nos motivó que la tecnología se investigue para comunicaciones seguras. Ojo: CDTI no afirma que esos prototipos sean vulnerables; esa es una pregunta general de seguridad de implementaciones QKD.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Persona 1 · 0:55. Encontramos la iniciativa QKD del CDTI. Habla de I+D para dos prototipos de cargas útiles satelitales, GEO y LEO, con sus segmentos terrestres. Nos motivó que la tecnología se investigue para comunicaciones seguras. Ojo: CDTI no afirma que esos prototipos sean vulnerables; esa es una pregunta general de seguridad de implementaciones QKD.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9392888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Persona 1 · 1:05. Explicar BB84 simplificado: Alice codifica, Bob mide, comparan bases por canal clásico autenticado, estiman errores, corrigen y amplifican privacidad. Se obtiene una clave si los parámetros lo permiten. QKD no cifra mensajes directamente.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Persona 1 · 1:05. Eve inyecta luz en el dispositivo y observa los reflejos. Podría inferir ajustes de codificación. Las defensas incluyen aisladores, filtros y circuladores. No equivale necesariamente a recuperar toda la clave.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Persona 1 · 0:45. La seguridad de QKD depende de hipótesis sobre equipos reales. Nos centramos en comprobar la protección óptica, no en refutar la mecánica cuántica.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Persona 1 · 1:05. Leer pregunta, luego explicar hipótesis. No anticipar conclusiones. Depende de longitud de onda y potencia, pero se comprobará mediante evidencia cuantitativa.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C0326-E307-EDC1-D3FB-5D76DAFE0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58159D-0D29-3B85-048E-1476194B82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3AED31-2413-855E-F3D9-9E4AC7321F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el objetivo de la exposición: explicar cómo se realizará el trabajo, no afirmar que ya se han obtenido resultados. 35 segundos.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EE5E91-DB32-8FBA-89CD-F537ED2DEB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7214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Investigación aplicada, análisis cuantitativo comparativo de datos secundarios y caso de estudio. PRISMA 2020 solo guía la transparencia de identificación y selección; no sustituye el método de contraste. 65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24DAB-52A8-36AF-B42D-1F92F33B2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077F58-1487-60C0-A6EF-733AD77559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2957BB-FAC0-C2D0-671B-B2382EBEE0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matriz de extracción; no inferir que dB equivalen directamente a bits filtrados. Se priorizan datos medidos o estimaciones con modelo validado. 70 segundos.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93F7EA-C2F2-FE53-8FA8-94EDB0C80E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6060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59FBF-A190-46CB-8267-20C5B4255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A33A5D-43C3-05B7-B00C-A3AF8A48A3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CD00CC-836C-CBA5-D618-5CBDA76A62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matriz de extracción; no inferir que dB equivalen directamente a bits filtrados. Se priorizan datos medidos o estimaciones con modelo validado. 70 segundos.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EA34F6-827E-4AE3-ED98-F2F44FACDC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5674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recuento de 53 corresponde solo a Scopus, no a los estudios elegibles ni a la búsqueda final. Zotero ya contiene las referencias. 80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182E8-C877-4EAB-67A3-8FD2EA10C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16E588-3EC1-962F-2502-DF52BC7CC3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E85B9B-8359-8A06-9827-BB4102FA07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matriz de extracción; no inferir que dB equivalen directamente a bits filtrados. Se priorizan datos medidos o estimaciones con modelo validado. 70 segundos.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2EAA93-1A1C-14B2-0934-712022E4E9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6835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57BE3-EBDD-CC87-1A30-D623C333A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E5FD64-1D9E-1127-97C3-5DA67CF13E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7BB8F2-F9F7-6546-7957-73B33D0999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matriz de extracción; no inferir que dB equivalen directamente a bits filtrados. Se priorizan datos medidos o estimaciones con modelo validado. 70 segundos.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510467-AF92-0ECB-15ED-30D5EB5CFF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4761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9C9EC-244F-EC28-971E-1E9D879B8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4033D8-11A3-9153-681C-C5FEED5B01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7E0700-9613-838F-DA68-2802324036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matriz de extracción; no inferir que dB equivalen directamente a bits filtrados. Se priorizan datos medidos o estimaciones con modelo validado. 70 segundos.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C59A2A-C31D-9A2E-FBC8-8DA4BA53DD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1283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730D4-7460-3E09-A267-220BA8F29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4F9BD2-5387-796E-E351-13927C6840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8B52B2-A6BC-DB28-66B3-65756B8347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matriz de extracción; no inferir que dB equivalen directamente a bits filtrados. Se priorizan datos medidos o estimaciones con modelo validado. 70 segundos.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B44566-EE41-AB5B-1593-259654A1EF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411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08054-E9AB-409B-B924-3C7D88E03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2ECB15-C6FE-F50C-2721-0C4CB8C26B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8C74EA-FE51-650D-CB29-C862F2655B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el objetivo de la exposición: explicar cómo se realizará el trabajo, no afirmar que ya se han obtenido resultados. 35 segundos.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B92409-FED4-3ADE-11D2-29D806A312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35072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C6A47-D7C1-140E-C083-4EB485698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03BFCA-EEEF-500E-4B80-1D7BFEBECD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4BF9F5-518F-2A97-A8DB-AC5EC04F07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el objetivo de la exposición: explicar cómo se realizará el trabajo, no afirmar que ya se han obtenido resultados. 35 segundos.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6DE8B9-8B85-DC1D-1D2E-77AA3CB0A1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8996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matriz de extracción; no inferir que dB equivalen directamente a bits filtrados. Se priorizan datos medidos o estimaciones con modelo validado. 70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DC0FB-F65E-9E4C-641D-F8101DF3A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83769E-C783-F0D2-7CC2-99D08784B5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150210-1404-A030-9689-1B3807FA6C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el objetivo de la exposición: explicar cómo se realizará el trabajo, no afirmar que ya se han obtenido resultados. 35 segundos.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2DEC20-C956-E63B-66ED-811EA6392E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3161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650E0F-8CD2-959D-6910-DA758D9C3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80B660-E650-48D5-C041-A8513D6789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B6B93D-7C24-4228-D9BA-D40852EDAB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el objetivo de la exposición: explicar cómo se realizará el trabajo, no afirmar que ya se han obtenido resultados. 35 segundos.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D3CCCF-64E2-554D-5827-70DD7CE9AB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36072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11621-5255-9469-046A-856173CCA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C4F41C-5D59-A9DB-670A-8776F91A0A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AB151D-E853-8CC5-975D-9CF1B618D2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el objetivo de la exposición: explicar cómo se realizará el trabajo, no afirmar que ya se han obtenido resultados. 35 segundos.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4C3395-1BD7-0FBA-0A5D-769E3452ED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06057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AEB510-36E9-09AE-00B9-E76CB80DA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F85C83-FD29-804A-0180-5B425896EC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DB3531-4F30-AB9D-E100-C9F48FB527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el objetivo de la exposición: explicar cómo se realizará el trabajo, no afirmar que ya se han obtenido resultados. 35 segundos.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CD9BDA-53E5-3480-5909-BA82E9F771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67473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CE7DA-DD66-F6FC-400C-605A15EF4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BD9B19-FF8F-166E-2D77-D3DADF140C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140013-447D-FDB6-304D-CCB3A8204E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el objetivo de la exposición: explicar cómo se realizará el trabajo, no afirmar que ya se han obtenido resultados. 35 segundos.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810DA3-F7C0-2D7E-5F05-D9022F65AC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17253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A8FC71-C369-F8C5-5458-097B68B5E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515F68-DB7B-00A5-3B5B-FDFAFA6E6B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3FB4FB-55C1-EA93-2402-DD4627650B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el objetivo de la exposición: explicar cómo se realizará el trabajo, no afirmar que ya se han obtenido resultados. 35 segundos.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8C6FC6-0B8A-6F40-1F7E-7420CED543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0958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112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045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988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115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0590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914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8400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064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098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1731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324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355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6" Type="http://schemas.openxmlformats.org/officeDocument/2006/relationships/hyperlink" Target="https://www.cdti.es/qkd-iniciativa" TargetMode="Externa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6.png"/><Relationship Id="rId4" Type="http://schemas.microsoft.com/office/2007/relationships/hdphoto" Target="../media/hdphoto2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6" Type="http://schemas.microsoft.com/office/2007/relationships/hdphoto" Target="../media/hdphoto3.wdp"/><Relationship Id="rId5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microsoft.com/office/2007/relationships/hdphoto" Target="../media/hdphoto4.wdp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4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9.png"/><Relationship Id="rId4" Type="http://schemas.openxmlformats.org/officeDocument/2006/relationships/image" Target="../media/image15.png"/><Relationship Id="rId9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4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3D4D0"/>
          </a:solidFill>
          <a:ln w="12700">
            <a:solidFill>
              <a:srgbClr val="53D4D0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000" noProof="0" dirty="0">
                <a:solidFill>
                  <a:srgbClr val="B6C7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Investigación en Ciberseguridad  ·  USAL  ·  2026</a:t>
            </a:r>
            <a:endParaRPr lang="es-MX" sz="1000" noProof="0" dirty="0"/>
          </a:p>
        </p:txBody>
      </p:sp>
      <p:sp>
        <p:nvSpPr>
          <p:cNvPr id="8" name="Text 6"/>
          <p:cNvSpPr/>
          <p:nvPr/>
        </p:nvSpPr>
        <p:spPr>
          <a:xfrm>
            <a:off x="982218" y="797351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3600" b="1" noProof="0" dirty="0">
                <a:solidFill>
                  <a:srgbClr val="4CC0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Seguridad de QKD frente a ataques de inyección óptica</a:t>
            </a:r>
            <a:endParaRPr lang="es-MX" sz="3600" noProof="0" dirty="0">
              <a:solidFill>
                <a:srgbClr val="4CC0BF"/>
              </a:solidFill>
            </a:endParaRP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608C0AA1-2511-A7B0-BA84-0456AC5DCC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3700" r="95900">
                        <a14:foregroundMark x1="20100" y1="54667" x2="20100" y2="54667"/>
                        <a14:foregroundMark x1="20500" y1="55000" x2="20500" y2="55000"/>
                        <a14:foregroundMark x1="20300" y1="45500" x2="19500" y2="62333"/>
                        <a14:foregroundMark x1="10500" y1="40167" x2="6500" y2="57500"/>
                        <a14:foregroundMark x1="6500" y1="57500" x2="13300" y2="71667"/>
                        <a14:foregroundMark x1="13300" y1="71667" x2="22500" y2="72833"/>
                        <a14:foregroundMark x1="3700" y1="71167" x2="14900" y2="72500"/>
                        <a14:foregroundMark x1="50800" y1="52833" x2="50800" y2="55833"/>
                        <a14:foregroundMark x1="59600" y1="54000" x2="69000" y2="53833"/>
                        <a14:foregroundMark x1="59800" y1="54833" x2="68700" y2="54667"/>
                        <a14:foregroundMark x1="59800" y1="55500" x2="68400" y2="55833"/>
                        <a14:foregroundMark x1="59400" y1="54500" x2="68100" y2="56000"/>
                        <a14:foregroundMark x1="60400" y1="55500" x2="66200" y2="61000"/>
                        <a14:foregroundMark x1="59400" y1="55167" x2="54200" y2="59000"/>
                        <a14:foregroundMark x1="51600" y1="52667" x2="58500" y2="52667"/>
                        <a14:foregroundMark x1="50500" y1="69667" x2="60900" y2="71167"/>
                        <a14:foregroundMark x1="60900" y1="71167" x2="52200" y2="84167"/>
                        <a14:foregroundMark x1="52200" y1="84167" x2="62500" y2="78000"/>
                        <a14:foregroundMark x1="61000" y1="72833" x2="62500" y2="79667"/>
                        <a14:foregroundMark x1="61700" y1="72500" x2="65400" y2="77667"/>
                        <a14:foregroundMark x1="72500" y1="53000" x2="75300" y2="57167"/>
                        <a14:foregroundMark x1="75300" y1="50333" x2="76200" y2="59500"/>
                        <a14:foregroundMark x1="75900" y1="50833" x2="76600" y2="53500"/>
                        <a14:foregroundMark x1="75100" y1="41667" x2="75500" y2="52000"/>
                        <a14:foregroundMark x1="78700" y1="40667" x2="77900" y2="57500"/>
                        <a14:foregroundMark x1="80100" y1="42167" x2="78600" y2="61333"/>
                        <a14:foregroundMark x1="75400" y1="61500" x2="78300" y2="65167"/>
                        <a14:foregroundMark x1="78800" y1="61500" x2="79000" y2="67333"/>
                        <a14:foregroundMark x1="75500" y1="63333" x2="75700" y2="67667"/>
                        <a14:foregroundMark x1="78700" y1="66000" x2="78800" y2="72500"/>
                        <a14:foregroundMark x1="72300" y1="69167" x2="76800" y2="73167"/>
                        <a14:foregroundMark x1="78300" y1="73333" x2="90700" y2="70833"/>
                        <a14:foregroundMark x1="90700" y1="70833" x2="95900" y2="71167"/>
                        <a14:foregroundMark x1="42400" y1="19000" x2="47000" y2="39167"/>
                        <a14:foregroundMark x1="47000" y1="39167" x2="56500" y2="29833"/>
                        <a14:foregroundMark x1="56500" y1="29833" x2="51300" y2="15000"/>
                        <a14:foregroundMark x1="51300" y1="15000" x2="47300" y2="32333"/>
                        <a14:foregroundMark x1="47300" y1="32333" x2="53400" y2="36833"/>
                        <a14:backgroundMark x1="65600" y1="46667" x2="73300" y2="45000"/>
                        <a14:backgroundMark x1="68100" y1="50500" x2="70700" y2="510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38499" y="2015789"/>
            <a:ext cx="5239385" cy="3143632"/>
          </a:xfrm>
          <a:prstGeom prst="rect">
            <a:avLst/>
          </a:prstGeom>
        </p:spPr>
      </p:pic>
      <p:sp>
        <p:nvSpPr>
          <p:cNvPr id="18" name="TextBox 3">
            <a:extLst>
              <a:ext uri="{FF2B5EF4-FFF2-40B4-BE49-F238E27FC236}">
                <a16:creationId xmlns:a16="http://schemas.microsoft.com/office/drawing/2014/main" id="{5F299B8F-7810-5EBC-A2C1-E79856E0D043}"/>
              </a:ext>
            </a:extLst>
          </p:cNvPr>
          <p:cNvSpPr txBox="1"/>
          <p:nvPr/>
        </p:nvSpPr>
        <p:spPr>
          <a:xfrm>
            <a:off x="3641980" y="5126917"/>
            <a:ext cx="4542282" cy="1757404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3000" b="1">
                <a:solidFill>
                  <a:srgbClr val="F4F8FD"/>
                </a:solidFill>
                <a:latin typeface="Aptos"/>
              </a:defRPr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4F8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JOSE RAMSES MORENO GONZALEZ</a:t>
            </a:r>
          </a:p>
          <a:p>
            <a:pPr algn="ctr" defTabSz="457200">
              <a:spcAft>
                <a:spcPts val="800"/>
              </a:spcAft>
              <a:defRPr sz="3000" b="1">
                <a:solidFill>
                  <a:srgbClr val="F4F8FD"/>
                </a:solidFill>
                <a:latin typeface="Aptos"/>
              </a:defRPr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4F8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MARIO RODRIGUEZ DEL SASTRE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3000" b="1">
                <a:solidFill>
                  <a:srgbClr val="F4F8FD"/>
                </a:solidFill>
                <a:latin typeface="Aptos"/>
              </a:defRPr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F4F8FD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3000" b="1">
                <a:solidFill>
                  <a:srgbClr val="F4F8FD"/>
                </a:solidFill>
                <a:latin typeface="Aptos"/>
              </a:defRPr>
            </a:pPr>
            <a:endParaRPr kumimoji="0" sz="3000" b="1" i="0" u="none" strike="noStrike" kern="1200" cap="none" spc="0" normalizeH="0" baseline="0" noProof="0" dirty="0">
              <a:ln>
                <a:noFill/>
              </a:ln>
              <a:solidFill>
                <a:srgbClr val="F4F8FD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8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3796" y="535503"/>
            <a:ext cx="100584" cy="365760"/>
          </a:xfrm>
          <a:prstGeom prst="rect">
            <a:avLst/>
          </a:prstGeom>
          <a:solidFill>
            <a:srgbClr val="2AC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12761" y="574114"/>
            <a:ext cx="9144000" cy="310854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1100" b="1">
                <a:solidFill>
                  <a:srgbClr val="2ACED8"/>
                </a:solidFill>
                <a:latin typeface="Aptos"/>
              </a:defRPr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2ACED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MOTIVACIÓN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2084" y="121536"/>
            <a:ext cx="10972800" cy="526298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3000" b="1">
                <a:solidFill>
                  <a:srgbClr val="F4F8FD"/>
                </a:solidFill>
                <a:latin typeface="Aptos"/>
              </a:defRPr>
            </a:pPr>
            <a:r>
              <a:rPr lang="en-US" sz="3000" b="1" dirty="0">
                <a:solidFill>
                  <a:srgbClr val="F4F8FD"/>
                </a:solidFill>
                <a:latin typeface="Aptos"/>
              </a:rPr>
              <a:t>Í</a:t>
            </a: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4F8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NDICE</a:t>
            </a:r>
            <a:endParaRPr kumimoji="0" sz="3000" b="1" i="0" u="none" strike="noStrike" kern="1200" cap="none" spc="0" normalizeH="0" baseline="0" noProof="0" dirty="0">
              <a:ln>
                <a:noFill/>
              </a:ln>
              <a:solidFill>
                <a:srgbClr val="F4F8FD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6364224"/>
            <a:ext cx="10927080" cy="13716"/>
          </a:xfrm>
          <a:prstGeom prst="rect">
            <a:avLst/>
          </a:prstGeom>
          <a:solidFill>
            <a:srgbClr val="3A4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8368" y="6473952"/>
            <a:ext cx="8229600" cy="219456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1000" b="0">
                <a:solidFill>
                  <a:srgbClr val="A3B5CB"/>
                </a:solidFill>
                <a:latin typeface="Aptos"/>
              </a:defRPr>
            </a:pP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A3B5C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USAL  ·  </a:t>
            </a:r>
            <a:r>
              <a:rPr kumimoji="0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A3B5C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Investigación</a:t>
            </a: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A3B5C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  <a:r>
              <a:rPr kumimoji="0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A3B5C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en</a:t>
            </a: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A3B5C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  <a:r>
              <a:rPr kumimoji="0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A3B5C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Ciberseguridad</a:t>
            </a: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A3B5C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 ·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64808"/>
            <a:ext cx="914400" cy="218521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1000" b="0">
                <a:solidFill>
                  <a:srgbClr val="A3B5CB"/>
                </a:solidFill>
                <a:latin typeface="Aptos"/>
              </a:defRPr>
            </a:pP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A3B5C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</a:t>
            </a:r>
            <a:r>
              <a:rPr lang="en-US" sz="1000" dirty="0">
                <a:solidFill>
                  <a:srgbClr val="A3B5CB"/>
                </a:solidFill>
                <a:latin typeface="Aptos"/>
              </a:rPr>
              <a:t>2</a:t>
            </a: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A3B5C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/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A3B5C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25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srgbClr val="A3B5CB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0" name="Rectangle 1">
            <a:extLst>
              <a:ext uri="{FF2B5EF4-FFF2-40B4-BE49-F238E27FC236}">
                <a16:creationId xmlns:a16="http://schemas.microsoft.com/office/drawing/2014/main" id="{30391681-A164-238A-019B-0E5B0E32C9D5}"/>
              </a:ext>
            </a:extLst>
          </p:cNvPr>
          <p:cNvSpPr/>
          <p:nvPr/>
        </p:nvSpPr>
        <p:spPr>
          <a:xfrm>
            <a:off x="653796" y="1086204"/>
            <a:ext cx="100584" cy="365760"/>
          </a:xfrm>
          <a:prstGeom prst="rect">
            <a:avLst/>
          </a:prstGeom>
          <a:solidFill>
            <a:srgbClr val="2AC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TextBox 2">
            <a:extLst>
              <a:ext uri="{FF2B5EF4-FFF2-40B4-BE49-F238E27FC236}">
                <a16:creationId xmlns:a16="http://schemas.microsoft.com/office/drawing/2014/main" id="{F892DFB1-2625-DC8E-E697-602E473E1898}"/>
              </a:ext>
            </a:extLst>
          </p:cNvPr>
          <p:cNvSpPr txBox="1"/>
          <p:nvPr/>
        </p:nvSpPr>
        <p:spPr>
          <a:xfrm>
            <a:off x="812761" y="1118792"/>
            <a:ext cx="9144000" cy="310854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1100" b="1">
                <a:solidFill>
                  <a:srgbClr val="2ACED8"/>
                </a:solidFill>
                <a:latin typeface="Aptos"/>
              </a:defRPr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2ACED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CONCEPTO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ACED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QKD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srgbClr val="2ACED8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3" name="Rectangle 1">
            <a:extLst>
              <a:ext uri="{FF2B5EF4-FFF2-40B4-BE49-F238E27FC236}">
                <a16:creationId xmlns:a16="http://schemas.microsoft.com/office/drawing/2014/main" id="{0D69D23C-4D88-90D5-26CD-800999E6BCFA}"/>
              </a:ext>
            </a:extLst>
          </p:cNvPr>
          <p:cNvSpPr/>
          <p:nvPr/>
        </p:nvSpPr>
        <p:spPr>
          <a:xfrm>
            <a:off x="653796" y="1629673"/>
            <a:ext cx="100584" cy="365760"/>
          </a:xfrm>
          <a:prstGeom prst="rect">
            <a:avLst/>
          </a:prstGeom>
          <a:solidFill>
            <a:srgbClr val="2AC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TextBox 2">
            <a:extLst>
              <a:ext uri="{FF2B5EF4-FFF2-40B4-BE49-F238E27FC236}">
                <a16:creationId xmlns:a16="http://schemas.microsoft.com/office/drawing/2014/main" id="{A175B631-9AEB-DE71-7C4A-4B5028A1FD00}"/>
              </a:ext>
            </a:extLst>
          </p:cNvPr>
          <p:cNvSpPr txBox="1"/>
          <p:nvPr/>
        </p:nvSpPr>
        <p:spPr>
          <a:xfrm>
            <a:off x="812761" y="1640221"/>
            <a:ext cx="9144000" cy="310854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1100" b="1">
                <a:solidFill>
                  <a:srgbClr val="2ACED8"/>
                </a:solidFill>
                <a:latin typeface="Aptos"/>
              </a:defRPr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2ACED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AMENAZA</a:t>
            </a:r>
          </a:p>
        </p:txBody>
      </p:sp>
      <p:sp>
        <p:nvSpPr>
          <p:cNvPr id="25" name="Rectangle 1">
            <a:extLst>
              <a:ext uri="{FF2B5EF4-FFF2-40B4-BE49-F238E27FC236}">
                <a16:creationId xmlns:a16="http://schemas.microsoft.com/office/drawing/2014/main" id="{1C743C76-9846-9C12-C123-63334D0527A7}"/>
              </a:ext>
            </a:extLst>
          </p:cNvPr>
          <p:cNvSpPr/>
          <p:nvPr/>
        </p:nvSpPr>
        <p:spPr>
          <a:xfrm>
            <a:off x="653796" y="2136648"/>
            <a:ext cx="100584" cy="365760"/>
          </a:xfrm>
          <a:prstGeom prst="rect">
            <a:avLst/>
          </a:prstGeom>
          <a:solidFill>
            <a:srgbClr val="2AC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TextBox 2">
            <a:extLst>
              <a:ext uri="{FF2B5EF4-FFF2-40B4-BE49-F238E27FC236}">
                <a16:creationId xmlns:a16="http://schemas.microsoft.com/office/drawing/2014/main" id="{8474A56C-430A-3222-33C0-92780DCFC5E2}"/>
              </a:ext>
            </a:extLst>
          </p:cNvPr>
          <p:cNvSpPr txBox="1"/>
          <p:nvPr/>
        </p:nvSpPr>
        <p:spPr>
          <a:xfrm>
            <a:off x="812761" y="2155829"/>
            <a:ext cx="9144000" cy="310854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1100" b="1">
                <a:solidFill>
                  <a:srgbClr val="2ACED8"/>
                </a:solidFill>
                <a:latin typeface="Aptos"/>
              </a:defRPr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solidFill>
                  <a:srgbClr val="2ACED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¿QUE QUEREMOS ESTUDIAR</a:t>
            </a:r>
          </a:p>
        </p:txBody>
      </p:sp>
      <p:sp>
        <p:nvSpPr>
          <p:cNvPr id="29" name="Rectangle 1">
            <a:extLst>
              <a:ext uri="{FF2B5EF4-FFF2-40B4-BE49-F238E27FC236}">
                <a16:creationId xmlns:a16="http://schemas.microsoft.com/office/drawing/2014/main" id="{479373A2-475F-05B2-D15A-25BD0C0966DC}"/>
              </a:ext>
            </a:extLst>
          </p:cNvPr>
          <p:cNvSpPr/>
          <p:nvPr/>
        </p:nvSpPr>
        <p:spPr>
          <a:xfrm>
            <a:off x="653796" y="2647871"/>
            <a:ext cx="100584" cy="365760"/>
          </a:xfrm>
          <a:prstGeom prst="rect">
            <a:avLst/>
          </a:prstGeom>
          <a:solidFill>
            <a:srgbClr val="2AC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TextBox 2">
            <a:extLst>
              <a:ext uri="{FF2B5EF4-FFF2-40B4-BE49-F238E27FC236}">
                <a16:creationId xmlns:a16="http://schemas.microsoft.com/office/drawing/2014/main" id="{74CBA211-70C3-B0A0-B7E5-F1771C2C63B1}"/>
              </a:ext>
            </a:extLst>
          </p:cNvPr>
          <p:cNvSpPr txBox="1"/>
          <p:nvPr/>
        </p:nvSpPr>
        <p:spPr>
          <a:xfrm>
            <a:off x="812761" y="2689023"/>
            <a:ext cx="9162288" cy="310854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1100" b="1">
                <a:solidFill>
                  <a:srgbClr val="2ACED8"/>
                </a:solidFill>
                <a:latin typeface="Aptos"/>
              </a:defRPr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2ACED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  <a:r>
              <a:rPr kumimoji="0" lang="es-US" sz="1600" b="1" i="0" u="none" strike="noStrike" kern="1200" cap="none" spc="0" normalizeH="0" baseline="0" noProof="0" dirty="0">
                <a:ln>
                  <a:noFill/>
                </a:ln>
                <a:solidFill>
                  <a:srgbClr val="2ACED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PREGUNTA/HIPOTESIS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2ACED8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B2513B0-6756-6B3D-9DA1-A8E7E78A8FD7}"/>
              </a:ext>
            </a:extLst>
          </p:cNvPr>
          <p:cNvSpPr/>
          <p:nvPr/>
        </p:nvSpPr>
        <p:spPr>
          <a:xfrm>
            <a:off x="672084" y="3154653"/>
            <a:ext cx="100584" cy="365760"/>
          </a:xfrm>
          <a:prstGeom prst="rect">
            <a:avLst/>
          </a:prstGeom>
          <a:solidFill>
            <a:srgbClr val="2AC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DD9F069-0D5D-7E8C-2A42-3E2114140C99}"/>
              </a:ext>
            </a:extLst>
          </p:cNvPr>
          <p:cNvSpPr txBox="1"/>
          <p:nvPr/>
        </p:nvSpPr>
        <p:spPr>
          <a:xfrm>
            <a:off x="831049" y="3193264"/>
            <a:ext cx="9144000" cy="310854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1100" b="1">
                <a:solidFill>
                  <a:srgbClr val="2ACED8"/>
                </a:solidFill>
                <a:latin typeface="Aptos"/>
              </a:defRPr>
            </a:pPr>
            <a:r>
              <a:rPr kumimoji="0" lang="es-MX" sz="1600" b="1" i="0" u="none" strike="noStrike" kern="1200" cap="none" spc="0" normalizeH="0" baseline="0" noProof="0" dirty="0">
                <a:ln>
                  <a:noFill/>
                </a:ln>
                <a:solidFill>
                  <a:srgbClr val="2ACED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DISEÑO METODOLÓGICO DE LA INVESTIGACIÓN</a:t>
            </a:r>
          </a:p>
        </p:txBody>
      </p:sp>
      <p:sp>
        <p:nvSpPr>
          <p:cNvPr id="50" name="Rectangle 1">
            <a:extLst>
              <a:ext uri="{FF2B5EF4-FFF2-40B4-BE49-F238E27FC236}">
                <a16:creationId xmlns:a16="http://schemas.microsoft.com/office/drawing/2014/main" id="{C3C2999B-9E32-B2A5-A171-BD840404B615}"/>
              </a:ext>
            </a:extLst>
          </p:cNvPr>
          <p:cNvSpPr/>
          <p:nvPr/>
        </p:nvSpPr>
        <p:spPr>
          <a:xfrm>
            <a:off x="672084" y="3705354"/>
            <a:ext cx="100584" cy="365760"/>
          </a:xfrm>
          <a:prstGeom prst="rect">
            <a:avLst/>
          </a:prstGeom>
          <a:solidFill>
            <a:srgbClr val="2AC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" name="TextBox 2">
            <a:extLst>
              <a:ext uri="{FF2B5EF4-FFF2-40B4-BE49-F238E27FC236}">
                <a16:creationId xmlns:a16="http://schemas.microsoft.com/office/drawing/2014/main" id="{FDF8258F-83D7-B4C4-4CD6-E84DEAD5ED61}"/>
              </a:ext>
            </a:extLst>
          </p:cNvPr>
          <p:cNvSpPr txBox="1"/>
          <p:nvPr/>
        </p:nvSpPr>
        <p:spPr>
          <a:xfrm>
            <a:off x="831049" y="3737942"/>
            <a:ext cx="9144000" cy="310854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1100" b="1">
                <a:solidFill>
                  <a:srgbClr val="2ACED8"/>
                </a:solidFill>
                <a:latin typeface="Aptos"/>
              </a:defRPr>
            </a:pPr>
            <a:r>
              <a:rPr kumimoji="0" lang="es-MX" sz="1600" b="1" i="0" u="none" strike="noStrike" kern="1200" cap="none" spc="0" normalizeH="0" baseline="0" noProof="0" dirty="0">
                <a:ln>
                  <a:noFill/>
                </a:ln>
                <a:solidFill>
                  <a:srgbClr val="2ACED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SELECCIÓN TRANSPARENTE CON PRISMA 2020								</a:t>
            </a:r>
          </a:p>
        </p:txBody>
      </p:sp>
      <p:sp>
        <p:nvSpPr>
          <p:cNvPr id="54" name="TextBox 2">
            <a:extLst>
              <a:ext uri="{FF2B5EF4-FFF2-40B4-BE49-F238E27FC236}">
                <a16:creationId xmlns:a16="http://schemas.microsoft.com/office/drawing/2014/main" id="{39781882-0049-63BF-355C-4F9DC9E9A8DF}"/>
              </a:ext>
            </a:extLst>
          </p:cNvPr>
          <p:cNvSpPr txBox="1"/>
          <p:nvPr/>
        </p:nvSpPr>
        <p:spPr>
          <a:xfrm>
            <a:off x="831049" y="4259371"/>
            <a:ext cx="9144000" cy="310854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1100" b="1">
                <a:solidFill>
                  <a:srgbClr val="2ACED8"/>
                </a:solidFill>
                <a:latin typeface="Aptos"/>
              </a:defRPr>
            </a:pPr>
            <a:r>
              <a:rPr kumimoji="0" lang="es-MX" sz="1600" b="1" i="0" u="none" strike="noStrike" kern="1200" cap="none" spc="0" normalizeH="0" baseline="0" noProof="0" dirty="0">
                <a:ln>
                  <a:noFill/>
                </a:ln>
                <a:solidFill>
                  <a:srgbClr val="2ACED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DATOS QUE RECOPILAREMOS DE ARTÍCULOS JCR Q1							</a:t>
            </a:r>
          </a:p>
        </p:txBody>
      </p:sp>
      <p:sp>
        <p:nvSpPr>
          <p:cNvPr id="56" name="Rectangle 1">
            <a:extLst>
              <a:ext uri="{FF2B5EF4-FFF2-40B4-BE49-F238E27FC236}">
                <a16:creationId xmlns:a16="http://schemas.microsoft.com/office/drawing/2014/main" id="{4F60D2BE-2CE8-0CAF-7DC9-801E6745D258}"/>
              </a:ext>
            </a:extLst>
          </p:cNvPr>
          <p:cNvSpPr/>
          <p:nvPr/>
        </p:nvSpPr>
        <p:spPr>
          <a:xfrm>
            <a:off x="672084" y="4787948"/>
            <a:ext cx="100584" cy="365760"/>
          </a:xfrm>
          <a:prstGeom prst="rect">
            <a:avLst/>
          </a:prstGeom>
          <a:solidFill>
            <a:srgbClr val="2AC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8" name="TextBox 2">
            <a:extLst>
              <a:ext uri="{FF2B5EF4-FFF2-40B4-BE49-F238E27FC236}">
                <a16:creationId xmlns:a16="http://schemas.microsoft.com/office/drawing/2014/main" id="{4069AAFF-E075-CA64-C22C-9AEDCAA3CE7E}"/>
              </a:ext>
            </a:extLst>
          </p:cNvPr>
          <p:cNvSpPr txBox="1"/>
          <p:nvPr/>
        </p:nvSpPr>
        <p:spPr>
          <a:xfrm>
            <a:off x="831049" y="4798496"/>
            <a:ext cx="9144000" cy="310854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1100" b="1">
                <a:solidFill>
                  <a:srgbClr val="2ACED8"/>
                </a:solidFill>
                <a:latin typeface="Aptos"/>
              </a:defRPr>
            </a:pPr>
            <a:r>
              <a:rPr kumimoji="0" lang="es-MX" sz="1600" b="1" i="0" u="none" strike="noStrike" kern="1200" cap="none" spc="0" normalizeH="0" baseline="0" noProof="0" dirty="0">
                <a:ln>
                  <a:noFill/>
                </a:ln>
                <a:solidFill>
                  <a:srgbClr val="2ACED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BÚSQUEDA EXPLORATORIA</a:t>
            </a:r>
          </a:p>
        </p:txBody>
      </p:sp>
      <p:sp>
        <p:nvSpPr>
          <p:cNvPr id="60" name="Rectangle 1">
            <a:extLst>
              <a:ext uri="{FF2B5EF4-FFF2-40B4-BE49-F238E27FC236}">
                <a16:creationId xmlns:a16="http://schemas.microsoft.com/office/drawing/2014/main" id="{67854EB7-8185-3CCB-9569-DAAFBCB0E5C1}"/>
              </a:ext>
            </a:extLst>
          </p:cNvPr>
          <p:cNvSpPr/>
          <p:nvPr/>
        </p:nvSpPr>
        <p:spPr>
          <a:xfrm>
            <a:off x="672084" y="5315835"/>
            <a:ext cx="100584" cy="365760"/>
          </a:xfrm>
          <a:prstGeom prst="rect">
            <a:avLst/>
          </a:prstGeom>
          <a:solidFill>
            <a:srgbClr val="2AC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2" name="TextBox 2">
            <a:extLst>
              <a:ext uri="{FF2B5EF4-FFF2-40B4-BE49-F238E27FC236}">
                <a16:creationId xmlns:a16="http://schemas.microsoft.com/office/drawing/2014/main" id="{E4C9D86E-6DF0-E511-2B80-845F8142C042}"/>
              </a:ext>
            </a:extLst>
          </p:cNvPr>
          <p:cNvSpPr txBox="1"/>
          <p:nvPr/>
        </p:nvSpPr>
        <p:spPr>
          <a:xfrm>
            <a:off x="831049" y="5338107"/>
            <a:ext cx="9144000" cy="310854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1100" b="1">
                <a:solidFill>
                  <a:srgbClr val="2ACED8"/>
                </a:solidFill>
                <a:latin typeface="Aptos"/>
              </a:defRPr>
            </a:pPr>
            <a:r>
              <a:rPr kumimoji="0" lang="es-MX" sz="1600" b="1" i="0" u="none" strike="noStrike" kern="1200" cap="none" spc="0" normalizeH="0" baseline="0" noProof="0" dirty="0">
                <a:ln>
                  <a:noFill/>
                </a:ln>
                <a:solidFill>
                  <a:srgbClr val="2ACED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CASO DE ESTUDIO PREVISTO: TRES ESCENARIOS</a:t>
            </a:r>
          </a:p>
        </p:txBody>
      </p:sp>
      <p:sp>
        <p:nvSpPr>
          <p:cNvPr id="64" name="Rectangle 1">
            <a:extLst>
              <a:ext uri="{FF2B5EF4-FFF2-40B4-BE49-F238E27FC236}">
                <a16:creationId xmlns:a16="http://schemas.microsoft.com/office/drawing/2014/main" id="{62B2F224-F11A-EBDC-A24D-92475B50E0EF}"/>
              </a:ext>
            </a:extLst>
          </p:cNvPr>
          <p:cNvSpPr/>
          <p:nvPr/>
        </p:nvSpPr>
        <p:spPr>
          <a:xfrm>
            <a:off x="669390" y="4259371"/>
            <a:ext cx="100584" cy="365760"/>
          </a:xfrm>
          <a:prstGeom prst="rect">
            <a:avLst/>
          </a:prstGeom>
          <a:solidFill>
            <a:srgbClr val="2AC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6" name="Rectangle 1">
            <a:extLst>
              <a:ext uri="{FF2B5EF4-FFF2-40B4-BE49-F238E27FC236}">
                <a16:creationId xmlns:a16="http://schemas.microsoft.com/office/drawing/2014/main" id="{0BCF4E68-E7EA-5FC5-8F40-260678B21C08}"/>
              </a:ext>
            </a:extLst>
          </p:cNvPr>
          <p:cNvSpPr/>
          <p:nvPr/>
        </p:nvSpPr>
        <p:spPr>
          <a:xfrm>
            <a:off x="681114" y="5785955"/>
            <a:ext cx="100584" cy="365760"/>
          </a:xfrm>
          <a:prstGeom prst="rect">
            <a:avLst/>
          </a:prstGeom>
          <a:solidFill>
            <a:srgbClr val="2AC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8" name="TextBox 2">
            <a:extLst>
              <a:ext uri="{FF2B5EF4-FFF2-40B4-BE49-F238E27FC236}">
                <a16:creationId xmlns:a16="http://schemas.microsoft.com/office/drawing/2014/main" id="{6CF2D812-FB76-E623-9EC5-BADD69BF6282}"/>
              </a:ext>
            </a:extLst>
          </p:cNvPr>
          <p:cNvSpPr txBox="1"/>
          <p:nvPr/>
        </p:nvSpPr>
        <p:spPr>
          <a:xfrm>
            <a:off x="799045" y="5796503"/>
            <a:ext cx="9144000" cy="310854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1100" b="1">
                <a:solidFill>
                  <a:srgbClr val="2ACED8"/>
                </a:solidFill>
                <a:latin typeface="Aptos"/>
              </a:defRPr>
            </a:pPr>
            <a:r>
              <a:rPr kumimoji="0" lang="es-MX" sz="1600" b="1" i="0" u="none" strike="noStrike" kern="1200" cap="none" spc="0" normalizeH="0" baseline="0" noProof="0" dirty="0">
                <a:ln>
                  <a:noFill/>
                </a:ln>
                <a:solidFill>
                  <a:srgbClr val="2ACED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ANÁLISIS Y RESULTADOS ESPERADOS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8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8912" y="384048"/>
            <a:ext cx="100584" cy="365760"/>
          </a:xfrm>
          <a:prstGeom prst="rect">
            <a:avLst/>
          </a:prstGeom>
          <a:solidFill>
            <a:srgbClr val="2AC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58368" y="393192"/>
            <a:ext cx="9144000" cy="27432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1100" b="1">
                <a:solidFill>
                  <a:srgbClr val="2ACED8"/>
                </a:solidFill>
                <a:latin typeface="Aptos"/>
              </a:defRPr>
            </a:pPr>
            <a:r>
              <a: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2ACED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01 · MOTIVACIÓN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10972800" cy="526298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3000" b="1">
                <a:solidFill>
                  <a:srgbClr val="F4F8FD"/>
                </a:solidFill>
                <a:latin typeface="Aptos"/>
              </a:defRPr>
            </a:pPr>
            <a:r>
              <a:rPr kumimoji="0" lang="en-US" sz="3000" b="1" i="0" u="none" strike="noStrike" kern="1200" cap="none" spc="0" normalizeH="0" baseline="0" noProof="0" dirty="0" err="1">
                <a:ln>
                  <a:noFill/>
                </a:ln>
                <a:solidFill>
                  <a:srgbClr val="F4F8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Motivación</a:t>
            </a:r>
            <a:endParaRPr kumimoji="0" sz="3000" b="1" i="0" u="none" strike="noStrike" kern="1200" cap="none" spc="0" normalizeH="0" baseline="0" noProof="0" dirty="0">
              <a:ln>
                <a:noFill/>
              </a:ln>
              <a:solidFill>
                <a:srgbClr val="F4F8FD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6364224"/>
            <a:ext cx="10927080" cy="13716"/>
          </a:xfrm>
          <a:prstGeom prst="rect">
            <a:avLst/>
          </a:prstGeom>
          <a:solidFill>
            <a:srgbClr val="3A4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8368" y="6473952"/>
            <a:ext cx="8229600" cy="219456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1000" b="0">
                <a:solidFill>
                  <a:srgbClr val="A3B5CB"/>
                </a:solidFill>
                <a:latin typeface="Aptos"/>
              </a:defRPr>
            </a:pP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A3B5C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USAL  ·  </a:t>
            </a:r>
            <a:r>
              <a:rPr kumimoji="0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A3B5C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Investigación</a:t>
            </a: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A3B5C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  <a:r>
              <a:rPr kumimoji="0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A3B5C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en</a:t>
            </a: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A3B5C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  <a:r>
              <a:rPr kumimoji="0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A3B5C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Ciberseguridad</a:t>
            </a: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A3B5C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 ·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64808"/>
            <a:ext cx="914400" cy="218521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1000" b="0">
                <a:solidFill>
                  <a:srgbClr val="A3B5CB"/>
                </a:solidFill>
                <a:latin typeface="Aptos"/>
              </a:defRPr>
            </a:pP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A3B5C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A3B5C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3</a:t>
            </a: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A3B5C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/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A3B5C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25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srgbClr val="A3B5CB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13232" y="1920240"/>
            <a:ext cx="6858000" cy="3429000"/>
          </a:xfrm>
          <a:prstGeom prst="round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05840" y="2185416"/>
            <a:ext cx="6217920" cy="45720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2500" b="1">
                <a:solidFill>
                  <a:srgbClr val="2ACED8"/>
                </a:solidFill>
                <a:latin typeface="Aptos"/>
              </a:defRPr>
            </a:pPr>
            <a:r>
              <a:rPr kumimoji="0" sz="2500" b="1" i="0" u="none" strike="noStrike" kern="1200" cap="none" spc="0" normalizeH="0" baseline="0" noProof="0" dirty="0">
                <a:ln>
                  <a:noFill/>
                </a:ln>
                <a:solidFill>
                  <a:srgbClr val="2ACED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CDTI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1920240"/>
            <a:ext cx="3611880" cy="3429000"/>
          </a:xfrm>
          <a:prstGeom prst="round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092440" y="2231136"/>
            <a:ext cx="3108960" cy="45720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2100" b="1">
                <a:solidFill>
                  <a:srgbClr val="F6C15E"/>
                </a:solidFill>
                <a:latin typeface="Aptos"/>
              </a:defRPr>
            </a:pPr>
            <a:r>
              <a:rPr kumimoji="0" sz="2100" b="1" i="0" u="none" strike="noStrike" kern="1200" cap="none" spc="0" normalizeH="0" baseline="0" noProof="0" dirty="0">
                <a:ln>
                  <a:noFill/>
                </a:ln>
                <a:solidFill>
                  <a:srgbClr val="F6C15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¿Por </a:t>
            </a:r>
            <a:r>
              <a:rPr kumimoji="0" sz="2100" b="1" i="0" u="none" strike="noStrike" kern="1200" cap="none" spc="0" normalizeH="0" baseline="0" noProof="0" dirty="0" err="1">
                <a:ln>
                  <a:noFill/>
                </a:ln>
                <a:solidFill>
                  <a:srgbClr val="F6C15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qué</a:t>
            </a:r>
            <a:r>
              <a:rPr kumimoji="0" sz="2100" b="1" i="0" u="none" strike="noStrike" kern="1200" cap="none" spc="0" normalizeH="0" baseline="0" noProof="0" dirty="0">
                <a:ln>
                  <a:noFill/>
                </a:ln>
                <a:solidFill>
                  <a:srgbClr val="F6C15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  <a:r>
              <a:rPr kumimoji="0" sz="2100" b="1" i="0" u="none" strike="noStrike" kern="1200" cap="none" spc="0" normalizeH="0" baseline="0" noProof="0" dirty="0" err="1">
                <a:ln>
                  <a:noFill/>
                </a:ln>
                <a:solidFill>
                  <a:srgbClr val="F6C15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nos</a:t>
            </a:r>
            <a:r>
              <a:rPr kumimoji="0" sz="2100" b="1" i="0" u="none" strike="noStrike" kern="1200" cap="none" spc="0" normalizeH="0" baseline="0" noProof="0" dirty="0">
                <a:ln>
                  <a:noFill/>
                </a:ln>
                <a:solidFill>
                  <a:srgbClr val="F6C15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  <a:r>
              <a:rPr kumimoji="0" sz="2100" b="1" i="0" u="none" strike="noStrike" kern="1200" cap="none" spc="0" normalizeH="0" baseline="0" noProof="0" dirty="0" err="1">
                <a:ln>
                  <a:noFill/>
                </a:ln>
                <a:solidFill>
                  <a:srgbClr val="F6C15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interesa</a:t>
            </a:r>
            <a:r>
              <a:rPr kumimoji="0" sz="2100" b="1" i="0" u="none" strike="noStrike" kern="1200" cap="none" spc="0" normalizeH="0" baseline="0" noProof="0" dirty="0">
                <a:ln>
                  <a:noFill/>
                </a:ln>
                <a:solidFill>
                  <a:srgbClr val="F6C15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815744"/>
            <a:ext cx="2971800" cy="1336776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1900" b="0">
                <a:solidFill>
                  <a:srgbClr val="F4F8FD"/>
                </a:solidFill>
                <a:latin typeface="Aptos"/>
              </a:defRPr>
            </a:pPr>
            <a:r>
              <a:rPr lang="en-US" sz="1900" dirty="0" err="1">
                <a:solidFill>
                  <a:srgbClr val="F4F8FD"/>
                </a:solidFill>
                <a:latin typeface="Aptos"/>
              </a:rPr>
              <a:t>Uso</a:t>
            </a:r>
            <a:r>
              <a:rPr lang="en-US" sz="1900" dirty="0">
                <a:solidFill>
                  <a:srgbClr val="F4F8FD"/>
                </a:solidFill>
                <a:latin typeface="Aptos"/>
              </a:rPr>
              <a:t> c</a:t>
            </a:r>
            <a:r>
              <a:rPr kumimoji="0" sz="1900" b="0" i="0" u="none" strike="noStrike" kern="1200" cap="none" spc="0" normalizeH="0" baseline="0" noProof="0" dirty="0" err="1">
                <a:ln>
                  <a:noFill/>
                </a:ln>
                <a:solidFill>
                  <a:srgbClr val="F4F8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omunicaciones</a:t>
            </a:r>
            <a:r>
              <a:rPr kumimoji="0" sz="1900" b="0" i="0" u="none" strike="noStrike" kern="1200" cap="none" spc="0" normalizeH="0" baseline="0" noProof="0" dirty="0">
                <a:ln>
                  <a:noFill/>
                </a:ln>
                <a:solidFill>
                  <a:srgbClr val="F4F8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  <a:r>
              <a:rPr kumimoji="0" sz="1900" b="0" i="0" u="none" strike="noStrike" kern="1200" cap="none" spc="0" normalizeH="0" baseline="0" noProof="0" dirty="0" err="1">
                <a:ln>
                  <a:noFill/>
                </a:ln>
                <a:solidFill>
                  <a:srgbClr val="F4F8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sensibles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srgbClr val="F4F8FD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1900" b="0">
                <a:solidFill>
                  <a:srgbClr val="F4F8FD"/>
                </a:solidFill>
                <a:latin typeface="Aptos"/>
              </a:defRPr>
            </a:pPr>
            <a:r>
              <a:rPr kumimoji="0" sz="1900" b="0" i="0" u="none" strike="noStrike" kern="1200" cap="none" spc="0" normalizeH="0" baseline="0" noProof="0" dirty="0">
                <a:ln>
                  <a:noFill/>
                </a:ln>
                <a:solidFill>
                  <a:srgbClr val="F4F8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  <a:r>
              <a:rPr kumimoji="0" lang="en-US" sz="1900" b="0" i="0" u="none" strike="noStrike" kern="1200" cap="none" spc="0" normalizeH="0" baseline="0" noProof="0" dirty="0" err="1">
                <a:ln>
                  <a:noFill/>
                </a:ln>
                <a:solidFill>
                  <a:srgbClr val="F4F8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Importante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F4F8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  <a:r>
              <a:rPr kumimoji="0" lang="en-US" sz="1900" b="0" i="0" u="none" strike="noStrike" kern="1200" cap="none" spc="0" normalizeH="0" baseline="0" noProof="0" dirty="0" err="1">
                <a:ln>
                  <a:noFill/>
                </a:ln>
                <a:solidFill>
                  <a:srgbClr val="F4F8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comprobar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F4F8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  <a:r>
              <a:rPr kumimoji="0" lang="en-US" sz="1900" b="0" i="0" u="none" strike="noStrike" kern="1200" cap="none" spc="0" normalizeH="0" baseline="0" noProof="0" dirty="0" err="1">
                <a:ln>
                  <a:noFill/>
                </a:ln>
                <a:solidFill>
                  <a:srgbClr val="F4F8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seguridad</a:t>
            </a:r>
            <a:endParaRPr kumimoji="0" sz="1900" b="0" i="0" u="none" strike="noStrike" kern="1200" cap="none" spc="0" normalizeH="0" baseline="0" noProof="0" dirty="0">
              <a:ln>
                <a:noFill/>
              </a:ln>
              <a:solidFill>
                <a:srgbClr val="F4F8FD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E98BC076-FC47-992A-D337-A87B861BE4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3462" y="3778904"/>
            <a:ext cx="2069759" cy="1360201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7D261A4A-998C-D185-9BAB-7EE523852F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7718" y="2139960"/>
            <a:ext cx="1734100" cy="319776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0C60659C-E03F-E65E-3066-6FBB4A6526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0" y="4356768"/>
            <a:ext cx="2971800" cy="687048"/>
          </a:xfrm>
          <a:prstGeom prst="rect">
            <a:avLst/>
          </a:prstGeom>
        </p:spPr>
      </p:pic>
      <p:sp>
        <p:nvSpPr>
          <p:cNvPr id="19" name="TextBox 10">
            <a:extLst>
              <a:ext uri="{FF2B5EF4-FFF2-40B4-BE49-F238E27FC236}">
                <a16:creationId xmlns:a16="http://schemas.microsoft.com/office/drawing/2014/main" id="{18A39A78-26E3-A08C-7987-BC0372F63AC1}"/>
              </a:ext>
            </a:extLst>
          </p:cNvPr>
          <p:cNvSpPr txBox="1"/>
          <p:nvPr/>
        </p:nvSpPr>
        <p:spPr>
          <a:xfrm>
            <a:off x="1245870" y="2871216"/>
            <a:ext cx="6080760" cy="1080296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800"/>
              </a:spcAft>
              <a:defRPr sz="2200" b="0">
                <a:solidFill>
                  <a:srgbClr val="F4F8FD"/>
                </a:solidFill>
                <a:latin typeface="Aptos"/>
              </a:defRPr>
            </a:pPr>
            <a:r>
              <a:rPr dirty="0" err="1"/>
              <a:t>España</a:t>
            </a:r>
            <a:r>
              <a:rPr dirty="0"/>
              <a:t> </a:t>
            </a:r>
            <a:r>
              <a:rPr dirty="0" err="1"/>
              <a:t>impulsa</a:t>
            </a:r>
            <a:r>
              <a:rPr dirty="0"/>
              <a:t> I+D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distribución</a:t>
            </a:r>
            <a:r>
              <a:rPr dirty="0"/>
              <a:t> </a:t>
            </a:r>
            <a:r>
              <a:rPr dirty="0" err="1"/>
              <a:t>cuántica</a:t>
            </a:r>
            <a:r>
              <a:rPr dirty="0"/>
              <a:t> de claves </a:t>
            </a:r>
            <a:r>
              <a:rPr dirty="0" err="1"/>
              <a:t>mediante</a:t>
            </a:r>
            <a:r>
              <a:rPr dirty="0"/>
              <a:t> </a:t>
            </a:r>
            <a:r>
              <a:rPr dirty="0" err="1"/>
              <a:t>prototipos</a:t>
            </a:r>
            <a:r>
              <a:rPr dirty="0"/>
              <a:t> de cargas </a:t>
            </a:r>
            <a:r>
              <a:rPr dirty="0" err="1"/>
              <a:t>útiles</a:t>
            </a:r>
            <a:r>
              <a:rPr dirty="0"/>
              <a:t> </a:t>
            </a:r>
            <a:r>
              <a:rPr dirty="0" err="1"/>
              <a:t>satelitales</a:t>
            </a:r>
            <a:endParaRPr dirty="0"/>
          </a:p>
        </p:txBody>
      </p:sp>
      <p:sp>
        <p:nvSpPr>
          <p:cNvPr id="21" name="TextBox 10">
            <a:extLst>
              <a:ext uri="{FF2B5EF4-FFF2-40B4-BE49-F238E27FC236}">
                <a16:creationId xmlns:a16="http://schemas.microsoft.com/office/drawing/2014/main" id="{D980C8E6-2B96-F99F-AFA6-7340C9709B82}"/>
              </a:ext>
            </a:extLst>
          </p:cNvPr>
          <p:cNvSpPr txBox="1"/>
          <p:nvPr/>
        </p:nvSpPr>
        <p:spPr>
          <a:xfrm>
            <a:off x="1529084" y="4449342"/>
            <a:ext cx="3097530" cy="280077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800"/>
              </a:spcAft>
              <a:defRPr sz="2200" b="0">
                <a:solidFill>
                  <a:srgbClr val="F4F8FD"/>
                </a:solidFill>
                <a:latin typeface="Aptos"/>
              </a:defRPr>
            </a:pPr>
            <a:r>
              <a:rPr lang="en-US" sz="1400" dirty="0">
                <a:solidFill>
                  <a:schemeClr val="bg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https://www.cdti.es/qkd-iniciativa</a:t>
            </a:r>
            <a:endParaRPr sz="1400" dirty="0">
              <a:solidFill>
                <a:schemeClr val="bg1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24FE6FD-B74A-635C-AB97-E40CE1F04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2966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8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8912" y="384048"/>
            <a:ext cx="100584" cy="365760"/>
          </a:xfrm>
          <a:prstGeom prst="rect">
            <a:avLst/>
          </a:prstGeom>
          <a:solidFill>
            <a:srgbClr val="2AC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58368" y="393192"/>
            <a:ext cx="9144000" cy="23391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1100" b="1">
                <a:solidFill>
                  <a:srgbClr val="2ACED8"/>
                </a:solidFill>
                <a:latin typeface="Aptos"/>
              </a:defRPr>
            </a:pPr>
            <a:r>
              <a: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2ACED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02 · CONCEPTO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2ACED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QKD</a:t>
            </a:r>
            <a:endParaRPr kumimoji="0" sz="1100" b="1" i="0" u="none" strike="noStrike" kern="1200" cap="none" spc="0" normalizeH="0" baseline="0" noProof="0" dirty="0">
              <a:ln>
                <a:noFill/>
              </a:ln>
              <a:solidFill>
                <a:srgbClr val="2ACED8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10972800" cy="526298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3000" b="1">
                <a:solidFill>
                  <a:srgbClr val="F4F8FD"/>
                </a:solidFill>
                <a:latin typeface="Aptos"/>
              </a:defRPr>
            </a:pPr>
            <a:r>
              <a:rPr kumimoji="0" sz="3000" b="1" i="0" u="none" strike="noStrike" kern="1200" cap="none" spc="0" normalizeH="0" baseline="0" noProof="0" dirty="0">
                <a:ln>
                  <a:noFill/>
                </a:ln>
                <a:solidFill>
                  <a:srgbClr val="F4F8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QKD</a:t>
            </a: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4F8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(Quantum key distribution)</a:t>
            </a:r>
            <a:endParaRPr kumimoji="0" sz="3000" b="1" i="0" u="none" strike="noStrike" kern="1200" cap="none" spc="0" normalizeH="0" baseline="0" noProof="0" dirty="0">
              <a:ln>
                <a:noFill/>
              </a:ln>
              <a:solidFill>
                <a:srgbClr val="F4F8FD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6364224"/>
            <a:ext cx="10927080" cy="13716"/>
          </a:xfrm>
          <a:prstGeom prst="rect">
            <a:avLst/>
          </a:prstGeom>
          <a:solidFill>
            <a:srgbClr val="3A4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8368" y="6473952"/>
            <a:ext cx="8229600" cy="219456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1000" b="0">
                <a:solidFill>
                  <a:srgbClr val="A3B5CB"/>
                </a:solidFill>
                <a:latin typeface="Aptos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A3B5C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USAL  ·  Investigación en Ciberseguridad  ·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64808"/>
            <a:ext cx="914400" cy="218521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1000" b="0">
                <a:solidFill>
                  <a:srgbClr val="A3B5CB"/>
                </a:solidFill>
                <a:latin typeface="Aptos"/>
              </a:defRPr>
            </a:pP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A3B5C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A3B5C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4</a:t>
            </a: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A3B5C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/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A3B5C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25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srgbClr val="A3B5CB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31520" y="1564362"/>
            <a:ext cx="3246120" cy="2641877"/>
          </a:xfrm>
          <a:prstGeom prst="round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535938" y="2991357"/>
            <a:ext cx="2807208" cy="384048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1900" b="1">
                <a:solidFill>
                  <a:srgbClr val="2ACED8"/>
                </a:solidFill>
                <a:latin typeface="Aptos"/>
              </a:defRPr>
            </a:pPr>
            <a:r>
              <a:rPr kumimoji="0" sz="1900" b="1" i="0" u="none" strike="noStrike" kern="1200" cap="none" spc="0" normalizeH="0" baseline="0" noProof="0" dirty="0">
                <a:ln>
                  <a:noFill/>
                </a:ln>
                <a:solidFill>
                  <a:srgbClr val="2ACED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ALICE · </a:t>
            </a:r>
            <a:r>
              <a:rPr kumimoji="0" sz="1900" b="1" i="0" u="none" strike="noStrike" kern="1200" cap="none" spc="0" normalizeH="0" baseline="0" noProof="0" dirty="0" err="1">
                <a:ln>
                  <a:noFill/>
                </a:ln>
                <a:solidFill>
                  <a:srgbClr val="2ACED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Emisora</a:t>
            </a:r>
            <a:endParaRPr kumimoji="0" sz="1900" b="1" i="0" u="none" strike="noStrike" kern="1200" cap="none" spc="0" normalizeH="0" baseline="0" noProof="0" dirty="0">
              <a:ln>
                <a:noFill/>
              </a:ln>
              <a:solidFill>
                <a:srgbClr val="2ACED8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11935" y="3369501"/>
            <a:ext cx="2807208" cy="587853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1700" b="0">
                <a:solidFill>
                  <a:srgbClr val="F4F8FD"/>
                </a:solidFill>
                <a:latin typeface="Aptos"/>
              </a:defRPr>
            </a:pPr>
            <a:r>
              <a:rPr kumimoji="0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F4F8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Prepara</a:t>
            </a:r>
            <a:r>
              <a:rPr kumimoji="0" sz="1700" b="0" i="0" u="none" strike="noStrike" kern="1200" cap="none" spc="0" normalizeH="0" baseline="0" noProof="0" dirty="0">
                <a:ln>
                  <a:noFill/>
                </a:ln>
                <a:solidFill>
                  <a:srgbClr val="F4F8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bits </a:t>
            </a:r>
            <a:r>
              <a:rPr kumimoji="0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F4F8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aleatorios</a:t>
            </a:r>
            <a:r>
              <a:rPr kumimoji="0" sz="1700" b="0" i="0" u="none" strike="noStrike" kern="1200" cap="none" spc="0" normalizeH="0" baseline="0" noProof="0" dirty="0">
                <a:ln>
                  <a:noFill/>
                </a:ln>
                <a:solidFill>
                  <a:srgbClr val="F4F8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y </a:t>
            </a:r>
            <a:r>
              <a:rPr kumimoji="0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F4F8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los</a:t>
            </a:r>
            <a:r>
              <a:rPr kumimoji="0" sz="1700" b="0" i="0" u="none" strike="noStrike" kern="1200" cap="none" spc="0" normalizeH="0" baseline="0" noProof="0" dirty="0">
                <a:ln>
                  <a:noFill/>
                </a:ln>
                <a:solidFill>
                  <a:srgbClr val="F4F8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  <a:r>
              <a:rPr kumimoji="0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F4F8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codifica</a:t>
            </a:r>
            <a:r>
              <a:rPr kumimoji="0" sz="1700" b="0" i="0" u="none" strike="noStrike" kern="1200" cap="none" spc="0" normalizeH="0" baseline="0" noProof="0" dirty="0">
                <a:ln>
                  <a:noFill/>
                </a:ln>
                <a:solidFill>
                  <a:srgbClr val="F4F8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  <a:r>
              <a:rPr kumimoji="0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F4F8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en</a:t>
            </a:r>
            <a:r>
              <a:rPr kumimoji="0" sz="1700" b="0" i="0" u="none" strike="noStrike" kern="1200" cap="none" spc="0" normalizeH="0" baseline="0" noProof="0" dirty="0">
                <a:ln>
                  <a:noFill/>
                </a:ln>
                <a:solidFill>
                  <a:srgbClr val="F4F8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  <a:r>
              <a:rPr kumimoji="0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F4F8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señales</a:t>
            </a:r>
            <a:r>
              <a:rPr kumimoji="0" sz="1700" b="0" i="0" u="none" strike="noStrike" kern="1200" cap="none" spc="0" normalizeH="0" baseline="0" noProof="0" dirty="0">
                <a:ln>
                  <a:noFill/>
                </a:ln>
                <a:solidFill>
                  <a:srgbClr val="F4F8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  <a:r>
              <a:rPr kumimoji="0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F4F8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cuánticas</a:t>
            </a:r>
            <a:r>
              <a:rPr kumimoji="0" sz="1700" b="0" i="0" u="none" strike="noStrike" kern="1200" cap="none" spc="0" normalizeH="0" baseline="0" noProof="0" dirty="0">
                <a:ln>
                  <a:noFill/>
                </a:ln>
                <a:solidFill>
                  <a:srgbClr val="F4F8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11312" y="1564362"/>
            <a:ext cx="3246120" cy="2641877"/>
          </a:xfrm>
          <a:prstGeom prst="round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128569" y="2914673"/>
            <a:ext cx="2807208" cy="384048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1900" b="1">
                <a:solidFill>
                  <a:srgbClr val="5ED6A0"/>
                </a:solidFill>
                <a:latin typeface="Aptos"/>
              </a:defRPr>
            </a:pPr>
            <a:r>
              <a:rPr kumimoji="0" sz="1900" b="1" i="0" u="none" strike="noStrike" kern="1200" cap="none" spc="0" normalizeH="0" baseline="0" noProof="0" dirty="0">
                <a:ln>
                  <a:noFill/>
                </a:ln>
                <a:solidFill>
                  <a:srgbClr val="5ED6A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BOB · Receptor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20100" y="3282723"/>
            <a:ext cx="3019425" cy="849463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1700" b="0">
                <a:solidFill>
                  <a:srgbClr val="F4F8FD"/>
                </a:solidFill>
                <a:latin typeface="Aptos"/>
              </a:defRPr>
            </a:pPr>
            <a:r>
              <a:rPr kumimoji="0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F4F8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Mide</a:t>
            </a:r>
            <a:r>
              <a:rPr kumimoji="0" sz="1700" b="0" i="0" u="none" strike="noStrike" kern="1200" cap="none" spc="0" normalizeH="0" baseline="0" noProof="0" dirty="0">
                <a:ln>
                  <a:noFill/>
                </a:ln>
                <a:solidFill>
                  <a:srgbClr val="F4F8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las </a:t>
            </a:r>
            <a:r>
              <a:rPr kumimoji="0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F4F8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señales</a:t>
            </a:r>
            <a:r>
              <a:rPr kumimoji="0" sz="1700" b="0" i="0" u="none" strike="noStrike" kern="1200" cap="none" spc="0" normalizeH="0" baseline="0" noProof="0" dirty="0">
                <a:ln>
                  <a:noFill/>
                </a:ln>
                <a:solidFill>
                  <a:srgbClr val="F4F8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  <a:r>
              <a:rPr kumimoji="0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F4F8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recibidas</a:t>
            </a:r>
            <a:r>
              <a:rPr kumimoji="0" sz="1700" b="0" i="0" u="none" strike="noStrike" kern="1200" cap="none" spc="0" normalizeH="0" baseline="0" noProof="0" dirty="0">
                <a:ln>
                  <a:noFill/>
                </a:ln>
                <a:solidFill>
                  <a:srgbClr val="F4F8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y </a:t>
            </a:r>
            <a:r>
              <a:rPr kumimoji="0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F4F8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participa</a:t>
            </a:r>
            <a:r>
              <a:rPr kumimoji="0" sz="1700" b="0" i="0" u="none" strike="noStrike" kern="1200" cap="none" spc="0" normalizeH="0" baseline="0" noProof="0" dirty="0">
                <a:ln>
                  <a:noFill/>
                </a:ln>
                <a:solidFill>
                  <a:srgbClr val="F4F8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  <a:r>
              <a:rPr kumimoji="0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F4F8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en</a:t>
            </a:r>
            <a:r>
              <a:rPr kumimoji="0" sz="1700" b="0" i="0" u="none" strike="noStrike" kern="1200" cap="none" spc="0" normalizeH="0" baseline="0" noProof="0" dirty="0">
                <a:ln>
                  <a:noFill/>
                </a:ln>
                <a:solidFill>
                  <a:srgbClr val="F4F8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la </a:t>
            </a:r>
            <a:r>
              <a:rPr kumimoji="0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F4F8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obtención</a:t>
            </a:r>
            <a:r>
              <a:rPr kumimoji="0" sz="1700" b="0" i="0" u="none" strike="noStrike" kern="1200" cap="none" spc="0" normalizeH="0" baseline="0" noProof="0" dirty="0">
                <a:ln>
                  <a:noFill/>
                </a:ln>
                <a:solidFill>
                  <a:srgbClr val="F4F8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de la clave.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60520" y="2258568"/>
            <a:ext cx="3886200" cy="749808"/>
          </a:xfrm>
          <a:prstGeom prst="roundRect">
            <a:avLst/>
          </a:prstGeom>
          <a:solidFill>
            <a:srgbClr val="22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480560" y="2280285"/>
            <a:ext cx="3337560" cy="1116203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2100" b="1">
                <a:solidFill>
                  <a:srgbClr val="2ACED8"/>
                </a:solidFill>
                <a:latin typeface="Aptos"/>
              </a:defRPr>
            </a:pPr>
            <a:r>
              <a:rPr kumimoji="0" sz="1700" b="1" i="0" u="none" strike="noStrike" kern="1200" cap="none" spc="0" normalizeH="0" baseline="0" noProof="0" dirty="0">
                <a:ln>
                  <a:noFill/>
                </a:ln>
                <a:solidFill>
                  <a:srgbClr val="2ACED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─────────→</a:t>
            </a:r>
            <a:endParaRPr kumimoji="0" lang="en-US" sz="1700" b="1" i="0" u="none" strike="noStrike" kern="1200" cap="none" spc="0" normalizeH="0" baseline="0" noProof="0" dirty="0">
              <a:ln>
                <a:noFill/>
              </a:ln>
              <a:solidFill>
                <a:srgbClr val="2ACED8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2100" b="1">
                <a:solidFill>
                  <a:srgbClr val="2ACED8"/>
                </a:solidFill>
                <a:latin typeface="Aptos"/>
              </a:defRPr>
            </a:pPr>
            <a:r>
              <a:rPr kumimoji="0" lang="es-ES" sz="1700" b="1" i="0" u="none" strike="noStrike" kern="1200" cap="none" spc="0" normalizeH="0" baseline="0" noProof="0" dirty="0">
                <a:ln>
                  <a:noFill/>
                </a:ln>
                <a:solidFill>
                  <a:srgbClr val="2ACED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Fotones</a:t>
            </a:r>
            <a:endParaRPr kumimoji="0" lang="en-US" sz="1700" b="1" i="0" u="none" strike="noStrike" kern="1200" cap="none" spc="0" normalizeH="0" baseline="0" noProof="0" dirty="0">
              <a:ln>
                <a:noFill/>
              </a:ln>
              <a:solidFill>
                <a:srgbClr val="2ACED8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2100" b="1">
                <a:solidFill>
                  <a:srgbClr val="2ACED8"/>
                </a:solidFill>
                <a:latin typeface="Aptos"/>
              </a:defRPr>
            </a:pPr>
            <a:endParaRPr kumimoji="0" sz="2100" b="1" i="0" u="none" strike="noStrike" kern="1200" cap="none" spc="0" normalizeH="0" baseline="0" noProof="0" dirty="0">
              <a:ln>
                <a:noFill/>
              </a:ln>
              <a:solidFill>
                <a:srgbClr val="2ACED8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160520" y="3264408"/>
            <a:ext cx="3886200" cy="749808"/>
          </a:xfrm>
          <a:prstGeom prst="roundRect">
            <a:avLst/>
          </a:prstGeom>
          <a:solidFill>
            <a:srgbClr val="22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297680" y="3312414"/>
            <a:ext cx="3639312" cy="598112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1400" b="0">
                <a:solidFill>
                  <a:srgbClr val="F4F8FD"/>
                </a:solidFill>
                <a:latin typeface="Aptos"/>
              </a:defRPr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F4F8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↔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4F8FD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1400" b="0">
                <a:solidFill>
                  <a:srgbClr val="F4F8FD"/>
                </a:solidFill>
                <a:latin typeface="Aptos"/>
              </a:defRPr>
            </a:pPr>
            <a:r>
              <a:rPr kumimoji="0" lang="es-ES" sz="1400" b="0" i="0" u="none" strike="noStrike" kern="1200" cap="none" spc="0" normalizeH="0" baseline="0" noProof="0" dirty="0">
                <a:ln>
                  <a:noFill/>
                </a:ln>
                <a:solidFill>
                  <a:srgbClr val="F4F8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Canal clásico autenticado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F4F8FD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1280160" y="4681728"/>
            <a:ext cx="9646920" cy="758952"/>
          </a:xfrm>
          <a:prstGeom prst="round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618488" y="4882896"/>
            <a:ext cx="9052560" cy="433965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1900" b="1">
                <a:solidFill>
                  <a:srgbClr val="5ED6A0"/>
                </a:solidFill>
                <a:latin typeface="Aptos"/>
              </a:defRPr>
            </a:pPr>
            <a:r>
              <a:rPr kumimoji="0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5ED6A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Resultado</a:t>
            </a: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5ED6A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: clave secreta </a:t>
            </a:r>
            <a:r>
              <a:rPr kumimoji="0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5ED6A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compartida</a:t>
            </a:r>
            <a:endParaRPr kumimoji="0" sz="2400" b="1" i="0" u="none" strike="noStrike" kern="1200" cap="none" spc="0" normalizeH="0" baseline="0" noProof="0" dirty="0">
              <a:ln>
                <a:noFill/>
              </a:ln>
              <a:solidFill>
                <a:srgbClr val="5ED6A0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371600" y="5705856"/>
            <a:ext cx="9601200" cy="310896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1600" b="1">
                <a:solidFill>
                  <a:srgbClr val="F6C15E"/>
                </a:solidFill>
                <a:latin typeface="Aptos"/>
              </a:defRPr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F6C15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  <a:r>
              <a:rPr kumimoji="0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F6C15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distribuye</a:t>
            </a: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F6C15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claves; no </a:t>
            </a:r>
            <a:r>
              <a:rPr kumimoji="0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F6C15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cifra</a:t>
            </a: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F6C15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  <a:r>
              <a:rPr kumimoji="0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F6C15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por</a:t>
            </a: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F6C15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  <a:r>
              <a:rPr kumimoji="0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F6C15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sí</a:t>
            </a: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F6C15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  <a:r>
              <a:rPr kumimoji="0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F6C15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misma</a:t>
            </a: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F6C15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  <a:r>
              <a:rPr kumimoji="0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F6C15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los</a:t>
            </a: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F6C15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  <a:r>
              <a:rPr kumimoji="0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F6C15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mensajes</a:t>
            </a: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F6C15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.</a:t>
            </a:r>
          </a:p>
        </p:txBody>
      </p:sp>
      <p:pic>
        <p:nvPicPr>
          <p:cNvPr id="1026" name="Picture 2" descr="El ícono de la chica | Vector Premium">
            <a:extLst>
              <a:ext uri="{FF2B5EF4-FFF2-40B4-BE49-F238E27FC236}">
                <a16:creationId xmlns:a16="http://schemas.microsoft.com/office/drawing/2014/main" id="{7CFACAC9-8B46-3C1B-7436-EC90BABD0D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8488" y="1574459"/>
            <a:ext cx="1451990" cy="1451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961E1AA0-E9B9-8052-D18C-049048BC02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25290" y="1668536"/>
            <a:ext cx="1191059" cy="119105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8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8912" y="384048"/>
            <a:ext cx="100584" cy="365760"/>
          </a:xfrm>
          <a:prstGeom prst="rect">
            <a:avLst/>
          </a:prstGeom>
          <a:solidFill>
            <a:srgbClr val="2AC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58368" y="393192"/>
            <a:ext cx="9144000" cy="27432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1100" b="1">
                <a:solidFill>
                  <a:srgbClr val="2ACED8"/>
                </a:solidFill>
                <a:latin typeface="Aptos"/>
              </a:defRPr>
            </a:pPr>
            <a:r>
              <a: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2ACED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03 · AMENAZA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10972800" cy="526298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3000" b="1">
                <a:solidFill>
                  <a:srgbClr val="F4F8FD"/>
                </a:solidFill>
                <a:latin typeface="Aptos"/>
              </a:defRPr>
            </a:pPr>
            <a:r>
              <a:rPr kumimoji="0" sz="3000" b="1" i="0" u="none" strike="noStrike" kern="1200" cap="none" spc="0" normalizeH="0" baseline="0" noProof="0" dirty="0">
                <a:ln>
                  <a:noFill/>
                </a:ln>
                <a:solidFill>
                  <a:srgbClr val="F4F8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Trojan Horse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364224"/>
            <a:ext cx="10927080" cy="13716"/>
          </a:xfrm>
          <a:prstGeom prst="rect">
            <a:avLst/>
          </a:prstGeom>
          <a:solidFill>
            <a:srgbClr val="3A4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8368" y="6473952"/>
            <a:ext cx="8229600" cy="219456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1000" b="0">
                <a:solidFill>
                  <a:srgbClr val="A3B5CB"/>
                </a:solidFill>
                <a:latin typeface="Aptos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A3B5C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USAL  ·  Investigación en Ciberseguridad  ·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64808"/>
            <a:ext cx="914400" cy="218521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1000" b="0">
                <a:solidFill>
                  <a:srgbClr val="A3B5CB"/>
                </a:solidFill>
                <a:latin typeface="Aptos"/>
              </a:defRPr>
            </a:pP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A3B5C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A3B5C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5</a:t>
            </a: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A3B5C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/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A3B5C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25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srgbClr val="A3B5CB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49808" y="1700921"/>
            <a:ext cx="3703320" cy="2532751"/>
          </a:xfrm>
          <a:prstGeom prst="round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69264" y="3128391"/>
            <a:ext cx="3264408" cy="357021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1900" b="1">
                <a:solidFill>
                  <a:srgbClr val="2ACED8"/>
                </a:solidFill>
                <a:latin typeface="Aptos"/>
              </a:defRPr>
            </a:pPr>
            <a:r>
              <a:rPr kumimoji="0" sz="1900" b="1" i="0" u="none" strike="noStrike" kern="1200" cap="none" spc="0" normalizeH="0" baseline="0" noProof="0" dirty="0">
                <a:ln>
                  <a:noFill/>
                </a:ln>
                <a:solidFill>
                  <a:srgbClr val="2ACED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ALICE · </a:t>
            </a:r>
            <a:r>
              <a:rPr kumimoji="0" sz="1900" b="1" i="0" u="none" strike="noStrike" kern="1200" cap="none" spc="0" normalizeH="0" baseline="0" noProof="0" dirty="0" err="1">
                <a:ln>
                  <a:noFill/>
                </a:ln>
                <a:solidFill>
                  <a:srgbClr val="2ACED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Dispositivo</a:t>
            </a:r>
            <a:r>
              <a:rPr kumimoji="0" sz="1900" b="1" i="0" u="none" strike="noStrike" kern="1200" cap="none" spc="0" normalizeH="0" baseline="0" noProof="0" dirty="0">
                <a:ln>
                  <a:noFill/>
                </a:ln>
                <a:solidFill>
                  <a:srgbClr val="2ACED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QKD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3516249"/>
            <a:ext cx="3264408" cy="587853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1700" b="0">
                <a:solidFill>
                  <a:srgbClr val="F4F8FD"/>
                </a:solidFill>
                <a:latin typeface="Aptos"/>
              </a:defRPr>
            </a:pPr>
            <a:r>
              <a:rPr lang="en-US" sz="1700" dirty="0">
                <a:solidFill>
                  <a:srgbClr val="F4F8FD"/>
                </a:solidFill>
                <a:latin typeface="Aptos"/>
              </a:rPr>
              <a:t>M</a:t>
            </a:r>
            <a:r>
              <a:rPr kumimoji="0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F4F8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oduladores</a:t>
            </a:r>
            <a:r>
              <a:rPr kumimoji="0" sz="1700" b="0" i="0" u="none" strike="noStrike" kern="1200" cap="none" spc="0" normalizeH="0" baseline="0" noProof="0" dirty="0">
                <a:ln>
                  <a:noFill/>
                </a:ln>
                <a:solidFill>
                  <a:srgbClr val="F4F8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y </a:t>
            </a:r>
            <a:r>
              <a:rPr kumimoji="0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F4F8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otros</a:t>
            </a:r>
            <a:r>
              <a:rPr kumimoji="0" sz="1700" b="0" i="0" u="none" strike="noStrike" kern="1200" cap="none" spc="0" normalizeH="0" baseline="0" noProof="0" dirty="0">
                <a:ln>
                  <a:noFill/>
                </a:ln>
                <a:solidFill>
                  <a:srgbClr val="F4F8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  <a:r>
              <a:rPr kumimoji="0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F4F8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elementos</a:t>
            </a:r>
            <a:r>
              <a:rPr kumimoji="0" sz="1700" b="0" i="0" u="none" strike="noStrike" kern="1200" cap="none" spc="0" normalizeH="0" baseline="0" noProof="0" dirty="0">
                <a:ln>
                  <a:noFill/>
                </a:ln>
                <a:solidFill>
                  <a:srgbClr val="F4F8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  <a:r>
              <a:rPr kumimoji="0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F4F8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ópticos</a:t>
            </a:r>
            <a:r>
              <a:rPr kumimoji="0" sz="1700" b="0" i="0" u="none" strike="noStrike" kern="1200" cap="none" spc="0" normalizeH="0" baseline="0" noProof="0" dirty="0">
                <a:ln>
                  <a:noFill/>
                </a:ln>
                <a:solidFill>
                  <a:srgbClr val="F4F8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08392" y="1700921"/>
            <a:ext cx="3703320" cy="2532751"/>
          </a:xfrm>
          <a:prstGeom prst="round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927848" y="3090291"/>
            <a:ext cx="3264408" cy="357021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1900" b="1">
                <a:solidFill>
                  <a:srgbClr val="F4797E"/>
                </a:solidFill>
                <a:latin typeface="Aptos"/>
              </a:defRPr>
            </a:pPr>
            <a:r>
              <a:rPr kumimoji="0" 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F4797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ATACANTE</a:t>
            </a:r>
            <a:endParaRPr kumimoji="0" sz="1900" b="1" i="0" u="none" strike="noStrike" kern="1200" cap="none" spc="0" normalizeH="0" baseline="0" noProof="0" dirty="0">
              <a:ln>
                <a:noFill/>
              </a:ln>
              <a:solidFill>
                <a:srgbClr val="F4797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927848" y="3459099"/>
            <a:ext cx="3264408" cy="690445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1700" b="0">
                <a:solidFill>
                  <a:srgbClr val="F4F8FD"/>
                </a:solidFill>
                <a:latin typeface="Aptos"/>
              </a:defRPr>
            </a:pPr>
            <a:r>
              <a:rPr kumimoji="0" sz="1700" b="0" i="0" u="none" strike="noStrike" kern="1200" cap="none" spc="0" normalizeH="0" baseline="0" noProof="0" dirty="0">
                <a:ln>
                  <a:noFill/>
                </a:ln>
                <a:solidFill>
                  <a:srgbClr val="F4F8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Introduce luz </a:t>
            </a:r>
            <a:endParaRPr lang="en-US" sz="1700" dirty="0">
              <a:solidFill>
                <a:srgbClr val="F4F8FD"/>
              </a:solidFill>
              <a:latin typeface="Apto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1700" b="0">
                <a:solidFill>
                  <a:srgbClr val="F4F8FD"/>
                </a:solidFill>
                <a:latin typeface="Aptos"/>
              </a:defRPr>
            </a:pPr>
            <a:r>
              <a:rPr kumimoji="0" lang="es-ES" sz="1700" b="0" i="0" u="none" strike="noStrike" kern="1200" cap="none" spc="0" normalizeH="0" baseline="0" noProof="0" dirty="0">
                <a:ln>
                  <a:noFill/>
                </a:ln>
                <a:solidFill>
                  <a:srgbClr val="F4F8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</a:t>
            </a:r>
            <a:r>
              <a:rPr kumimoji="0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F4F8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naliza</a:t>
            </a:r>
            <a:r>
              <a:rPr kumimoji="0" sz="1700" b="0" i="0" u="none" strike="noStrike" kern="1200" cap="none" spc="0" normalizeH="0" baseline="0" noProof="0" dirty="0">
                <a:ln>
                  <a:noFill/>
                </a:ln>
                <a:solidFill>
                  <a:srgbClr val="F4F8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la </a:t>
            </a:r>
            <a:r>
              <a:rPr kumimoji="0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F4F8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parte</a:t>
            </a:r>
            <a:r>
              <a:rPr kumimoji="0" sz="1700" b="0" i="0" u="none" strike="noStrike" kern="1200" cap="none" spc="0" normalizeH="0" baseline="0" noProof="0" dirty="0">
                <a:ln>
                  <a:noFill/>
                </a:ln>
                <a:solidFill>
                  <a:srgbClr val="F4F8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que </a:t>
            </a:r>
            <a:r>
              <a:rPr kumimoji="0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F4F8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regresa</a:t>
            </a:r>
            <a:r>
              <a:rPr kumimoji="0" sz="1700" b="0" i="0" u="none" strike="noStrike" kern="1200" cap="none" spc="0" normalizeH="0" baseline="0" noProof="0" dirty="0">
                <a:ln>
                  <a:noFill/>
                </a:ln>
                <a:solidFill>
                  <a:srgbClr val="F4F8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08576" y="2212848"/>
            <a:ext cx="2944368" cy="566928"/>
          </a:xfrm>
          <a:prstGeom prst="roundRect">
            <a:avLst/>
          </a:prstGeom>
          <a:solidFill>
            <a:srgbClr val="4C2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800600" y="2340864"/>
            <a:ext cx="2651760" cy="341632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1800" b="1">
                <a:solidFill>
                  <a:srgbClr val="F4797E"/>
                </a:solidFill>
                <a:latin typeface="Aptos"/>
              </a:defRPr>
            </a:pPr>
            <a:r>
              <a:rPr kumimoji="0" b="1" i="0" u="none" strike="noStrike" kern="1200" cap="none" spc="0" normalizeH="0" baseline="0" noProof="0" dirty="0">
                <a:ln>
                  <a:noFill/>
                </a:ln>
                <a:solidFill>
                  <a:srgbClr val="F4797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←  Luz </a:t>
            </a:r>
            <a:r>
              <a:rPr kumimoji="0" b="1" i="0" u="none" strike="noStrike" kern="1200" cap="none" spc="0" normalizeH="0" baseline="0" noProof="0" dirty="0" err="1">
                <a:ln>
                  <a:noFill/>
                </a:ln>
                <a:solidFill>
                  <a:srgbClr val="F4797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inyectada</a:t>
            </a:r>
            <a:endParaRPr kumimoji="0" b="1" i="0" u="none" strike="noStrike" kern="1200" cap="none" spc="0" normalizeH="0" baseline="0" noProof="0" dirty="0">
              <a:ln>
                <a:noFill/>
              </a:ln>
              <a:solidFill>
                <a:srgbClr val="F4797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608576" y="3200400"/>
            <a:ext cx="2944368" cy="566928"/>
          </a:xfrm>
          <a:prstGeom prst="roundRect">
            <a:avLst/>
          </a:prstGeom>
          <a:solidFill>
            <a:srgbClr val="4F4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764024" y="3337560"/>
            <a:ext cx="2651760" cy="326243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1700" b="1">
                <a:solidFill>
                  <a:srgbClr val="F6C15E"/>
                </a:solidFill>
                <a:latin typeface="Aptos"/>
              </a:defRPr>
            </a:pPr>
            <a:r>
              <a:rPr kumimoji="0" sz="1700" b="1" i="0" u="none" strike="noStrike" kern="1200" cap="none" spc="0" normalizeH="0" baseline="0" noProof="0" dirty="0">
                <a:ln>
                  <a:noFill/>
                </a:ln>
                <a:solidFill>
                  <a:srgbClr val="F6C15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Luz </a:t>
            </a:r>
            <a:r>
              <a:rPr kumimoji="0" sz="1700" b="1" i="0" u="none" strike="noStrike" kern="1200" cap="none" spc="0" normalizeH="0" baseline="0" noProof="0" dirty="0" err="1">
                <a:ln>
                  <a:noFill/>
                </a:ln>
                <a:solidFill>
                  <a:srgbClr val="F6C15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reflejada</a:t>
            </a:r>
            <a:r>
              <a:rPr kumimoji="0" sz="1700" b="1" i="0" u="none" strike="noStrike" kern="1200" cap="none" spc="0" normalizeH="0" baseline="0" noProof="0" dirty="0">
                <a:ln>
                  <a:noFill/>
                </a:ln>
                <a:solidFill>
                  <a:srgbClr val="F6C15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 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97280" y="4617720"/>
            <a:ext cx="9966960" cy="1005840"/>
          </a:xfrm>
          <a:prstGeom prst="round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218688" y="4896231"/>
            <a:ext cx="9418320" cy="433965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1900" b="0">
                <a:solidFill>
                  <a:srgbClr val="F4F8FD"/>
                </a:solidFill>
                <a:latin typeface="Aptos"/>
              </a:defRPr>
            </a:pPr>
            <a:r>
              <a:rPr kumimoji="0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4F8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Riesgo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F4F8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: </a:t>
            </a:r>
            <a:r>
              <a:rPr lang="en-US" sz="2400" dirty="0">
                <a:solidFill>
                  <a:srgbClr val="F4F8FD"/>
                </a:solidFill>
                <a:latin typeface="Aptos"/>
              </a:rPr>
              <a:t>I</a:t>
            </a:r>
            <a:r>
              <a:rPr kumimoji="0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4F8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nferir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F4F8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  <a:r>
              <a:rPr kumimoji="0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4F8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información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F4F8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  <a:r>
              <a:rPr kumimoji="0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4F8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sobre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F4F8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la </a:t>
            </a:r>
            <a:r>
              <a:rPr kumimoji="0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4F8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codificación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srgbClr val="F4F8FD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pic>
        <p:nvPicPr>
          <p:cNvPr id="21" name="Picture 2" descr="El ícono de la chica | Vector Premium">
            <a:extLst>
              <a:ext uri="{FF2B5EF4-FFF2-40B4-BE49-F238E27FC236}">
                <a16:creationId xmlns:a16="http://schemas.microsoft.com/office/drawing/2014/main" id="{D277D8C6-102C-3D5D-7200-5269364B4D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5473" y="1713054"/>
            <a:ext cx="1451990" cy="1451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29E0F02B-E9D6-1877-0154-FD8697CD4277}"/>
              </a:ext>
            </a:extLst>
          </p:cNvPr>
          <p:cNvPicPr>
            <a:picLocks noChangeAspect="1"/>
          </p:cNvPicPr>
          <p:nvPr/>
        </p:nvPicPr>
        <p:blipFill>
          <a:blip r:embed="rId5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2148" b="98828" l="10000" r="90000">
                        <a14:foregroundMark x1="51196" y1="7227" x2="51196" y2="7227"/>
                        <a14:foregroundMark x1="30543" y1="92188" x2="30543" y2="92188"/>
                        <a14:foregroundMark x1="33152" y1="99023" x2="33152" y2="99023"/>
                        <a14:foregroundMark x1="37609" y1="82813" x2="37609" y2="82813"/>
                        <a14:foregroundMark x1="66957" y1="98242" x2="66957" y2="98242"/>
                        <a14:foregroundMark x1="50326" y1="2148" x2="50326" y2="214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513313" y="1806458"/>
            <a:ext cx="2089536" cy="11628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8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8912" y="384048"/>
            <a:ext cx="100584" cy="365760"/>
          </a:xfrm>
          <a:prstGeom prst="rect">
            <a:avLst/>
          </a:prstGeom>
          <a:solidFill>
            <a:srgbClr val="2AC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58368" y="393192"/>
            <a:ext cx="9144000" cy="27432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1100" b="1">
                <a:solidFill>
                  <a:srgbClr val="2ACED8"/>
                </a:solidFill>
                <a:latin typeface="Aptos"/>
              </a:defRPr>
            </a:pPr>
            <a:r>
              <a: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2ACED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04 · </a:t>
            </a:r>
            <a:r>
              <a:rPr kumimoji="0" lang="es-ES" sz="1100" b="1" i="0" u="none" strike="noStrike" kern="1200" cap="none" spc="0" normalizeH="0" baseline="0" noProof="0" dirty="0">
                <a:ln>
                  <a:noFill/>
                </a:ln>
                <a:solidFill>
                  <a:srgbClr val="2ACED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PROBLEMA</a:t>
            </a:r>
            <a:endParaRPr kumimoji="0" sz="1100" b="1" i="0" u="none" strike="noStrike" kern="1200" cap="none" spc="0" normalizeH="0" baseline="0" noProof="0" dirty="0">
              <a:ln>
                <a:noFill/>
              </a:ln>
              <a:solidFill>
                <a:srgbClr val="2ACED8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10972800" cy="526298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3000" b="1">
                <a:solidFill>
                  <a:srgbClr val="F4F8FD"/>
                </a:solidFill>
                <a:latin typeface="Aptos"/>
              </a:defRPr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4F8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¿Que </a:t>
            </a:r>
            <a:r>
              <a:rPr kumimoji="0" sz="3000" b="1" i="0" u="none" strike="noStrike" kern="1200" cap="none" spc="0" normalizeH="0" baseline="0" noProof="0" dirty="0" err="1">
                <a:ln>
                  <a:noFill/>
                </a:ln>
                <a:solidFill>
                  <a:srgbClr val="F4F8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queremos</a:t>
            </a:r>
            <a:r>
              <a:rPr kumimoji="0" sz="3000" b="1" i="0" u="none" strike="noStrike" kern="1200" cap="none" spc="0" normalizeH="0" baseline="0" noProof="0" dirty="0">
                <a:ln>
                  <a:noFill/>
                </a:ln>
                <a:solidFill>
                  <a:srgbClr val="F4F8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  <a:r>
              <a:rPr kumimoji="0" sz="3000" b="1" i="0" u="none" strike="noStrike" kern="1200" cap="none" spc="0" normalizeH="0" baseline="0" noProof="0" dirty="0" err="1">
                <a:ln>
                  <a:noFill/>
                </a:ln>
                <a:solidFill>
                  <a:srgbClr val="F4F8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estudiar</a:t>
            </a: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4F8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?</a:t>
            </a:r>
            <a:endParaRPr kumimoji="0" sz="3000" b="1" i="0" u="none" strike="noStrike" kern="1200" cap="none" spc="0" normalizeH="0" baseline="0" noProof="0" dirty="0">
              <a:ln>
                <a:noFill/>
              </a:ln>
              <a:solidFill>
                <a:srgbClr val="F4F8FD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6364224"/>
            <a:ext cx="10927080" cy="13716"/>
          </a:xfrm>
          <a:prstGeom prst="rect">
            <a:avLst/>
          </a:prstGeom>
          <a:solidFill>
            <a:srgbClr val="3A4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8368" y="6473952"/>
            <a:ext cx="8229600" cy="219456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1000" b="0">
                <a:solidFill>
                  <a:srgbClr val="A3B5CB"/>
                </a:solidFill>
                <a:latin typeface="Aptos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A3B5C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USAL  ·  Investigación en Ciberseguridad  ·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64808"/>
            <a:ext cx="914400" cy="218521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1000" b="0">
                <a:solidFill>
                  <a:srgbClr val="A3B5CB"/>
                </a:solidFill>
                <a:latin typeface="Aptos"/>
              </a:defRPr>
            </a:pP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A3B5C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A3B5C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6</a:t>
            </a: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A3B5C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/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A3B5C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25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srgbClr val="A3B5CB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10561320" cy="1170432"/>
          </a:xfrm>
          <a:prstGeom prst="round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33271" y="2203704"/>
            <a:ext cx="10012680" cy="475488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2600" b="1">
                <a:solidFill>
                  <a:srgbClr val="2ACED8"/>
                </a:solidFill>
                <a:latin typeface="Aptos"/>
              </a:defRPr>
            </a:pPr>
            <a:r>
              <a:rPr kumimoji="0" sz="2600" b="1" i="0" u="none" strike="noStrike" kern="1200" cap="none" spc="0" normalizeH="0" baseline="0" noProof="0" dirty="0">
                <a:ln>
                  <a:noFill/>
                </a:ln>
                <a:solidFill>
                  <a:srgbClr val="2ACED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SEGURIDAD TEÓRICA DEL PROTOCOLO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41264" y="3246120"/>
            <a:ext cx="914400" cy="54864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3400" b="1">
                <a:solidFill>
                  <a:srgbClr val="F6C15E"/>
                </a:solidFill>
                <a:latin typeface="Aptos"/>
              </a:defRPr>
            </a:pPr>
            <a:r>
              <a:rPr kumimoji="0" sz="3400" b="1" i="0" u="none" strike="noStrike" kern="1200" cap="none" spc="0" normalizeH="0" baseline="0" noProof="0">
                <a:ln>
                  <a:noFill/>
                </a:ln>
                <a:solidFill>
                  <a:srgbClr val="F6C15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968496"/>
            <a:ext cx="10561320" cy="1170432"/>
          </a:xfrm>
          <a:prstGeom prst="round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33271" y="4315968"/>
            <a:ext cx="10012680" cy="475488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2500" b="1">
                <a:solidFill>
                  <a:srgbClr val="F4F8FD"/>
                </a:solidFill>
                <a:latin typeface="Aptos"/>
              </a:defRPr>
            </a:pPr>
            <a:r>
              <a:rPr kumimoji="0" sz="2500" b="1" i="0" u="none" strike="noStrike" kern="1200" cap="none" spc="0" normalizeH="0" baseline="0" noProof="0" dirty="0">
                <a:ln>
                  <a:noFill/>
                </a:ln>
                <a:solidFill>
                  <a:srgbClr val="F4F8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SEGURIDAD REAL DE LOS COMPONENTES ÓPTICOS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5632704"/>
            <a:ext cx="9692640" cy="347472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1800" b="0">
                <a:solidFill>
                  <a:srgbClr val="A3B5CB"/>
                </a:solidFill>
                <a:latin typeface="Aptos"/>
              </a:defRPr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A3B5C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Las </a:t>
            </a:r>
            <a:r>
              <a:rPr kumimoji="0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A3B5C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defensas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A3B5C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  <a:r>
              <a:rPr kumimoji="0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A3B5C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pueden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A3B5C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  <a:r>
              <a:rPr kumimoji="0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A3B5C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depender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A3B5C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de las </a:t>
            </a:r>
            <a:r>
              <a:rPr kumimoji="0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A3B5C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condiciones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A3B5C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  <a:r>
              <a:rPr kumimoji="0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A3B5C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físicas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A3B5C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del </a:t>
            </a:r>
            <a:r>
              <a:rPr kumimoji="0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A3B5C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ataque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A3B5C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8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8912" y="384048"/>
            <a:ext cx="100584" cy="365760"/>
          </a:xfrm>
          <a:prstGeom prst="rect">
            <a:avLst/>
          </a:prstGeom>
          <a:solidFill>
            <a:srgbClr val="2AC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58368" y="393192"/>
            <a:ext cx="9144000" cy="23391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1100" b="1">
                <a:solidFill>
                  <a:srgbClr val="2ACED8"/>
                </a:solidFill>
                <a:latin typeface="Aptos"/>
              </a:defRPr>
            </a:pPr>
            <a:r>
              <a: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2ACED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05 ·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2ACED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PREGUNTA/HIPOTESIS</a:t>
            </a:r>
            <a:endParaRPr kumimoji="0" sz="1100" b="1" i="0" u="none" strike="noStrike" kern="1200" cap="none" spc="0" normalizeH="0" baseline="0" noProof="0" dirty="0">
              <a:ln>
                <a:noFill/>
              </a:ln>
              <a:solidFill>
                <a:srgbClr val="2ACED8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10972800" cy="96012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3000" b="1">
                <a:solidFill>
                  <a:srgbClr val="F4F8FD"/>
                </a:solidFill>
                <a:latin typeface="Aptos"/>
              </a:defRPr>
            </a:pPr>
            <a:r>
              <a:rPr kumimoji="0" sz="3000" b="1" i="0" u="none" strike="noStrike" kern="1200" cap="none" spc="0" normalizeH="0" baseline="0" noProof="0">
                <a:ln>
                  <a:noFill/>
                </a:ln>
                <a:solidFill>
                  <a:srgbClr val="F4F8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Pregunta de investigación e hipótesis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364224"/>
            <a:ext cx="10927080" cy="13716"/>
          </a:xfrm>
          <a:prstGeom prst="rect">
            <a:avLst/>
          </a:prstGeom>
          <a:solidFill>
            <a:srgbClr val="3A4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8368" y="6473952"/>
            <a:ext cx="8229600" cy="219456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1000" b="0">
                <a:solidFill>
                  <a:srgbClr val="A3B5CB"/>
                </a:solidFill>
                <a:latin typeface="Aptos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A3B5C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USAL  ·  Investigación en Ciberseguridad  ·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64808"/>
            <a:ext cx="914400" cy="218521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1000" b="0">
                <a:solidFill>
                  <a:srgbClr val="A3B5CB"/>
                </a:solidFill>
                <a:latin typeface="Aptos"/>
              </a:defRPr>
            </a:pP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A3B5C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A3B5C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7</a:t>
            </a: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A3B5C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/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A3B5C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25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srgbClr val="A3B5CB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77240" y="1700784"/>
            <a:ext cx="10561320" cy="1527048"/>
          </a:xfrm>
          <a:prstGeom prst="round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33270" y="1751076"/>
            <a:ext cx="1828800" cy="310896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1400" b="1">
                <a:solidFill>
                  <a:srgbClr val="2ACED8"/>
                </a:solidFill>
                <a:latin typeface="Aptos"/>
              </a:defRPr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2ACED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PREGUNTA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2123" y="2054752"/>
            <a:ext cx="10305289" cy="987963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2100" b="1">
                <a:solidFill>
                  <a:srgbClr val="F4F8FD"/>
                </a:solidFill>
                <a:latin typeface="Aptos"/>
              </a:defRPr>
            </a:pPr>
            <a:r>
              <a:rPr lang="es-ES" sz="2000" dirty="0"/>
              <a:t>¿Cómo influyen la longitud de onda y la potencia de la luz inyectada en la eficacia de las contramedidas ópticas frente a ataques </a:t>
            </a:r>
            <a:r>
              <a:rPr lang="es-ES" sz="2000" dirty="0" err="1"/>
              <a:t>Trojan</a:t>
            </a:r>
            <a:r>
              <a:rPr lang="es-ES" sz="2000" dirty="0"/>
              <a:t> </a:t>
            </a:r>
            <a:r>
              <a:rPr lang="es-ES" sz="2000" dirty="0" err="1"/>
              <a:t>Horse</a:t>
            </a:r>
            <a:r>
              <a:rPr lang="es-ES" sz="2000" dirty="0"/>
              <a:t> en sistemas de distribución cuántica de claves (QKD)?</a:t>
            </a:r>
            <a:endParaRPr kumimoji="0" sz="2000" b="1" i="0" u="none" strike="noStrike" kern="1200" cap="none" spc="0" normalizeH="0" baseline="0" noProof="0" dirty="0">
              <a:ln>
                <a:noFill/>
              </a:ln>
              <a:solidFill>
                <a:srgbClr val="F4F8FD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3511296"/>
            <a:ext cx="10561320" cy="2107438"/>
          </a:xfrm>
          <a:prstGeom prst="round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33271" y="3561588"/>
            <a:ext cx="2743200" cy="32004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1500" b="1">
                <a:solidFill>
                  <a:srgbClr val="F6C15E"/>
                </a:solidFill>
                <a:latin typeface="Aptos"/>
              </a:defRPr>
            </a:pPr>
            <a:r>
              <a:rPr kumimoji="0" sz="1500" b="1" i="0" u="none" strike="noStrike" kern="1200" cap="none" spc="0" normalizeH="0" baseline="0" noProof="0" dirty="0">
                <a:ln>
                  <a:noFill/>
                </a:ln>
                <a:solidFill>
                  <a:srgbClr val="F6C15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HIPÓTESIS H1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0" y="3955796"/>
            <a:ext cx="9857232" cy="141885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2200" b="0">
                <a:solidFill>
                  <a:srgbClr val="F4F8FD"/>
                </a:solidFill>
                <a:latin typeface="Aptos"/>
              </a:defRPr>
            </a:pPr>
            <a:r>
              <a:rPr lang="es-ES" dirty="0"/>
              <a:t>La eficacia de las contramedidas ópticas frente a ataques </a:t>
            </a:r>
            <a:r>
              <a:rPr lang="es-ES" dirty="0" err="1"/>
              <a:t>Trojan</a:t>
            </a:r>
            <a:r>
              <a:rPr lang="es-ES" dirty="0"/>
              <a:t> </a:t>
            </a:r>
            <a:r>
              <a:rPr lang="es-ES" dirty="0" err="1"/>
              <a:t>Horse</a:t>
            </a:r>
            <a:r>
              <a:rPr lang="es-ES" dirty="0"/>
              <a:t> en sistemas QKD depende de la longitud de onda y la potencia de la luz inyectada, de modo que determinadas condiciones de ataque pueden reducir su capacidad de aislamiento y aumentar el riesgo de filtración de información.</a:t>
            </a:r>
            <a:endParaRPr kumimoji="0" b="0" i="0" u="none" strike="noStrike" kern="1200" cap="none" spc="0" normalizeH="0" baseline="0" noProof="0" dirty="0">
              <a:ln>
                <a:noFill/>
              </a:ln>
              <a:solidFill>
                <a:srgbClr val="F4F8FD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CA9E7C-6A38-E08D-6305-42BFDA75C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3B0118D5-8DE0-8681-AC24-F38ADB3649E2}"/>
              </a:ext>
            </a:extLst>
          </p:cNvPr>
          <p:cNvSpPr/>
          <p:nvPr/>
        </p:nvSpPr>
        <p:spPr>
          <a:xfrm>
            <a:off x="502920" y="768096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MX" sz="2900" b="1" noProof="0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Diseño metodológico de la investigación</a:t>
            </a:r>
            <a:endParaRPr lang="es-MX" sz="2900" noProof="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7018925-1780-9E23-2021-FA64621855BF}"/>
              </a:ext>
            </a:extLst>
          </p:cNvPr>
          <p:cNvSpPr/>
          <p:nvPr/>
        </p:nvSpPr>
        <p:spPr>
          <a:xfrm>
            <a:off x="502920" y="1490472"/>
            <a:ext cx="11109960" cy="0"/>
          </a:xfrm>
          <a:prstGeom prst="line">
            <a:avLst/>
          </a:prstGeom>
          <a:noFill/>
          <a:ln w="12700">
            <a:solidFill>
              <a:srgbClr val="2A4158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F8C15BB-8ECA-4A5F-CB5F-795BFFB55B3A}"/>
              </a:ext>
            </a:extLst>
          </p:cNvPr>
          <p:cNvSpPr/>
          <p:nvPr/>
        </p:nvSpPr>
        <p:spPr>
          <a:xfrm>
            <a:off x="658368" y="187452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MX" sz="2700" b="1" noProof="0" dirty="0">
                <a:solidFill>
                  <a:srgbClr val="53D4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 </a:t>
            </a:r>
            <a:r>
              <a:rPr lang="es-MX" sz="2700" b="1" noProof="0" dirty="0">
                <a:solidFill>
                  <a:srgbClr val="63A4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desarrollar nuestro proyecto seguiremos una metodología de investigación aplicada</a:t>
            </a:r>
            <a:r>
              <a:rPr lang="es-MX" sz="2700" b="1" noProof="0" dirty="0">
                <a:solidFill>
                  <a:srgbClr val="53D4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con un enfoque principalmente cuantitativo.</a:t>
            </a:r>
            <a:endParaRPr lang="es-MX" sz="2700" noProof="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77311930-C40C-2709-612F-648FD266396C}"/>
              </a:ext>
            </a:extLst>
          </p:cNvPr>
          <p:cNvSpPr/>
          <p:nvPr/>
        </p:nvSpPr>
        <p:spPr>
          <a:xfrm>
            <a:off x="658368" y="3310128"/>
            <a:ext cx="10835640" cy="1234440"/>
          </a:xfrm>
          <a:prstGeom prst="roundRect">
            <a:avLst>
              <a:gd name="adj" fmla="val 11852"/>
            </a:avLst>
          </a:prstGeom>
          <a:solidFill>
            <a:srgbClr val="14243A"/>
          </a:solidFill>
          <a:ln w="8890">
            <a:solidFill>
              <a:srgbClr val="2A4158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69A7C9FC-695F-9D3B-8A83-4F76EC8310F6}"/>
              </a:ext>
            </a:extLst>
          </p:cNvPr>
          <p:cNvSpPr/>
          <p:nvPr/>
        </p:nvSpPr>
        <p:spPr>
          <a:xfrm>
            <a:off x="960120" y="3584448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2200" noProof="0" dirty="0">
                <a:solidFill>
                  <a:srgbClr val="F4F7FC"/>
                </a:solidFill>
                <a:latin typeface="Aptos" pitchFamily="34" charset="0"/>
              </a:rPr>
              <a:t>La investigación se desarrollara en 6 etapas</a:t>
            </a:r>
            <a:endParaRPr lang="es-MX" sz="2200" noProof="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9CEFD01-7E5A-F864-3976-D8F07B3EC073}"/>
              </a:ext>
            </a:extLst>
          </p:cNvPr>
          <p:cNvGrpSpPr/>
          <p:nvPr/>
        </p:nvGrpSpPr>
        <p:grpSpPr>
          <a:xfrm>
            <a:off x="723900" y="6393561"/>
            <a:ext cx="10927080" cy="329184"/>
            <a:chOff x="723900" y="6393561"/>
            <a:chExt cx="10927080" cy="329184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4232C74-AF36-CFE0-9250-84821423220C}"/>
                </a:ext>
              </a:extLst>
            </p:cNvPr>
            <p:cNvSpPr/>
            <p:nvPr/>
          </p:nvSpPr>
          <p:spPr>
            <a:xfrm>
              <a:off x="723900" y="6393561"/>
              <a:ext cx="10927080" cy="13716"/>
            </a:xfrm>
            <a:prstGeom prst="rect">
              <a:avLst/>
            </a:prstGeom>
            <a:solidFill>
              <a:srgbClr val="3A4D6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17A88DE-7DC1-368C-2C5F-16D4AE038C19}"/>
                </a:ext>
              </a:extLst>
            </p:cNvPr>
            <p:cNvSpPr txBox="1"/>
            <p:nvPr/>
          </p:nvSpPr>
          <p:spPr>
            <a:xfrm>
              <a:off x="742188" y="6503289"/>
              <a:ext cx="7575804" cy="219456"/>
            </a:xfrm>
            <a:prstGeom prst="rect">
              <a:avLst/>
            </a:prstGeom>
            <a:noFill/>
          </p:spPr>
          <p:txBody>
            <a:bodyPr wrap="square" lIns="27432" tIns="18288" rIns="27432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 sz="1000" b="0">
                  <a:solidFill>
                    <a:srgbClr val="A3B5CB"/>
                  </a:solidFill>
                  <a:latin typeface="Aptos"/>
                </a:defRPr>
              </a:pPr>
              <a:r>
                <a: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USAL  ·  </a:t>
              </a:r>
              <a:r>
                <a:rPr kumimoji="0" sz="10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Investigación</a:t>
              </a:r>
              <a:r>
                <a: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 </a:t>
              </a:r>
              <a:r>
                <a:rPr kumimoji="0" sz="10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en</a:t>
              </a:r>
              <a:r>
                <a: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 </a:t>
              </a:r>
              <a:r>
                <a:rPr kumimoji="0" sz="10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Ciberseguridad</a:t>
              </a:r>
              <a:r>
                <a: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  ·  2026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7E98D15-0DE5-D3A7-B3B7-52379DBDF211}"/>
                </a:ext>
              </a:extLst>
            </p:cNvPr>
            <p:cNvSpPr txBox="1"/>
            <p:nvPr/>
          </p:nvSpPr>
          <p:spPr>
            <a:xfrm>
              <a:off x="10599420" y="6494145"/>
              <a:ext cx="914400" cy="218521"/>
            </a:xfrm>
            <a:prstGeom prst="rect">
              <a:avLst/>
            </a:prstGeom>
            <a:noFill/>
          </p:spPr>
          <p:txBody>
            <a:bodyPr wrap="square" lIns="27432" tIns="18288" rIns="27432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 sz="1000" b="0">
                  <a:solidFill>
                    <a:srgbClr val="A3B5CB"/>
                  </a:solidFill>
                  <a:latin typeface="Aptos"/>
                </a:defRPr>
              </a:pPr>
              <a:r>
                <a: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0</a:t>
              </a: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8</a:t>
              </a:r>
              <a:r>
                <a: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 / </a:t>
              </a: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25</a:t>
              </a:r>
              <a:endParaRPr kumimoji="0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</p:grpSp>
      <p:sp>
        <p:nvSpPr>
          <p:cNvPr id="15" name="Rectangle 45">
            <a:extLst>
              <a:ext uri="{FF2B5EF4-FFF2-40B4-BE49-F238E27FC236}">
                <a16:creationId xmlns:a16="http://schemas.microsoft.com/office/drawing/2014/main" id="{F7203796-AA43-4EA7-7235-A1EA8FD71E62}"/>
              </a:ext>
            </a:extLst>
          </p:cNvPr>
          <p:cNvSpPr/>
          <p:nvPr/>
        </p:nvSpPr>
        <p:spPr>
          <a:xfrm>
            <a:off x="362243" y="268664"/>
            <a:ext cx="100584" cy="365760"/>
          </a:xfrm>
          <a:prstGeom prst="rect">
            <a:avLst/>
          </a:prstGeom>
          <a:solidFill>
            <a:srgbClr val="2AC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Box 47">
            <a:extLst>
              <a:ext uri="{FF2B5EF4-FFF2-40B4-BE49-F238E27FC236}">
                <a16:creationId xmlns:a16="http://schemas.microsoft.com/office/drawing/2014/main" id="{3B669626-B9F5-71C9-8849-4851D62D1C54}"/>
              </a:ext>
            </a:extLst>
          </p:cNvPr>
          <p:cNvSpPr txBox="1"/>
          <p:nvPr/>
        </p:nvSpPr>
        <p:spPr>
          <a:xfrm>
            <a:off x="502920" y="291654"/>
            <a:ext cx="9144000" cy="310854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1100" b="1">
                <a:solidFill>
                  <a:srgbClr val="2ACED8"/>
                </a:solidFill>
                <a:latin typeface="Aptos"/>
              </a:defRPr>
            </a:pPr>
            <a:r>
              <a:rPr kumimoji="0" lang="es-MX" sz="1600" b="1" i="0" u="none" strike="noStrike" kern="1200" cap="none" spc="0" normalizeH="0" baseline="0" noProof="0" dirty="0">
                <a:ln>
                  <a:noFill/>
                </a:ln>
                <a:solidFill>
                  <a:srgbClr val="2ACED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srgbClr val="2ACED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DISEÑO METODOLÓGICO DE LA INVESTIGACIÓN</a:t>
            </a:r>
            <a:endParaRPr kumimoji="0" lang="es-MX" sz="1600" b="1" i="0" u="none" strike="noStrike" kern="1200" cap="none" spc="0" normalizeH="0" baseline="0" noProof="0" dirty="0">
              <a:ln>
                <a:noFill/>
              </a:ln>
              <a:solidFill>
                <a:srgbClr val="2ACED8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129689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4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768096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2900" b="1" noProof="0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Diseño metodológico de la investigación</a:t>
            </a:r>
            <a:endParaRPr lang="es-MX" sz="2900" noProof="0" dirty="0"/>
          </a:p>
        </p:txBody>
      </p:sp>
      <p:sp>
        <p:nvSpPr>
          <p:cNvPr id="5" name="Shape 3"/>
          <p:cNvSpPr/>
          <p:nvPr/>
        </p:nvSpPr>
        <p:spPr>
          <a:xfrm>
            <a:off x="502920" y="1490472"/>
            <a:ext cx="11109960" cy="0"/>
          </a:xfrm>
          <a:prstGeom prst="line">
            <a:avLst/>
          </a:prstGeom>
          <a:noFill/>
          <a:ln w="12700">
            <a:solidFill>
              <a:srgbClr val="2A4158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000" noProof="0" dirty="0">
                <a:solidFill>
                  <a:srgbClr val="B6C7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Investigación en Ciberseguridad  ·  USAL  ·  2026</a:t>
            </a:r>
            <a:endParaRPr lang="es-MX" sz="1000" noProof="0" dirty="0"/>
          </a:p>
        </p:txBody>
      </p:sp>
      <p:sp>
        <p:nvSpPr>
          <p:cNvPr id="8" name="Shape 6"/>
          <p:cNvSpPr/>
          <p:nvPr/>
        </p:nvSpPr>
        <p:spPr>
          <a:xfrm>
            <a:off x="658368" y="1883664"/>
            <a:ext cx="3566160" cy="1408176"/>
          </a:xfrm>
          <a:prstGeom prst="roundRect">
            <a:avLst>
              <a:gd name="adj" fmla="val 10390"/>
            </a:avLst>
          </a:prstGeom>
          <a:solidFill>
            <a:srgbClr val="14243A"/>
          </a:solidFill>
          <a:ln w="8890">
            <a:solidFill>
              <a:srgbClr val="2A4158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9" name="Text 7"/>
          <p:cNvSpPr/>
          <p:nvPr/>
        </p:nvSpPr>
        <p:spPr>
          <a:xfrm>
            <a:off x="859536" y="2048256"/>
            <a:ext cx="3163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700" b="1" noProof="0" dirty="0">
                <a:solidFill>
                  <a:srgbClr val="53D4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· Formulación</a:t>
            </a:r>
            <a:endParaRPr lang="es-MX" sz="1700" noProof="0" dirty="0"/>
          </a:p>
        </p:txBody>
      </p:sp>
      <p:sp>
        <p:nvSpPr>
          <p:cNvPr id="10" name="Text 8"/>
          <p:cNvSpPr/>
          <p:nvPr/>
        </p:nvSpPr>
        <p:spPr>
          <a:xfrm>
            <a:off x="859536" y="2459736"/>
            <a:ext cx="31638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MX" sz="1600" noProof="0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 e hipótesis</a:t>
            </a:r>
            <a:endParaRPr lang="es-MX" sz="1600" noProof="0" dirty="0"/>
          </a:p>
        </p:txBody>
      </p:sp>
      <p:sp>
        <p:nvSpPr>
          <p:cNvPr id="11" name="Shape 9"/>
          <p:cNvSpPr/>
          <p:nvPr/>
        </p:nvSpPr>
        <p:spPr>
          <a:xfrm>
            <a:off x="4471416" y="1883664"/>
            <a:ext cx="3566160" cy="1408176"/>
          </a:xfrm>
          <a:prstGeom prst="roundRect">
            <a:avLst>
              <a:gd name="adj" fmla="val 10390"/>
            </a:avLst>
          </a:prstGeom>
          <a:solidFill>
            <a:srgbClr val="14243A"/>
          </a:solidFill>
          <a:ln w="8890">
            <a:solidFill>
              <a:srgbClr val="2A4158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12" name="Text 10"/>
          <p:cNvSpPr/>
          <p:nvPr/>
        </p:nvSpPr>
        <p:spPr>
          <a:xfrm>
            <a:off x="4672584" y="2048256"/>
            <a:ext cx="3163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700" b="1" noProof="0" dirty="0">
                <a:solidFill>
                  <a:srgbClr val="53D4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· Búsqueda</a:t>
            </a:r>
            <a:endParaRPr lang="es-MX" sz="1700" noProof="0" dirty="0"/>
          </a:p>
        </p:txBody>
      </p:sp>
      <p:sp>
        <p:nvSpPr>
          <p:cNvPr id="13" name="Text 11"/>
          <p:cNvSpPr/>
          <p:nvPr/>
        </p:nvSpPr>
        <p:spPr>
          <a:xfrm>
            <a:off x="4672584" y="2459736"/>
            <a:ext cx="31638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MX" sz="1600" noProof="0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Scopus / WoS / IEEE</a:t>
            </a:r>
            <a:endParaRPr lang="es-MX" sz="1600" noProof="0" dirty="0"/>
          </a:p>
        </p:txBody>
      </p:sp>
      <p:sp>
        <p:nvSpPr>
          <p:cNvPr id="14" name="Shape 12"/>
          <p:cNvSpPr/>
          <p:nvPr/>
        </p:nvSpPr>
        <p:spPr>
          <a:xfrm>
            <a:off x="8284464" y="1883664"/>
            <a:ext cx="3566160" cy="1408176"/>
          </a:xfrm>
          <a:prstGeom prst="roundRect">
            <a:avLst>
              <a:gd name="adj" fmla="val 10390"/>
            </a:avLst>
          </a:prstGeom>
          <a:solidFill>
            <a:srgbClr val="14243A"/>
          </a:solidFill>
          <a:ln w="8890">
            <a:solidFill>
              <a:srgbClr val="2A4158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15" name="Text 13"/>
          <p:cNvSpPr/>
          <p:nvPr/>
        </p:nvSpPr>
        <p:spPr>
          <a:xfrm>
            <a:off x="8485632" y="2048256"/>
            <a:ext cx="3163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700" b="1" noProof="0" dirty="0">
                <a:solidFill>
                  <a:srgbClr val="53D4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· Selección</a:t>
            </a:r>
            <a:endParaRPr lang="es-MX" sz="1700" noProof="0" dirty="0"/>
          </a:p>
        </p:txBody>
      </p:sp>
      <p:sp>
        <p:nvSpPr>
          <p:cNvPr id="16" name="Text 14"/>
          <p:cNvSpPr/>
          <p:nvPr/>
        </p:nvSpPr>
        <p:spPr>
          <a:xfrm>
            <a:off x="8485632" y="2459736"/>
            <a:ext cx="31638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MX" sz="1600" noProof="0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JCR Q1 + pertinencia</a:t>
            </a:r>
            <a:endParaRPr lang="es-MX" sz="1600" noProof="0" dirty="0"/>
          </a:p>
        </p:txBody>
      </p:sp>
      <p:sp>
        <p:nvSpPr>
          <p:cNvPr id="17" name="Shape 15"/>
          <p:cNvSpPr/>
          <p:nvPr/>
        </p:nvSpPr>
        <p:spPr>
          <a:xfrm>
            <a:off x="658368" y="3575304"/>
            <a:ext cx="3566160" cy="1408176"/>
          </a:xfrm>
          <a:prstGeom prst="roundRect">
            <a:avLst>
              <a:gd name="adj" fmla="val 10390"/>
            </a:avLst>
          </a:prstGeom>
          <a:solidFill>
            <a:srgbClr val="14243A"/>
          </a:solidFill>
          <a:ln w="8890">
            <a:solidFill>
              <a:srgbClr val="2A4158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18" name="Text 16"/>
          <p:cNvSpPr/>
          <p:nvPr/>
        </p:nvSpPr>
        <p:spPr>
          <a:xfrm>
            <a:off x="859536" y="3739896"/>
            <a:ext cx="3163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700" b="1" noProof="0" dirty="0">
                <a:solidFill>
                  <a:srgbClr val="53D4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· Extracción</a:t>
            </a:r>
            <a:endParaRPr lang="es-MX" sz="1700" noProof="0" dirty="0"/>
          </a:p>
        </p:txBody>
      </p:sp>
      <p:sp>
        <p:nvSpPr>
          <p:cNvPr id="19" name="Text 17"/>
          <p:cNvSpPr/>
          <p:nvPr/>
        </p:nvSpPr>
        <p:spPr>
          <a:xfrm>
            <a:off x="859536" y="4151376"/>
            <a:ext cx="31638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MX" sz="1600" noProof="0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Métricas y contexto</a:t>
            </a:r>
            <a:endParaRPr lang="es-MX" sz="1600" noProof="0" dirty="0"/>
          </a:p>
        </p:txBody>
      </p:sp>
      <p:sp>
        <p:nvSpPr>
          <p:cNvPr id="20" name="Shape 18"/>
          <p:cNvSpPr/>
          <p:nvPr/>
        </p:nvSpPr>
        <p:spPr>
          <a:xfrm>
            <a:off x="4471416" y="3575304"/>
            <a:ext cx="3566160" cy="1408176"/>
          </a:xfrm>
          <a:prstGeom prst="roundRect">
            <a:avLst>
              <a:gd name="adj" fmla="val 10390"/>
            </a:avLst>
          </a:prstGeom>
          <a:solidFill>
            <a:srgbClr val="14243A"/>
          </a:solidFill>
          <a:ln w="8890">
            <a:solidFill>
              <a:srgbClr val="2A4158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21" name="Text 19"/>
          <p:cNvSpPr/>
          <p:nvPr/>
        </p:nvSpPr>
        <p:spPr>
          <a:xfrm>
            <a:off x="4672584" y="3739896"/>
            <a:ext cx="3163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700" b="1" noProof="0" dirty="0">
                <a:solidFill>
                  <a:srgbClr val="53D4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· Caso de estudio</a:t>
            </a:r>
            <a:endParaRPr lang="es-MX" sz="1700" noProof="0" dirty="0"/>
          </a:p>
        </p:txBody>
      </p:sp>
      <p:sp>
        <p:nvSpPr>
          <p:cNvPr id="22" name="Text 20"/>
          <p:cNvSpPr/>
          <p:nvPr/>
        </p:nvSpPr>
        <p:spPr>
          <a:xfrm>
            <a:off x="4672584" y="4151376"/>
            <a:ext cx="31638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MX" sz="1600" noProof="0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Escenarios comparables</a:t>
            </a:r>
            <a:endParaRPr lang="es-MX" sz="1600" noProof="0" dirty="0"/>
          </a:p>
        </p:txBody>
      </p:sp>
      <p:sp>
        <p:nvSpPr>
          <p:cNvPr id="23" name="Shape 21"/>
          <p:cNvSpPr/>
          <p:nvPr/>
        </p:nvSpPr>
        <p:spPr>
          <a:xfrm>
            <a:off x="8284464" y="3575304"/>
            <a:ext cx="3566160" cy="1408176"/>
          </a:xfrm>
          <a:prstGeom prst="roundRect">
            <a:avLst>
              <a:gd name="adj" fmla="val 10390"/>
            </a:avLst>
          </a:prstGeom>
          <a:solidFill>
            <a:srgbClr val="14243A"/>
          </a:solidFill>
          <a:ln w="8890">
            <a:solidFill>
              <a:srgbClr val="2A4158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24" name="Text 22"/>
          <p:cNvSpPr/>
          <p:nvPr/>
        </p:nvSpPr>
        <p:spPr>
          <a:xfrm>
            <a:off x="8485632" y="3739896"/>
            <a:ext cx="3163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700" b="1" noProof="0" dirty="0">
                <a:solidFill>
                  <a:srgbClr val="53D4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· Contraste</a:t>
            </a:r>
            <a:endParaRPr lang="es-MX" sz="1700" noProof="0" dirty="0"/>
          </a:p>
        </p:txBody>
      </p:sp>
      <p:sp>
        <p:nvSpPr>
          <p:cNvPr id="25" name="Text 23"/>
          <p:cNvSpPr/>
          <p:nvPr/>
        </p:nvSpPr>
        <p:spPr>
          <a:xfrm>
            <a:off x="8485632" y="4151376"/>
            <a:ext cx="31638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MX" sz="1600" noProof="0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Análisis y límites</a:t>
            </a:r>
            <a:endParaRPr lang="es-MX" sz="1600" noProof="0" dirty="0"/>
          </a:p>
        </p:txBody>
      </p:sp>
      <p:sp>
        <p:nvSpPr>
          <p:cNvPr id="26" name="Rectangle 11">
            <a:extLst>
              <a:ext uri="{FF2B5EF4-FFF2-40B4-BE49-F238E27FC236}">
                <a16:creationId xmlns:a16="http://schemas.microsoft.com/office/drawing/2014/main" id="{25E328F5-4427-2F29-788F-E8244A30BAD8}"/>
              </a:ext>
            </a:extLst>
          </p:cNvPr>
          <p:cNvSpPr/>
          <p:nvPr/>
        </p:nvSpPr>
        <p:spPr>
          <a:xfrm>
            <a:off x="723900" y="6393561"/>
            <a:ext cx="10927080" cy="13716"/>
          </a:xfrm>
          <a:prstGeom prst="rect">
            <a:avLst/>
          </a:prstGeom>
          <a:solidFill>
            <a:srgbClr val="3A4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TextBox 13">
            <a:extLst>
              <a:ext uri="{FF2B5EF4-FFF2-40B4-BE49-F238E27FC236}">
                <a16:creationId xmlns:a16="http://schemas.microsoft.com/office/drawing/2014/main" id="{060AB56A-1275-80BA-5C47-15FE78ABBA17}"/>
              </a:ext>
            </a:extLst>
          </p:cNvPr>
          <p:cNvSpPr txBox="1"/>
          <p:nvPr/>
        </p:nvSpPr>
        <p:spPr>
          <a:xfrm>
            <a:off x="10599420" y="6494145"/>
            <a:ext cx="914400" cy="218521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1000" b="0">
                <a:solidFill>
                  <a:srgbClr val="A3B5CB"/>
                </a:solidFill>
                <a:latin typeface="Aptos"/>
              </a:defRPr>
            </a:pP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</a:t>
            </a:r>
            <a:r>
              <a:rPr lang="en-US" sz="1000" dirty="0">
                <a:solidFill>
                  <a:schemeClr val="bg1"/>
                </a:solidFill>
                <a:latin typeface="Aptos"/>
              </a:rPr>
              <a:t>9</a:t>
            </a: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/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25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8" name="Rectangle 45">
            <a:extLst>
              <a:ext uri="{FF2B5EF4-FFF2-40B4-BE49-F238E27FC236}">
                <a16:creationId xmlns:a16="http://schemas.microsoft.com/office/drawing/2014/main" id="{38F6D443-B977-9A66-E393-79BDE557547C}"/>
              </a:ext>
            </a:extLst>
          </p:cNvPr>
          <p:cNvSpPr/>
          <p:nvPr/>
        </p:nvSpPr>
        <p:spPr>
          <a:xfrm>
            <a:off x="362243" y="268664"/>
            <a:ext cx="100584" cy="365760"/>
          </a:xfrm>
          <a:prstGeom prst="rect">
            <a:avLst/>
          </a:prstGeom>
          <a:solidFill>
            <a:srgbClr val="2AC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TextBox 47">
            <a:extLst>
              <a:ext uri="{FF2B5EF4-FFF2-40B4-BE49-F238E27FC236}">
                <a16:creationId xmlns:a16="http://schemas.microsoft.com/office/drawing/2014/main" id="{DFDFC94E-3828-4E4E-C839-1F9FE1FD8AD4}"/>
              </a:ext>
            </a:extLst>
          </p:cNvPr>
          <p:cNvSpPr txBox="1"/>
          <p:nvPr/>
        </p:nvSpPr>
        <p:spPr>
          <a:xfrm>
            <a:off x="502920" y="291654"/>
            <a:ext cx="9144000" cy="310854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1100" b="1">
                <a:solidFill>
                  <a:srgbClr val="2ACED8"/>
                </a:solidFill>
                <a:latin typeface="Aptos"/>
              </a:defRPr>
            </a:pPr>
            <a:r>
              <a:rPr kumimoji="0" lang="es-MX" sz="1600" b="1" i="0" u="none" strike="noStrike" kern="1200" cap="none" spc="0" normalizeH="0" baseline="0" noProof="0" dirty="0">
                <a:ln>
                  <a:noFill/>
                </a:ln>
                <a:solidFill>
                  <a:srgbClr val="2ACED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srgbClr val="2ACED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DISEÑO METODOLÓGICO DE LA INVESTIGACIÓN</a:t>
            </a:r>
            <a:endParaRPr kumimoji="0" lang="es-MX" sz="1600" b="1" i="0" u="none" strike="noStrike" kern="1200" cap="none" spc="0" normalizeH="0" baseline="0" noProof="0" dirty="0">
              <a:ln>
                <a:noFill/>
              </a:ln>
              <a:solidFill>
                <a:srgbClr val="2ACED8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398415-E49B-E3EC-5DB3-979E14210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09471720-DE33-19C1-A728-5002A5BA74BD}"/>
              </a:ext>
            </a:extLst>
          </p:cNvPr>
          <p:cNvSpPr/>
          <p:nvPr/>
        </p:nvSpPr>
        <p:spPr>
          <a:xfrm>
            <a:off x="502920" y="768096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MX" sz="2900" b="1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Fases de la metodología de la investigación</a:t>
            </a:r>
            <a:endParaRPr lang="es-MX" sz="2900" noProof="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48FC946-17E0-4894-03D2-0951C5EA34DF}"/>
              </a:ext>
            </a:extLst>
          </p:cNvPr>
          <p:cNvSpPr/>
          <p:nvPr/>
        </p:nvSpPr>
        <p:spPr>
          <a:xfrm>
            <a:off x="502920" y="1490472"/>
            <a:ext cx="11109960" cy="0"/>
          </a:xfrm>
          <a:prstGeom prst="line">
            <a:avLst/>
          </a:prstGeom>
          <a:noFill/>
          <a:ln w="12700">
            <a:solidFill>
              <a:srgbClr val="2A4158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0BE80689-8EA1-23E7-9AD0-F5EC197E989E}"/>
              </a:ext>
            </a:extLst>
          </p:cNvPr>
          <p:cNvGrpSpPr/>
          <p:nvPr/>
        </p:nvGrpSpPr>
        <p:grpSpPr>
          <a:xfrm>
            <a:off x="618103" y="1786690"/>
            <a:ext cx="5163312" cy="4068678"/>
            <a:chOff x="848708" y="4361045"/>
            <a:chExt cx="5163312" cy="4068678"/>
          </a:xfrm>
        </p:grpSpPr>
        <p:sp>
          <p:nvSpPr>
            <p:cNvPr id="36" name="Shape 12">
              <a:extLst>
                <a:ext uri="{FF2B5EF4-FFF2-40B4-BE49-F238E27FC236}">
                  <a16:creationId xmlns:a16="http://schemas.microsoft.com/office/drawing/2014/main" id="{6CE886DE-E68B-27FB-ACBD-8DF336A3771E}"/>
                </a:ext>
              </a:extLst>
            </p:cNvPr>
            <p:cNvSpPr/>
            <p:nvPr/>
          </p:nvSpPr>
          <p:spPr>
            <a:xfrm>
              <a:off x="848708" y="4361045"/>
              <a:ext cx="5163312" cy="4068678"/>
            </a:xfrm>
            <a:prstGeom prst="roundRect">
              <a:avLst>
                <a:gd name="adj" fmla="val 21622"/>
              </a:avLst>
            </a:prstGeom>
            <a:solidFill>
              <a:srgbClr val="14243A"/>
            </a:solidFill>
            <a:ln w="8890">
              <a:solidFill>
                <a:srgbClr val="2A4158"/>
              </a:solidFill>
              <a:prstDash val="solid"/>
            </a:ln>
          </p:spPr>
          <p:txBody>
            <a:bodyPr/>
            <a:lstStyle/>
            <a:p>
              <a:endParaRPr lang="es-MX" noProof="0" dirty="0"/>
            </a:p>
          </p:txBody>
        </p:sp>
        <p:sp>
          <p:nvSpPr>
            <p:cNvPr id="37" name="Text 13">
              <a:extLst>
                <a:ext uri="{FF2B5EF4-FFF2-40B4-BE49-F238E27FC236}">
                  <a16:creationId xmlns:a16="http://schemas.microsoft.com/office/drawing/2014/main" id="{CC34B0C5-5357-01FB-477A-8117302354B0}"/>
                </a:ext>
              </a:extLst>
            </p:cNvPr>
            <p:cNvSpPr/>
            <p:nvPr/>
          </p:nvSpPr>
          <p:spPr>
            <a:xfrm>
              <a:off x="1125193" y="5119797"/>
              <a:ext cx="4610342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s-MX" b="1" dirty="0">
                  <a:solidFill>
                    <a:srgbClr val="53D4D0"/>
                  </a:solidFill>
                  <a:latin typeface="Aptos" pitchFamily="34" charset="0"/>
                </a:rPr>
                <a:t>Fase 1. Definición del problema e hipótesis</a:t>
              </a:r>
              <a:endParaRPr lang="es-MX" dirty="0"/>
            </a:p>
          </p:txBody>
        </p:sp>
        <p:sp>
          <p:nvSpPr>
            <p:cNvPr id="38" name="Text 14">
              <a:extLst>
                <a:ext uri="{FF2B5EF4-FFF2-40B4-BE49-F238E27FC236}">
                  <a16:creationId xmlns:a16="http://schemas.microsoft.com/office/drawing/2014/main" id="{0DB4133C-CE1D-7034-DC75-3152E620C99E}"/>
                </a:ext>
              </a:extLst>
            </p:cNvPr>
            <p:cNvSpPr/>
            <p:nvPr/>
          </p:nvSpPr>
          <p:spPr>
            <a:xfrm>
              <a:off x="1125193" y="6391373"/>
              <a:ext cx="4610342" cy="10881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s-MX" sz="1700" noProof="0" dirty="0">
                  <a:solidFill>
                    <a:srgbClr val="F4F7FC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Problema: vulnerabilidad de los sistemas QKD ante ataques de inyección óptica.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s-MX" sz="1700" noProof="0" dirty="0">
                  <a:solidFill>
                    <a:srgbClr val="F4F7FC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Hipótesis: la eficacia del aislamiento óptico varía según la longitud de onda y la potencia de la señal inyectada.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s-MX" sz="1700" noProof="0" dirty="0">
                  <a:solidFill>
                    <a:srgbClr val="F4F7FC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Objetivo: evaluar la eficacia de las contramedidas ópticas.</a:t>
              </a:r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3EA6388C-6780-01CB-8E94-FF958B7B9A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6041" y="2242917"/>
            <a:ext cx="4876799" cy="2662237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660A532E-B68C-32E7-5DC0-B31A26D3E96D}"/>
              </a:ext>
            </a:extLst>
          </p:cNvPr>
          <p:cNvGrpSpPr/>
          <p:nvPr/>
        </p:nvGrpSpPr>
        <p:grpSpPr>
          <a:xfrm>
            <a:off x="463937" y="5982540"/>
            <a:ext cx="11109960" cy="754380"/>
            <a:chOff x="463937" y="5982540"/>
            <a:chExt cx="11109960" cy="754380"/>
          </a:xfrm>
        </p:grpSpPr>
        <p:sp>
          <p:nvSpPr>
            <p:cNvPr id="19" name="Text 9">
              <a:extLst>
                <a:ext uri="{FF2B5EF4-FFF2-40B4-BE49-F238E27FC236}">
                  <a16:creationId xmlns:a16="http://schemas.microsoft.com/office/drawing/2014/main" id="{CAF96551-5F19-94A8-A2D4-A29973CA0687}"/>
                </a:ext>
              </a:extLst>
            </p:cNvPr>
            <p:cNvSpPr/>
            <p:nvPr/>
          </p:nvSpPr>
          <p:spPr>
            <a:xfrm>
              <a:off x="463937" y="5982540"/>
              <a:ext cx="106984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s-MX" sz="1600" noProof="0" dirty="0">
                  <a:solidFill>
                    <a:srgbClr val="B6C7D8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Propuesta de investigación · No se presentan resultados definitivos</a:t>
              </a:r>
              <a:endParaRPr lang="es-MX" sz="1600" noProof="0" dirty="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5AB3270-4351-CEA0-3085-5AE7B461A275}"/>
                </a:ext>
              </a:extLst>
            </p:cNvPr>
            <p:cNvSpPr/>
            <p:nvPr/>
          </p:nvSpPr>
          <p:spPr>
            <a:xfrm>
              <a:off x="646817" y="6407736"/>
              <a:ext cx="10927080" cy="13716"/>
            </a:xfrm>
            <a:prstGeom prst="rect">
              <a:avLst/>
            </a:prstGeom>
            <a:solidFill>
              <a:srgbClr val="3A4D6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20B9688-DCB1-BFBC-D090-8546671BE750}"/>
                </a:ext>
              </a:extLst>
            </p:cNvPr>
            <p:cNvSpPr txBox="1"/>
            <p:nvPr/>
          </p:nvSpPr>
          <p:spPr>
            <a:xfrm>
              <a:off x="665105" y="6517464"/>
              <a:ext cx="7232744" cy="219456"/>
            </a:xfrm>
            <a:prstGeom prst="rect">
              <a:avLst/>
            </a:prstGeom>
            <a:noFill/>
          </p:spPr>
          <p:txBody>
            <a:bodyPr wrap="square" lIns="27432" tIns="18288" rIns="27432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 sz="1000" b="0">
                  <a:solidFill>
                    <a:srgbClr val="A3B5CB"/>
                  </a:solidFill>
                  <a:latin typeface="Aptos"/>
                </a:defRPr>
              </a:pPr>
              <a:r>
                <a: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USAL  ·  </a:t>
              </a:r>
              <a:r>
                <a:rPr kumimoji="0" sz="10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Investigación</a:t>
              </a:r>
              <a:r>
                <a: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 </a:t>
              </a:r>
              <a:r>
                <a:rPr kumimoji="0" sz="10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en</a:t>
              </a:r>
              <a:r>
                <a: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 </a:t>
              </a:r>
              <a:r>
                <a:rPr kumimoji="0" sz="10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Ciberseguridad</a:t>
              </a:r>
              <a:r>
                <a: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  ·  2026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1963FB9-09DD-1455-A849-A2EED5CF3007}"/>
                </a:ext>
              </a:extLst>
            </p:cNvPr>
            <p:cNvSpPr txBox="1"/>
            <p:nvPr/>
          </p:nvSpPr>
          <p:spPr>
            <a:xfrm>
              <a:off x="10522337" y="6508320"/>
              <a:ext cx="914400" cy="218521"/>
            </a:xfrm>
            <a:prstGeom prst="rect">
              <a:avLst/>
            </a:prstGeom>
            <a:noFill/>
          </p:spPr>
          <p:txBody>
            <a:bodyPr wrap="square" lIns="27432" tIns="18288" rIns="27432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 sz="1000" b="0">
                  <a:solidFill>
                    <a:srgbClr val="A3B5CB"/>
                  </a:solidFill>
                  <a:latin typeface="Aptos"/>
                </a:defRPr>
              </a:pPr>
              <a:r>
                <a:rPr lang="en-US" sz="1000" dirty="0">
                  <a:solidFill>
                    <a:schemeClr val="bg1"/>
                  </a:solidFill>
                  <a:latin typeface="Aptos"/>
                </a:rPr>
                <a:t>10</a:t>
              </a:r>
              <a:r>
                <a: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 / </a:t>
              </a: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25</a:t>
              </a:r>
              <a:endParaRPr kumimoji="0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</p:grpSp>
      <p:sp>
        <p:nvSpPr>
          <p:cNvPr id="17" name="Rectangle 45">
            <a:extLst>
              <a:ext uri="{FF2B5EF4-FFF2-40B4-BE49-F238E27FC236}">
                <a16:creationId xmlns:a16="http://schemas.microsoft.com/office/drawing/2014/main" id="{36D3D856-BA40-8711-CFC0-A0A1A14F3EDD}"/>
              </a:ext>
            </a:extLst>
          </p:cNvPr>
          <p:cNvSpPr/>
          <p:nvPr/>
        </p:nvSpPr>
        <p:spPr>
          <a:xfrm>
            <a:off x="362243" y="268664"/>
            <a:ext cx="100584" cy="365760"/>
          </a:xfrm>
          <a:prstGeom prst="rect">
            <a:avLst/>
          </a:prstGeom>
          <a:solidFill>
            <a:srgbClr val="2AC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Box 47">
            <a:extLst>
              <a:ext uri="{FF2B5EF4-FFF2-40B4-BE49-F238E27FC236}">
                <a16:creationId xmlns:a16="http://schemas.microsoft.com/office/drawing/2014/main" id="{15DB8949-C9C2-0956-FC88-2DC2406F2F9B}"/>
              </a:ext>
            </a:extLst>
          </p:cNvPr>
          <p:cNvSpPr txBox="1"/>
          <p:nvPr/>
        </p:nvSpPr>
        <p:spPr>
          <a:xfrm>
            <a:off x="502920" y="291654"/>
            <a:ext cx="9144000" cy="310854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1100" b="1">
                <a:solidFill>
                  <a:srgbClr val="2ACED8"/>
                </a:solidFill>
                <a:latin typeface="Aptos"/>
              </a:defRPr>
            </a:pPr>
            <a:r>
              <a:rPr kumimoji="0" lang="es-MX" sz="1600" b="1" i="0" u="none" strike="noStrike" kern="1200" cap="none" spc="0" normalizeH="0" baseline="0" noProof="0" dirty="0">
                <a:ln>
                  <a:noFill/>
                </a:ln>
                <a:solidFill>
                  <a:srgbClr val="2ACED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srgbClr val="2ACED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DISEÑO METODOLÓGICO DE LA INVESTIGACIÓN</a:t>
            </a:r>
            <a:endParaRPr kumimoji="0" lang="es-MX" sz="1600" b="1" i="0" u="none" strike="noStrike" kern="1200" cap="none" spc="0" normalizeH="0" baseline="0" noProof="0" dirty="0">
              <a:ln>
                <a:noFill/>
              </a:ln>
              <a:solidFill>
                <a:srgbClr val="2ACED8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66179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A89E81-4536-5A68-BE33-E22AE5D15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>
            <a:extLst>
              <a:ext uri="{FF2B5EF4-FFF2-40B4-BE49-F238E27FC236}">
                <a16:creationId xmlns:a16="http://schemas.microsoft.com/office/drawing/2014/main" id="{63B53809-5DD3-430E-1DE0-30BC7624D55E}"/>
              </a:ext>
            </a:extLst>
          </p:cNvPr>
          <p:cNvSpPr/>
          <p:nvPr/>
        </p:nvSpPr>
        <p:spPr>
          <a:xfrm>
            <a:off x="502920" y="1490472"/>
            <a:ext cx="11109960" cy="0"/>
          </a:xfrm>
          <a:prstGeom prst="line">
            <a:avLst/>
          </a:prstGeom>
          <a:noFill/>
          <a:ln w="12700">
            <a:solidFill>
              <a:srgbClr val="2A4158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8F0560D-6649-4777-9869-C0474E67C798}"/>
              </a:ext>
            </a:extLst>
          </p:cNvPr>
          <p:cNvGrpSpPr/>
          <p:nvPr/>
        </p:nvGrpSpPr>
        <p:grpSpPr>
          <a:xfrm>
            <a:off x="629974" y="1958422"/>
            <a:ext cx="5466026" cy="3832778"/>
            <a:chOff x="731520" y="4361045"/>
            <a:chExt cx="5466026" cy="1728857"/>
          </a:xfrm>
        </p:grpSpPr>
        <p:sp>
          <p:nvSpPr>
            <p:cNvPr id="14" name="Shape 12">
              <a:extLst>
                <a:ext uri="{FF2B5EF4-FFF2-40B4-BE49-F238E27FC236}">
                  <a16:creationId xmlns:a16="http://schemas.microsoft.com/office/drawing/2014/main" id="{4A5DA270-74F4-0C97-EBBA-9987D3EAA04A}"/>
                </a:ext>
              </a:extLst>
            </p:cNvPr>
            <p:cNvSpPr/>
            <p:nvPr/>
          </p:nvSpPr>
          <p:spPr>
            <a:xfrm>
              <a:off x="731520" y="4361045"/>
              <a:ext cx="5163312" cy="1728857"/>
            </a:xfrm>
            <a:prstGeom prst="roundRect">
              <a:avLst>
                <a:gd name="adj" fmla="val 21622"/>
              </a:avLst>
            </a:prstGeom>
            <a:solidFill>
              <a:srgbClr val="14243A"/>
            </a:solidFill>
            <a:ln w="8890">
              <a:solidFill>
                <a:srgbClr val="2A4158"/>
              </a:solidFill>
              <a:prstDash val="solid"/>
            </a:ln>
          </p:spPr>
          <p:txBody>
            <a:bodyPr/>
            <a:lstStyle/>
            <a:p>
              <a:endParaRPr lang="es-MX" noProof="0" dirty="0"/>
            </a:p>
          </p:txBody>
        </p:sp>
        <p:sp>
          <p:nvSpPr>
            <p:cNvPr id="15" name="Text 13">
              <a:extLst>
                <a:ext uri="{FF2B5EF4-FFF2-40B4-BE49-F238E27FC236}">
                  <a16:creationId xmlns:a16="http://schemas.microsoft.com/office/drawing/2014/main" id="{E9B331CA-9DBE-B330-9698-5138B11EA34F}"/>
                </a:ext>
              </a:extLst>
            </p:cNvPr>
            <p:cNvSpPr/>
            <p:nvPr/>
          </p:nvSpPr>
          <p:spPr>
            <a:xfrm>
              <a:off x="1034234" y="4513847"/>
              <a:ext cx="5163312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s-MX" sz="1800" b="1" noProof="0" dirty="0">
                  <a:solidFill>
                    <a:srgbClr val="53D4D0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Fase 2. </a:t>
              </a:r>
              <a:r>
                <a:rPr lang="es-MX" b="1" dirty="0">
                  <a:solidFill>
                    <a:srgbClr val="53D4D0"/>
                  </a:solidFill>
                  <a:latin typeface="Aptos" pitchFamily="34" charset="0"/>
                </a:rPr>
                <a:t>. Búsqueda bibliográfica estructurada </a:t>
              </a:r>
              <a:endParaRPr lang="es-MX" sz="1800" noProof="0" dirty="0"/>
            </a:p>
          </p:txBody>
        </p:sp>
        <p:sp>
          <p:nvSpPr>
            <p:cNvPr id="16" name="Text 14">
              <a:extLst>
                <a:ext uri="{FF2B5EF4-FFF2-40B4-BE49-F238E27FC236}">
                  <a16:creationId xmlns:a16="http://schemas.microsoft.com/office/drawing/2014/main" id="{028C6371-24A6-35E4-FAC9-CA7FE6E1D189}"/>
                </a:ext>
              </a:extLst>
            </p:cNvPr>
            <p:cNvSpPr/>
            <p:nvPr/>
          </p:nvSpPr>
          <p:spPr>
            <a:xfrm>
              <a:off x="1034234" y="4812701"/>
              <a:ext cx="3852032" cy="117271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s-MX" sz="1700" noProof="0" dirty="0">
                  <a:solidFill>
                    <a:srgbClr val="F4F7FC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Bases de datos: Scopus, Web </a:t>
              </a:r>
              <a:r>
                <a:rPr lang="es-MX" sz="1700" noProof="0" dirty="0" err="1">
                  <a:solidFill>
                    <a:srgbClr val="F4F7FC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of</a:t>
              </a:r>
              <a:r>
                <a:rPr lang="es-MX" sz="1700" noProof="0" dirty="0">
                  <a:solidFill>
                    <a:srgbClr val="F4F7FC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 </a:t>
              </a:r>
              <a:r>
                <a:rPr lang="es-MX" sz="1700" noProof="0" dirty="0" err="1">
                  <a:solidFill>
                    <a:srgbClr val="F4F7FC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Science</a:t>
              </a:r>
              <a:r>
                <a:rPr lang="es-MX" sz="1700" noProof="0" dirty="0">
                  <a:solidFill>
                    <a:srgbClr val="F4F7FC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 e IEEE </a:t>
              </a:r>
              <a:r>
                <a:rPr lang="es-MX" sz="1700" noProof="0" dirty="0" err="1">
                  <a:solidFill>
                    <a:srgbClr val="F4F7FC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Xplore</a:t>
              </a:r>
              <a:r>
                <a:rPr lang="es-MX" sz="1700" noProof="0" dirty="0">
                  <a:solidFill>
                    <a:srgbClr val="F4F7FC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.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s-MX" sz="1700" noProof="0" dirty="0">
                  <a:solidFill>
                    <a:srgbClr val="F4F7FC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Palabras clave: QKD, Trojan Horse </a:t>
              </a:r>
              <a:r>
                <a:rPr lang="es-MX" sz="1700" noProof="0" dirty="0" err="1">
                  <a:solidFill>
                    <a:srgbClr val="F4F7FC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Attack</a:t>
              </a:r>
              <a:r>
                <a:rPr lang="es-MX" sz="1700" noProof="0" dirty="0">
                  <a:solidFill>
                    <a:srgbClr val="F4F7FC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 e </a:t>
              </a:r>
              <a:r>
                <a:rPr lang="es-MX" sz="1700" noProof="0" dirty="0" err="1">
                  <a:solidFill>
                    <a:srgbClr val="F4F7FC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Injection</a:t>
              </a:r>
              <a:r>
                <a:rPr lang="es-MX" sz="1700" noProof="0" dirty="0">
                  <a:solidFill>
                    <a:srgbClr val="F4F7FC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 </a:t>
              </a:r>
              <a:r>
                <a:rPr lang="es-MX" sz="1700" noProof="0" dirty="0" err="1">
                  <a:solidFill>
                    <a:srgbClr val="F4F7FC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Attack</a:t>
              </a:r>
              <a:r>
                <a:rPr lang="es-MX" sz="1700" noProof="0" dirty="0">
                  <a:solidFill>
                    <a:srgbClr val="F4F7FC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.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s-MX" sz="1700" noProof="0" dirty="0">
                  <a:solidFill>
                    <a:srgbClr val="F4F7FC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Periodo de búsqueda: 2021–2026.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s-MX" sz="1700" noProof="0" dirty="0">
                  <a:solidFill>
                    <a:srgbClr val="F4F7FC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Registro y organización de referencias en Zotero.</a:t>
              </a:r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496B4651-63D5-2B73-61CD-B49E7086C73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448030" y="1778503"/>
            <a:ext cx="1248927" cy="124892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DD6D3C6-77A8-7977-FC16-F1F2659192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3532" y="2144312"/>
            <a:ext cx="1917402" cy="61566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1713471-1CB7-7824-D097-850E7E46DD9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8725" b="90828" l="9620" r="89933">
                        <a14:foregroundMark x1="46532" y1="8725" x2="46532" y2="8725"/>
                        <a14:foregroundMark x1="23714" y1="41834" x2="23714" y2="41834"/>
                        <a14:foregroundMark x1="25503" y1="51230" x2="25503" y2="51230"/>
                        <a14:foregroundMark x1="21477" y1="35347" x2="21477" y2="35347"/>
                        <a14:foregroundMark x1="21477" y1="35347" x2="19016" y2="43848"/>
                        <a14:foregroundMark x1="18568" y1="44072" x2="18568" y2="44072"/>
                        <a14:foregroundMark x1="21700" y1="32438" x2="20358" y2="63311"/>
                        <a14:foregroundMark x1="47204" y1="78300" x2="77181" y2="67785"/>
                        <a14:foregroundMark x1="77181" y1="67785" x2="82103" y2="63535"/>
                        <a14:foregroundMark x1="42953" y1="76957" x2="49217" y2="86801"/>
                        <a14:foregroundMark x1="49217" y1="86801" x2="58166" y2="85459"/>
                        <a14:foregroundMark x1="77629" y1="53691" x2="84564" y2="66219"/>
                        <a14:foregroundMark x1="84564" y1="66219" x2="57942" y2="86353"/>
                        <a14:foregroundMark x1="57942" y1="86353" x2="46309" y2="90828"/>
                        <a14:foregroundMark x1="46309" y1="90828" x2="41611" y2="79195"/>
                        <a14:foregroundMark x1="41611" y1="79195" x2="37808" y2="75839"/>
                        <a14:foregroundMark x1="78300" y1="51007" x2="85235" y2="64653"/>
                        <a14:foregroundMark x1="85235" y1="64653" x2="64206" y2="83221"/>
                        <a14:foregroundMark x1="64206" y1="83221" x2="53244" y2="88591"/>
                        <a14:foregroundMark x1="53244" y1="88591" x2="41163" y2="82998"/>
                        <a14:foregroundMark x1="50032" y1="72832" x2="50336" y2="72483"/>
                        <a14:foregroundMark x1="41163" y1="82998" x2="49860" y2="73028"/>
                        <a14:foregroundMark x1="58600" y1="69457" x2="66219" y2="66667"/>
                        <a14:foregroundMark x1="50336" y1="72483" x2="57455" y2="69876"/>
                        <a14:foregroundMark x1="66219" y1="66667" x2="78523" y2="56823"/>
                        <a14:foregroundMark x1="40449" y1="73632" x2="36465" y2="75391"/>
                        <a14:foregroundMark x1="78523" y1="56823" x2="63308" y2="63540"/>
                        <a14:backgroundMark x1="52125" y1="68233" x2="52125" y2="68233"/>
                        <a14:backgroundMark x1="50783" y1="68009" x2="50783" y2="68009"/>
                        <a14:backgroundMark x1="50336" y1="69351" x2="50336" y2="69351"/>
                        <a14:backgroundMark x1="50336" y1="69351" x2="50336" y2="69351"/>
                        <a14:backgroundMark x1="51454" y1="68904" x2="53468" y2="68680"/>
                        <a14:backgroundMark x1="54362" y1="68680" x2="54362" y2="68680"/>
                        <a14:backgroundMark x1="56823" y1="66667" x2="56823" y2="66667"/>
                        <a14:backgroundMark x1="56823" y1="66667" x2="53020" y2="66667"/>
                        <a14:backgroundMark x1="52125" y1="66667" x2="52125" y2="66667"/>
                        <a14:backgroundMark x1="48322" y1="70470" x2="48322" y2="70470"/>
                        <a14:backgroundMark x1="48322" y1="70470" x2="48322" y2="70470"/>
                        <a14:backgroundMark x1="46532" y1="70694" x2="46532" y2="70694"/>
                        <a14:backgroundMark x1="46532" y1="70694" x2="46532" y2="70694"/>
                        <a14:backgroundMark x1="45861" y1="71365" x2="63311" y2="63535"/>
                        <a14:backgroundMark x1="47651" y1="70022" x2="40045" y2="7315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914054" y="1732898"/>
            <a:ext cx="1294532" cy="129453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8450B70-62F2-1C4A-F936-B9727C37E356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578232" y="3288821"/>
            <a:ext cx="842722" cy="842722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8A964404-DCBE-B669-FC86-AC48D83D6439}"/>
              </a:ext>
            </a:extLst>
          </p:cNvPr>
          <p:cNvSpPr txBox="1"/>
          <p:nvPr/>
        </p:nvSpPr>
        <p:spPr>
          <a:xfrm>
            <a:off x="6545178" y="4315757"/>
            <a:ext cx="547035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s-MX" sz="1600" noProof="0" dirty="0">
                <a:solidFill>
                  <a:srgbClr val="F4F7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TITLE-ABS-KEY(</a:t>
            </a:r>
            <a:endParaRPr lang="es-MX" sz="1600" noProof="0" dirty="0"/>
          </a:p>
          <a:p>
            <a:pPr marL="0" indent="0">
              <a:buNone/>
            </a:pPr>
            <a:r>
              <a:rPr lang="es-MX" sz="1600" noProof="0" dirty="0">
                <a:solidFill>
                  <a:srgbClr val="F4F7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("quantum </a:t>
            </a:r>
            <a:r>
              <a:rPr lang="es-MX" sz="1600" noProof="0" dirty="0" err="1">
                <a:solidFill>
                  <a:srgbClr val="F4F7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key</a:t>
            </a:r>
            <a:r>
              <a:rPr lang="es-MX" sz="1600" noProof="0" dirty="0">
                <a:solidFill>
                  <a:srgbClr val="F4F7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</a:t>
            </a:r>
            <a:r>
              <a:rPr lang="es-MX" sz="1600" noProof="0" dirty="0" err="1">
                <a:solidFill>
                  <a:srgbClr val="F4F7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distribution</a:t>
            </a:r>
            <a:r>
              <a:rPr lang="es-MX" sz="1600" noProof="0" dirty="0">
                <a:solidFill>
                  <a:srgbClr val="F4F7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" OR QKD)</a:t>
            </a:r>
            <a:endParaRPr lang="es-MX" sz="1600" noProof="0" dirty="0"/>
          </a:p>
          <a:p>
            <a:pPr marL="0" indent="0">
              <a:buNone/>
            </a:pPr>
            <a:r>
              <a:rPr lang="es-MX" sz="1600" noProof="0" dirty="0">
                <a:solidFill>
                  <a:srgbClr val="F4F7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AND ("</a:t>
            </a:r>
            <a:r>
              <a:rPr lang="es-MX" sz="1600" noProof="0" dirty="0" err="1">
                <a:solidFill>
                  <a:srgbClr val="F4F7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trojan</a:t>
            </a:r>
            <a:r>
              <a:rPr lang="es-MX" sz="1600" noProof="0" dirty="0">
                <a:solidFill>
                  <a:srgbClr val="F4F7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</a:t>
            </a:r>
            <a:r>
              <a:rPr lang="es-MX" sz="1600" noProof="0" dirty="0" err="1">
                <a:solidFill>
                  <a:srgbClr val="F4F7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horse</a:t>
            </a:r>
            <a:r>
              <a:rPr lang="es-MX" sz="1600" noProof="0" dirty="0">
                <a:solidFill>
                  <a:srgbClr val="F4F7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" OR "</a:t>
            </a:r>
            <a:r>
              <a:rPr lang="es-MX" sz="1600" noProof="0" dirty="0" err="1">
                <a:solidFill>
                  <a:srgbClr val="F4F7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trojan-horse</a:t>
            </a:r>
            <a:r>
              <a:rPr lang="es-MX" sz="1600" noProof="0" dirty="0">
                <a:solidFill>
                  <a:srgbClr val="F4F7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"</a:t>
            </a:r>
            <a:endParaRPr lang="es-MX" sz="1600" noProof="0" dirty="0"/>
          </a:p>
          <a:p>
            <a:pPr marL="0" indent="0">
              <a:buNone/>
            </a:pPr>
            <a:r>
              <a:rPr lang="es-MX" sz="1600" noProof="0" dirty="0">
                <a:solidFill>
                  <a:srgbClr val="F4F7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OR "light </a:t>
            </a:r>
            <a:r>
              <a:rPr lang="es-MX" sz="1600" noProof="0" dirty="0" err="1">
                <a:solidFill>
                  <a:srgbClr val="F4F7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injection</a:t>
            </a:r>
            <a:r>
              <a:rPr lang="es-MX" sz="1600" noProof="0" dirty="0">
                <a:solidFill>
                  <a:srgbClr val="F4F7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</a:t>
            </a:r>
            <a:r>
              <a:rPr lang="es-MX" sz="1600" noProof="0" dirty="0" err="1">
                <a:solidFill>
                  <a:srgbClr val="F4F7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attack</a:t>
            </a:r>
            <a:r>
              <a:rPr lang="es-MX" sz="1600" noProof="0" dirty="0">
                <a:solidFill>
                  <a:srgbClr val="F4F7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*")</a:t>
            </a:r>
            <a:endParaRPr lang="es-MX" sz="1600" noProof="0" dirty="0"/>
          </a:p>
          <a:p>
            <a:pPr marL="0" indent="0">
              <a:buNone/>
            </a:pPr>
            <a:r>
              <a:rPr lang="es-MX" sz="1600" noProof="0" dirty="0">
                <a:solidFill>
                  <a:srgbClr val="F4F7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)</a:t>
            </a:r>
            <a:endParaRPr lang="es-MX" sz="1600" noProof="0" dirty="0"/>
          </a:p>
          <a:p>
            <a:pPr marL="0" indent="0">
              <a:buNone/>
            </a:pPr>
            <a:r>
              <a:rPr lang="es-MX" sz="1600" noProof="0" dirty="0">
                <a:solidFill>
                  <a:srgbClr val="F4F7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AND PUBYEAR &gt; 2020</a:t>
            </a:r>
            <a:endParaRPr lang="es-MX" sz="1600" noProof="0" dirty="0"/>
          </a:p>
          <a:p>
            <a:pPr marL="0" indent="0">
              <a:buNone/>
            </a:pPr>
            <a:r>
              <a:rPr lang="es-MX" sz="1600" noProof="0" dirty="0">
                <a:solidFill>
                  <a:srgbClr val="F4F7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AND PUBYEAR &lt; 2027</a:t>
            </a:r>
            <a:endParaRPr lang="es-MX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DEFD047-2F59-9B46-1E30-54A6D0455935}"/>
              </a:ext>
            </a:extLst>
          </p:cNvPr>
          <p:cNvGrpSpPr/>
          <p:nvPr/>
        </p:nvGrpSpPr>
        <p:grpSpPr>
          <a:xfrm>
            <a:off x="646817" y="6407736"/>
            <a:ext cx="10927080" cy="329184"/>
            <a:chOff x="646817" y="6407736"/>
            <a:chExt cx="10927080" cy="329184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1CD8E08B-638C-0CD8-14C9-550876DC4620}"/>
                </a:ext>
              </a:extLst>
            </p:cNvPr>
            <p:cNvSpPr/>
            <p:nvPr/>
          </p:nvSpPr>
          <p:spPr>
            <a:xfrm>
              <a:off x="646817" y="6407736"/>
              <a:ext cx="10927080" cy="13716"/>
            </a:xfrm>
            <a:prstGeom prst="rect">
              <a:avLst/>
            </a:prstGeom>
            <a:solidFill>
              <a:srgbClr val="3A4D6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CDD1513-7B28-047C-D74F-F78219E93056}"/>
                </a:ext>
              </a:extLst>
            </p:cNvPr>
            <p:cNvSpPr txBox="1"/>
            <p:nvPr/>
          </p:nvSpPr>
          <p:spPr>
            <a:xfrm>
              <a:off x="665105" y="6517464"/>
              <a:ext cx="7232744" cy="219456"/>
            </a:xfrm>
            <a:prstGeom prst="rect">
              <a:avLst/>
            </a:prstGeom>
            <a:noFill/>
          </p:spPr>
          <p:txBody>
            <a:bodyPr wrap="square" lIns="27432" tIns="18288" rIns="27432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 sz="1000" b="0">
                  <a:solidFill>
                    <a:srgbClr val="A3B5CB"/>
                  </a:solidFill>
                  <a:latin typeface="Aptos"/>
                </a:defRPr>
              </a:pPr>
              <a:r>
                <a: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USAL  ·  </a:t>
              </a:r>
              <a:r>
                <a:rPr kumimoji="0" sz="10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Investigación</a:t>
              </a:r>
              <a:r>
                <a: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 </a:t>
              </a:r>
              <a:r>
                <a:rPr kumimoji="0" sz="10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en</a:t>
              </a:r>
              <a:r>
                <a: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 </a:t>
              </a:r>
              <a:r>
                <a:rPr kumimoji="0" sz="10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Ciberseguridad</a:t>
              </a:r>
              <a:r>
                <a: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  ·  2026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90248B0-AC1D-A839-2C50-B66D981E43EE}"/>
                </a:ext>
              </a:extLst>
            </p:cNvPr>
            <p:cNvSpPr txBox="1"/>
            <p:nvPr/>
          </p:nvSpPr>
          <p:spPr>
            <a:xfrm>
              <a:off x="10522337" y="6508320"/>
              <a:ext cx="914400" cy="218521"/>
            </a:xfrm>
            <a:prstGeom prst="rect">
              <a:avLst/>
            </a:prstGeom>
            <a:noFill/>
          </p:spPr>
          <p:txBody>
            <a:bodyPr wrap="square" lIns="27432" tIns="18288" rIns="27432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 sz="1000" b="0">
                  <a:solidFill>
                    <a:srgbClr val="A3B5CB"/>
                  </a:solidFill>
                  <a:latin typeface="Aptos"/>
                </a:defRPr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11</a:t>
              </a:r>
              <a:r>
                <a: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/ </a:t>
              </a: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25</a:t>
              </a:r>
              <a:endParaRPr kumimoji="0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</p:grpSp>
      <p:sp>
        <p:nvSpPr>
          <p:cNvPr id="39" name="Text 2">
            <a:extLst>
              <a:ext uri="{FF2B5EF4-FFF2-40B4-BE49-F238E27FC236}">
                <a16:creationId xmlns:a16="http://schemas.microsoft.com/office/drawing/2014/main" id="{E097AB82-7D00-D076-ABEF-191E02F21C66}"/>
              </a:ext>
            </a:extLst>
          </p:cNvPr>
          <p:cNvSpPr/>
          <p:nvPr/>
        </p:nvSpPr>
        <p:spPr>
          <a:xfrm>
            <a:off x="502920" y="768096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MX" sz="2900" b="1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Fases de la metodología de la investigación</a:t>
            </a:r>
            <a:endParaRPr lang="es-MX" sz="2900" noProof="0" dirty="0"/>
          </a:p>
        </p:txBody>
      </p:sp>
      <p:sp>
        <p:nvSpPr>
          <p:cNvPr id="26" name="Rectangle 45">
            <a:extLst>
              <a:ext uri="{FF2B5EF4-FFF2-40B4-BE49-F238E27FC236}">
                <a16:creationId xmlns:a16="http://schemas.microsoft.com/office/drawing/2014/main" id="{D6C9D284-DF39-54B5-CCF5-D1579698E9A5}"/>
              </a:ext>
            </a:extLst>
          </p:cNvPr>
          <p:cNvSpPr/>
          <p:nvPr/>
        </p:nvSpPr>
        <p:spPr>
          <a:xfrm>
            <a:off x="362243" y="268664"/>
            <a:ext cx="100584" cy="365760"/>
          </a:xfrm>
          <a:prstGeom prst="rect">
            <a:avLst/>
          </a:prstGeom>
          <a:solidFill>
            <a:srgbClr val="2AC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TextBox 47">
            <a:extLst>
              <a:ext uri="{FF2B5EF4-FFF2-40B4-BE49-F238E27FC236}">
                <a16:creationId xmlns:a16="http://schemas.microsoft.com/office/drawing/2014/main" id="{6DBC9C68-6719-1585-B809-D803DE26A312}"/>
              </a:ext>
            </a:extLst>
          </p:cNvPr>
          <p:cNvSpPr txBox="1"/>
          <p:nvPr/>
        </p:nvSpPr>
        <p:spPr>
          <a:xfrm>
            <a:off x="502920" y="291654"/>
            <a:ext cx="9144000" cy="310854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1100" b="1">
                <a:solidFill>
                  <a:srgbClr val="2ACED8"/>
                </a:solidFill>
                <a:latin typeface="Aptos"/>
              </a:defRPr>
            </a:pPr>
            <a:r>
              <a:rPr kumimoji="0" lang="es-MX" sz="1600" b="1" i="0" u="none" strike="noStrike" kern="1200" cap="none" spc="0" normalizeH="0" baseline="0" noProof="0" dirty="0">
                <a:ln>
                  <a:noFill/>
                </a:ln>
                <a:solidFill>
                  <a:srgbClr val="2ACED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srgbClr val="2ACED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DISEÑO METODOLÓGICO DE LA INVESTIGACIÓN</a:t>
            </a:r>
            <a:endParaRPr kumimoji="0" lang="es-MX" sz="1600" b="1" i="0" u="none" strike="noStrike" kern="1200" cap="none" spc="0" normalizeH="0" baseline="0" noProof="0" dirty="0">
              <a:ln>
                <a:noFill/>
              </a:ln>
              <a:solidFill>
                <a:srgbClr val="2ACED8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73569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4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768096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2900" b="1" noProof="0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Búsqueda exploratoria: trabajo ya realizado</a:t>
            </a:r>
            <a:endParaRPr lang="es-MX" sz="2900" noProof="0" dirty="0"/>
          </a:p>
        </p:txBody>
      </p:sp>
      <p:sp>
        <p:nvSpPr>
          <p:cNvPr id="5" name="Shape 3"/>
          <p:cNvSpPr/>
          <p:nvPr/>
        </p:nvSpPr>
        <p:spPr>
          <a:xfrm>
            <a:off x="502920" y="1490472"/>
            <a:ext cx="11109960" cy="0"/>
          </a:xfrm>
          <a:prstGeom prst="line">
            <a:avLst/>
          </a:prstGeom>
          <a:noFill/>
          <a:ln w="12700">
            <a:solidFill>
              <a:srgbClr val="2A4158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000" noProof="0" dirty="0">
                <a:solidFill>
                  <a:srgbClr val="B6C7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Investigación en Ciberseguridad  ·  USAL  ·  2026</a:t>
            </a:r>
            <a:endParaRPr lang="es-MX" sz="1000" noProof="0" dirty="0"/>
          </a:p>
        </p:txBody>
      </p:sp>
      <p:sp>
        <p:nvSpPr>
          <p:cNvPr id="8" name="Shape 6"/>
          <p:cNvSpPr/>
          <p:nvPr/>
        </p:nvSpPr>
        <p:spPr>
          <a:xfrm>
            <a:off x="658368" y="1837944"/>
            <a:ext cx="3749040" cy="3319272"/>
          </a:xfrm>
          <a:prstGeom prst="roundRect">
            <a:avLst>
              <a:gd name="adj" fmla="val 4408"/>
            </a:avLst>
          </a:prstGeom>
          <a:solidFill>
            <a:srgbClr val="14243A"/>
          </a:solidFill>
          <a:ln w="8890">
            <a:solidFill>
              <a:srgbClr val="2A4158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9" name="Text 7"/>
          <p:cNvSpPr/>
          <p:nvPr/>
        </p:nvSpPr>
        <p:spPr>
          <a:xfrm>
            <a:off x="2103120" y="2150444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MX" sz="3200" noProof="0" dirty="0">
                <a:solidFill>
                  <a:schemeClr val="bg1"/>
                </a:solidFill>
              </a:rPr>
              <a:t>53</a:t>
            </a:r>
            <a:endParaRPr lang="es-MX" noProof="0" dirty="0">
              <a:solidFill>
                <a:schemeClr val="bg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1024128" y="3191256"/>
            <a:ext cx="2971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2200" b="1" noProof="0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registros Scopus</a:t>
            </a:r>
            <a:endParaRPr lang="es-MX" sz="2200" noProof="0" dirty="0"/>
          </a:p>
        </p:txBody>
      </p:sp>
      <p:sp>
        <p:nvSpPr>
          <p:cNvPr id="11" name="Text 9"/>
          <p:cNvSpPr/>
          <p:nvPr/>
        </p:nvSpPr>
        <p:spPr>
          <a:xfrm>
            <a:off x="905256" y="3941064"/>
            <a:ext cx="3273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1500" noProof="0" dirty="0">
                <a:solidFill>
                  <a:srgbClr val="B6C7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octubre 2026 · 2021–2026</a:t>
            </a:r>
            <a:endParaRPr lang="es-MX" sz="1500" noProof="0" dirty="0"/>
          </a:p>
        </p:txBody>
      </p:sp>
      <p:sp>
        <p:nvSpPr>
          <p:cNvPr id="12" name="Shape 10"/>
          <p:cNvSpPr/>
          <p:nvPr/>
        </p:nvSpPr>
        <p:spPr>
          <a:xfrm>
            <a:off x="4709160" y="1837944"/>
            <a:ext cx="6793992" cy="3319272"/>
          </a:xfrm>
          <a:prstGeom prst="roundRect">
            <a:avLst>
              <a:gd name="adj" fmla="val 4408"/>
            </a:avLst>
          </a:prstGeom>
          <a:solidFill>
            <a:srgbClr val="14243A"/>
          </a:solidFill>
          <a:ln w="8890">
            <a:solidFill>
              <a:srgbClr val="2A4158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13" name="Text 11"/>
          <p:cNvSpPr/>
          <p:nvPr/>
        </p:nvSpPr>
        <p:spPr>
          <a:xfrm>
            <a:off x="4974336" y="2075688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900" b="1" noProof="0" dirty="0">
                <a:solidFill>
                  <a:srgbClr val="FFC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 reproducible</a:t>
            </a:r>
            <a:endParaRPr lang="es-MX" sz="1900" noProof="0" dirty="0"/>
          </a:p>
        </p:txBody>
      </p:sp>
      <p:sp>
        <p:nvSpPr>
          <p:cNvPr id="14" name="Text 12"/>
          <p:cNvSpPr/>
          <p:nvPr/>
        </p:nvSpPr>
        <p:spPr>
          <a:xfrm>
            <a:off x="4992624" y="2660904"/>
            <a:ext cx="627278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600" noProof="0" dirty="0">
                <a:solidFill>
                  <a:srgbClr val="F4F7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TITLE-ABS-KEY(</a:t>
            </a:r>
            <a:endParaRPr lang="es-MX" sz="1600" noProof="0" dirty="0"/>
          </a:p>
          <a:p>
            <a:pPr marL="0" indent="0">
              <a:buNone/>
            </a:pPr>
            <a:r>
              <a:rPr lang="es-MX" sz="1600" noProof="0" dirty="0">
                <a:solidFill>
                  <a:srgbClr val="F4F7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("quantum </a:t>
            </a:r>
            <a:r>
              <a:rPr lang="es-MX" sz="1600" noProof="0" dirty="0" err="1">
                <a:solidFill>
                  <a:srgbClr val="F4F7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key</a:t>
            </a:r>
            <a:r>
              <a:rPr lang="es-MX" sz="1600" noProof="0" dirty="0">
                <a:solidFill>
                  <a:srgbClr val="F4F7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</a:t>
            </a:r>
            <a:r>
              <a:rPr lang="es-MX" sz="1600" noProof="0" dirty="0" err="1">
                <a:solidFill>
                  <a:srgbClr val="F4F7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distribution</a:t>
            </a:r>
            <a:r>
              <a:rPr lang="es-MX" sz="1600" noProof="0" dirty="0">
                <a:solidFill>
                  <a:srgbClr val="F4F7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" OR QKD)</a:t>
            </a:r>
            <a:endParaRPr lang="es-MX" sz="1600" noProof="0" dirty="0"/>
          </a:p>
          <a:p>
            <a:pPr marL="0" indent="0">
              <a:buNone/>
            </a:pPr>
            <a:r>
              <a:rPr lang="es-MX" sz="1600" noProof="0" dirty="0">
                <a:solidFill>
                  <a:srgbClr val="F4F7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AND ("</a:t>
            </a:r>
            <a:r>
              <a:rPr lang="es-MX" sz="1600" noProof="0" dirty="0" err="1">
                <a:solidFill>
                  <a:srgbClr val="F4F7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trojan</a:t>
            </a:r>
            <a:r>
              <a:rPr lang="es-MX" sz="1600" noProof="0" dirty="0">
                <a:solidFill>
                  <a:srgbClr val="F4F7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</a:t>
            </a:r>
            <a:r>
              <a:rPr lang="es-MX" sz="1600" noProof="0" dirty="0" err="1">
                <a:solidFill>
                  <a:srgbClr val="F4F7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horse</a:t>
            </a:r>
            <a:r>
              <a:rPr lang="es-MX" sz="1600" noProof="0" dirty="0">
                <a:solidFill>
                  <a:srgbClr val="F4F7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" OR "</a:t>
            </a:r>
            <a:r>
              <a:rPr lang="es-MX" sz="1600" noProof="0" dirty="0" err="1">
                <a:solidFill>
                  <a:srgbClr val="F4F7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trojan-horse</a:t>
            </a:r>
            <a:r>
              <a:rPr lang="es-MX" sz="1600" noProof="0" dirty="0">
                <a:solidFill>
                  <a:srgbClr val="F4F7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"</a:t>
            </a:r>
            <a:endParaRPr lang="es-MX" sz="1600" noProof="0" dirty="0"/>
          </a:p>
          <a:p>
            <a:pPr marL="0" indent="0">
              <a:buNone/>
            </a:pPr>
            <a:r>
              <a:rPr lang="es-MX" sz="1600" noProof="0" dirty="0">
                <a:solidFill>
                  <a:srgbClr val="F4F7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OR "light </a:t>
            </a:r>
            <a:r>
              <a:rPr lang="es-MX" sz="1600" noProof="0" dirty="0" err="1">
                <a:solidFill>
                  <a:srgbClr val="F4F7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injection</a:t>
            </a:r>
            <a:r>
              <a:rPr lang="es-MX" sz="1600" noProof="0" dirty="0">
                <a:solidFill>
                  <a:srgbClr val="F4F7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</a:t>
            </a:r>
            <a:r>
              <a:rPr lang="es-MX" sz="1600" noProof="0" dirty="0" err="1">
                <a:solidFill>
                  <a:srgbClr val="F4F7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attack</a:t>
            </a:r>
            <a:r>
              <a:rPr lang="es-MX" sz="1600" noProof="0" dirty="0">
                <a:solidFill>
                  <a:srgbClr val="F4F7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*")</a:t>
            </a:r>
            <a:endParaRPr lang="es-MX" sz="1600" noProof="0" dirty="0"/>
          </a:p>
          <a:p>
            <a:pPr marL="0" indent="0">
              <a:buNone/>
            </a:pPr>
            <a:r>
              <a:rPr lang="es-MX" sz="1600" noProof="0" dirty="0">
                <a:solidFill>
                  <a:srgbClr val="F4F7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)</a:t>
            </a:r>
            <a:endParaRPr lang="es-MX" sz="1600" noProof="0" dirty="0"/>
          </a:p>
          <a:p>
            <a:pPr marL="0" indent="0">
              <a:buNone/>
            </a:pPr>
            <a:r>
              <a:rPr lang="es-MX" sz="1600" noProof="0" dirty="0">
                <a:solidFill>
                  <a:srgbClr val="F4F7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AND PUBYEAR &gt; 2020</a:t>
            </a:r>
            <a:endParaRPr lang="es-MX" sz="1600" noProof="0" dirty="0"/>
          </a:p>
          <a:p>
            <a:pPr marL="0" indent="0">
              <a:buNone/>
            </a:pPr>
            <a:r>
              <a:rPr lang="es-MX" sz="1600" noProof="0" dirty="0">
                <a:solidFill>
                  <a:srgbClr val="F4F7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AND PUBYEAR &lt; 2027</a:t>
            </a:r>
            <a:endParaRPr lang="es-MX" sz="1600" noProof="0" dirty="0"/>
          </a:p>
        </p:txBody>
      </p:sp>
      <p:sp>
        <p:nvSpPr>
          <p:cNvPr id="15" name="Text 13"/>
          <p:cNvSpPr/>
          <p:nvPr/>
        </p:nvSpPr>
        <p:spPr>
          <a:xfrm>
            <a:off x="713232" y="5541264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700" noProof="0" dirty="0">
                <a:solidFill>
                  <a:srgbClr val="B6C7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Siguiente fase: ampliar búsqueda y documentar resultados de otras bases.</a:t>
            </a:r>
            <a:endParaRPr lang="es-MX" sz="1700" noProof="0" dirty="0"/>
          </a:p>
        </p:txBody>
      </p:sp>
      <p:sp>
        <p:nvSpPr>
          <p:cNvPr id="16" name="Rectangle 22">
            <a:extLst>
              <a:ext uri="{FF2B5EF4-FFF2-40B4-BE49-F238E27FC236}">
                <a16:creationId xmlns:a16="http://schemas.microsoft.com/office/drawing/2014/main" id="{B728EFAB-9824-CCFB-6620-4620BA0F258C}"/>
              </a:ext>
            </a:extLst>
          </p:cNvPr>
          <p:cNvSpPr/>
          <p:nvPr/>
        </p:nvSpPr>
        <p:spPr>
          <a:xfrm>
            <a:off x="646817" y="6407736"/>
            <a:ext cx="10927080" cy="13716"/>
          </a:xfrm>
          <a:prstGeom prst="rect">
            <a:avLst/>
          </a:prstGeom>
          <a:solidFill>
            <a:srgbClr val="3A4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TextBox 24">
            <a:extLst>
              <a:ext uri="{FF2B5EF4-FFF2-40B4-BE49-F238E27FC236}">
                <a16:creationId xmlns:a16="http://schemas.microsoft.com/office/drawing/2014/main" id="{E922031F-B556-3D90-ABD5-4B0793FA32F4}"/>
              </a:ext>
            </a:extLst>
          </p:cNvPr>
          <p:cNvSpPr txBox="1"/>
          <p:nvPr/>
        </p:nvSpPr>
        <p:spPr>
          <a:xfrm>
            <a:off x="10522337" y="6508320"/>
            <a:ext cx="914400" cy="218521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1000" b="0">
                <a:solidFill>
                  <a:srgbClr val="A3B5CB"/>
                </a:solidFill>
                <a:latin typeface="Aptos"/>
              </a:defRPr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12</a:t>
            </a: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/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25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0" name="Rectangle 45">
            <a:extLst>
              <a:ext uri="{FF2B5EF4-FFF2-40B4-BE49-F238E27FC236}">
                <a16:creationId xmlns:a16="http://schemas.microsoft.com/office/drawing/2014/main" id="{FC4029E5-D793-0223-2FCA-6D01C1AB6209}"/>
              </a:ext>
            </a:extLst>
          </p:cNvPr>
          <p:cNvSpPr/>
          <p:nvPr/>
        </p:nvSpPr>
        <p:spPr>
          <a:xfrm>
            <a:off x="362243" y="268664"/>
            <a:ext cx="100584" cy="365760"/>
          </a:xfrm>
          <a:prstGeom prst="rect">
            <a:avLst/>
          </a:prstGeom>
          <a:solidFill>
            <a:srgbClr val="2AC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TextBox 47">
            <a:extLst>
              <a:ext uri="{FF2B5EF4-FFF2-40B4-BE49-F238E27FC236}">
                <a16:creationId xmlns:a16="http://schemas.microsoft.com/office/drawing/2014/main" id="{ADC0C026-32F6-5CFC-1AD0-39ABC16F9F46}"/>
              </a:ext>
            </a:extLst>
          </p:cNvPr>
          <p:cNvSpPr txBox="1"/>
          <p:nvPr/>
        </p:nvSpPr>
        <p:spPr>
          <a:xfrm>
            <a:off x="502920" y="291654"/>
            <a:ext cx="9144000" cy="310854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1100" b="1">
                <a:solidFill>
                  <a:srgbClr val="2ACED8"/>
                </a:solidFill>
                <a:latin typeface="Aptos"/>
              </a:defRPr>
            </a:pPr>
            <a:r>
              <a:rPr kumimoji="0" lang="es-MX" sz="1600" b="1" i="0" u="none" strike="noStrike" kern="1200" cap="none" spc="0" normalizeH="0" baseline="0" noProof="0" dirty="0">
                <a:ln>
                  <a:noFill/>
                </a:ln>
                <a:solidFill>
                  <a:srgbClr val="2ACED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srgbClr val="2ACED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DISEÑO METODOLÓGICO DE LA INVESTIGACIÓN</a:t>
            </a:r>
            <a:endParaRPr kumimoji="0" lang="es-MX" sz="1600" b="1" i="0" u="none" strike="noStrike" kern="1200" cap="none" spc="0" normalizeH="0" baseline="0" noProof="0" dirty="0">
              <a:ln>
                <a:noFill/>
              </a:ln>
              <a:solidFill>
                <a:srgbClr val="2ACED8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F902FA-066D-EC0C-0116-9ABCDB3CC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>
            <a:extLst>
              <a:ext uri="{FF2B5EF4-FFF2-40B4-BE49-F238E27FC236}">
                <a16:creationId xmlns:a16="http://schemas.microsoft.com/office/drawing/2014/main" id="{33DB19DE-B342-6E4F-1C46-ADC231C1E205}"/>
              </a:ext>
            </a:extLst>
          </p:cNvPr>
          <p:cNvSpPr/>
          <p:nvPr/>
        </p:nvSpPr>
        <p:spPr>
          <a:xfrm>
            <a:off x="502920" y="1490472"/>
            <a:ext cx="11109960" cy="0"/>
          </a:xfrm>
          <a:prstGeom prst="line">
            <a:avLst/>
          </a:prstGeom>
          <a:noFill/>
          <a:ln w="12700">
            <a:solidFill>
              <a:srgbClr val="2A4158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F220A93-BC94-8D25-E178-7C9A28BF536A}"/>
              </a:ext>
            </a:extLst>
          </p:cNvPr>
          <p:cNvGrpSpPr/>
          <p:nvPr/>
        </p:nvGrpSpPr>
        <p:grpSpPr>
          <a:xfrm>
            <a:off x="498428" y="1732549"/>
            <a:ext cx="4361271" cy="4153979"/>
            <a:chOff x="731519" y="4361045"/>
            <a:chExt cx="10720297" cy="1728857"/>
          </a:xfrm>
        </p:grpSpPr>
        <p:sp>
          <p:nvSpPr>
            <p:cNvPr id="32" name="Shape 12">
              <a:extLst>
                <a:ext uri="{FF2B5EF4-FFF2-40B4-BE49-F238E27FC236}">
                  <a16:creationId xmlns:a16="http://schemas.microsoft.com/office/drawing/2014/main" id="{0501E655-1BB9-9C90-95E1-F118FEC5D054}"/>
                </a:ext>
              </a:extLst>
            </p:cNvPr>
            <p:cNvSpPr/>
            <p:nvPr/>
          </p:nvSpPr>
          <p:spPr>
            <a:xfrm>
              <a:off x="731519" y="4361045"/>
              <a:ext cx="10720297" cy="1728857"/>
            </a:xfrm>
            <a:prstGeom prst="roundRect">
              <a:avLst>
                <a:gd name="adj" fmla="val 21622"/>
              </a:avLst>
            </a:prstGeom>
            <a:solidFill>
              <a:srgbClr val="14243A"/>
            </a:solidFill>
            <a:ln w="8890">
              <a:solidFill>
                <a:srgbClr val="2A4158"/>
              </a:solidFill>
              <a:prstDash val="solid"/>
            </a:ln>
          </p:spPr>
          <p:txBody>
            <a:bodyPr/>
            <a:lstStyle/>
            <a:p>
              <a:endParaRPr lang="es-MX" noProof="0" dirty="0"/>
            </a:p>
          </p:txBody>
        </p:sp>
        <p:sp>
          <p:nvSpPr>
            <p:cNvPr id="33" name="Text 13">
              <a:extLst>
                <a:ext uri="{FF2B5EF4-FFF2-40B4-BE49-F238E27FC236}">
                  <a16:creationId xmlns:a16="http://schemas.microsoft.com/office/drawing/2014/main" id="{4535ABC0-83A1-8BC4-C55E-E81DFE18BF1F}"/>
                </a:ext>
              </a:extLst>
            </p:cNvPr>
            <p:cNvSpPr/>
            <p:nvPr/>
          </p:nvSpPr>
          <p:spPr>
            <a:xfrm>
              <a:off x="1616310" y="4465654"/>
              <a:ext cx="9540575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s-MX" sz="1800" b="1" noProof="0" dirty="0">
                  <a:solidFill>
                    <a:srgbClr val="53D4D0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Fase 3. Selección de estudios mediante PRISMA</a:t>
              </a:r>
              <a:endParaRPr lang="es-MX" sz="1800" noProof="0" dirty="0"/>
            </a:p>
          </p:txBody>
        </p:sp>
        <p:sp>
          <p:nvSpPr>
            <p:cNvPr id="34" name="Text 14">
              <a:extLst>
                <a:ext uri="{FF2B5EF4-FFF2-40B4-BE49-F238E27FC236}">
                  <a16:creationId xmlns:a16="http://schemas.microsoft.com/office/drawing/2014/main" id="{ADD31E61-7650-29BB-48FD-3A7021DCC371}"/>
                </a:ext>
              </a:extLst>
            </p:cNvPr>
            <p:cNvSpPr/>
            <p:nvPr/>
          </p:nvSpPr>
          <p:spPr>
            <a:xfrm>
              <a:off x="1321379" y="4737797"/>
              <a:ext cx="9540575" cy="10881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s-MX" sz="1700" noProof="0" dirty="0">
                  <a:solidFill>
                    <a:srgbClr val="F4F7FC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Eliminación de duplicados mediante Zotero.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s-MX" sz="1700" noProof="0" dirty="0">
                  <a:solidFill>
                    <a:srgbClr val="F4F7FC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Cribado de títulos y resúmenes.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s-MX" sz="1700" noProof="0" dirty="0">
                  <a:solidFill>
                    <a:srgbClr val="F4F7FC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Evaluación del texto completo.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s-MX" sz="1700" noProof="0" dirty="0">
                  <a:solidFill>
                    <a:srgbClr val="F4F7FC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Criterios de inclusión y exclusión.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s-MX" sz="1700" noProof="0" dirty="0">
                  <a:solidFill>
                    <a:srgbClr val="F4F7FC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Diagrama de flujo PRISMA 2020.</a:t>
              </a:r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2DADDE9E-BDEE-A281-42AD-AD21262492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5101" y="1732549"/>
            <a:ext cx="4361271" cy="4206175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D0C6F3D3-8A03-F996-FE21-6BD178BF08C1}"/>
              </a:ext>
            </a:extLst>
          </p:cNvPr>
          <p:cNvGrpSpPr/>
          <p:nvPr/>
        </p:nvGrpSpPr>
        <p:grpSpPr>
          <a:xfrm>
            <a:off x="646817" y="6407736"/>
            <a:ext cx="10927080" cy="329184"/>
            <a:chOff x="646817" y="6407736"/>
            <a:chExt cx="10927080" cy="329184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D87B805-8653-58EF-D363-094591EEA1DB}"/>
                </a:ext>
              </a:extLst>
            </p:cNvPr>
            <p:cNvSpPr/>
            <p:nvPr/>
          </p:nvSpPr>
          <p:spPr>
            <a:xfrm>
              <a:off x="646817" y="6407736"/>
              <a:ext cx="10927080" cy="13716"/>
            </a:xfrm>
            <a:prstGeom prst="rect">
              <a:avLst/>
            </a:prstGeom>
            <a:solidFill>
              <a:srgbClr val="3A4D6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8BF37FD-0596-8219-E561-469B74331F64}"/>
                </a:ext>
              </a:extLst>
            </p:cNvPr>
            <p:cNvSpPr txBox="1"/>
            <p:nvPr/>
          </p:nvSpPr>
          <p:spPr>
            <a:xfrm>
              <a:off x="665105" y="6517464"/>
              <a:ext cx="7232744" cy="219456"/>
            </a:xfrm>
            <a:prstGeom prst="rect">
              <a:avLst/>
            </a:prstGeom>
            <a:noFill/>
          </p:spPr>
          <p:txBody>
            <a:bodyPr wrap="square" lIns="27432" tIns="18288" rIns="27432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 sz="1000" b="0">
                  <a:solidFill>
                    <a:srgbClr val="A3B5CB"/>
                  </a:solidFill>
                  <a:latin typeface="Aptos"/>
                </a:defRPr>
              </a:pPr>
              <a:r>
                <a: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USAL  ·  </a:t>
              </a:r>
              <a:r>
                <a:rPr kumimoji="0" sz="10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Investigación</a:t>
              </a:r>
              <a:r>
                <a: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 </a:t>
              </a:r>
              <a:r>
                <a:rPr kumimoji="0" sz="10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en</a:t>
              </a:r>
              <a:r>
                <a: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 </a:t>
              </a:r>
              <a:r>
                <a:rPr kumimoji="0" sz="10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Ciberseguridad</a:t>
              </a:r>
              <a:r>
                <a: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  ·  2026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DF8B351-5213-1D3A-CFC7-05B0D8559CAD}"/>
                </a:ext>
              </a:extLst>
            </p:cNvPr>
            <p:cNvSpPr txBox="1"/>
            <p:nvPr/>
          </p:nvSpPr>
          <p:spPr>
            <a:xfrm>
              <a:off x="10522337" y="6508320"/>
              <a:ext cx="914400" cy="218521"/>
            </a:xfrm>
            <a:prstGeom prst="rect">
              <a:avLst/>
            </a:prstGeom>
            <a:noFill/>
          </p:spPr>
          <p:txBody>
            <a:bodyPr wrap="square" lIns="27432" tIns="18288" rIns="27432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 sz="1000" b="0">
                  <a:solidFill>
                    <a:srgbClr val="A3B5CB"/>
                  </a:solidFill>
                  <a:latin typeface="Aptos"/>
                </a:defRPr>
              </a:pPr>
              <a:r>
                <a:rPr lang="en-US" sz="1000" dirty="0">
                  <a:solidFill>
                    <a:schemeClr val="bg1"/>
                  </a:solidFill>
                  <a:latin typeface="Aptos"/>
                </a:rPr>
                <a:t>13</a:t>
              </a:r>
              <a:r>
                <a: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/ </a:t>
              </a: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25</a:t>
              </a:r>
              <a:endParaRPr kumimoji="0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</p:grpSp>
      <p:sp>
        <p:nvSpPr>
          <p:cNvPr id="20" name="Text 2">
            <a:extLst>
              <a:ext uri="{FF2B5EF4-FFF2-40B4-BE49-F238E27FC236}">
                <a16:creationId xmlns:a16="http://schemas.microsoft.com/office/drawing/2014/main" id="{743AD5DC-4980-0A5B-BDCC-70BAED7133EE}"/>
              </a:ext>
            </a:extLst>
          </p:cNvPr>
          <p:cNvSpPr/>
          <p:nvPr/>
        </p:nvSpPr>
        <p:spPr>
          <a:xfrm>
            <a:off x="502920" y="768096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MX" sz="2900" b="1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Fases de la metodología de la investigación</a:t>
            </a:r>
            <a:endParaRPr lang="es-MX" sz="2900" noProof="0" dirty="0"/>
          </a:p>
        </p:txBody>
      </p:sp>
      <p:sp>
        <p:nvSpPr>
          <p:cNvPr id="15" name="Rectangle 45">
            <a:extLst>
              <a:ext uri="{FF2B5EF4-FFF2-40B4-BE49-F238E27FC236}">
                <a16:creationId xmlns:a16="http://schemas.microsoft.com/office/drawing/2014/main" id="{F7940C56-7FB6-CF0C-8A75-A621E1A9B32A}"/>
              </a:ext>
            </a:extLst>
          </p:cNvPr>
          <p:cNvSpPr/>
          <p:nvPr/>
        </p:nvSpPr>
        <p:spPr>
          <a:xfrm>
            <a:off x="362243" y="268664"/>
            <a:ext cx="100584" cy="365760"/>
          </a:xfrm>
          <a:prstGeom prst="rect">
            <a:avLst/>
          </a:prstGeom>
          <a:solidFill>
            <a:srgbClr val="2AC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TextBox 47">
            <a:extLst>
              <a:ext uri="{FF2B5EF4-FFF2-40B4-BE49-F238E27FC236}">
                <a16:creationId xmlns:a16="http://schemas.microsoft.com/office/drawing/2014/main" id="{7D05E0BB-83D9-7EC1-2253-576B1F63B828}"/>
              </a:ext>
            </a:extLst>
          </p:cNvPr>
          <p:cNvSpPr txBox="1"/>
          <p:nvPr/>
        </p:nvSpPr>
        <p:spPr>
          <a:xfrm>
            <a:off x="502920" y="291654"/>
            <a:ext cx="9144000" cy="310854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1100" b="1">
                <a:solidFill>
                  <a:srgbClr val="2ACED8"/>
                </a:solidFill>
                <a:latin typeface="Aptos"/>
              </a:defRPr>
            </a:pPr>
            <a:r>
              <a:rPr kumimoji="0" lang="es-MX" sz="1600" b="1" i="0" u="none" strike="noStrike" kern="1200" cap="none" spc="0" normalizeH="0" baseline="0" noProof="0" dirty="0">
                <a:ln>
                  <a:noFill/>
                </a:ln>
                <a:solidFill>
                  <a:srgbClr val="2ACED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srgbClr val="2ACED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DISEÑO METODOLÓGICO DE LA INVESTIGACIÓN</a:t>
            </a:r>
            <a:endParaRPr kumimoji="0" lang="es-MX" sz="1600" b="1" i="0" u="none" strike="noStrike" kern="1200" cap="none" spc="0" normalizeH="0" baseline="0" noProof="0" dirty="0">
              <a:ln>
                <a:noFill/>
              </a:ln>
              <a:solidFill>
                <a:srgbClr val="2ACED8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15231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DEFC14-B977-041C-05FA-278684A72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>
            <a:extLst>
              <a:ext uri="{FF2B5EF4-FFF2-40B4-BE49-F238E27FC236}">
                <a16:creationId xmlns:a16="http://schemas.microsoft.com/office/drawing/2014/main" id="{092CCFA2-9020-4102-CF28-E6CA2490C5A2}"/>
              </a:ext>
            </a:extLst>
          </p:cNvPr>
          <p:cNvSpPr/>
          <p:nvPr/>
        </p:nvSpPr>
        <p:spPr>
          <a:xfrm>
            <a:off x="502920" y="1490472"/>
            <a:ext cx="11109960" cy="0"/>
          </a:xfrm>
          <a:prstGeom prst="line">
            <a:avLst/>
          </a:prstGeom>
          <a:noFill/>
          <a:ln w="12700">
            <a:solidFill>
              <a:srgbClr val="2A4158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176BB6D7-7DD2-36D4-6B9A-583ABFC2582B}"/>
              </a:ext>
            </a:extLst>
          </p:cNvPr>
          <p:cNvGrpSpPr/>
          <p:nvPr/>
        </p:nvGrpSpPr>
        <p:grpSpPr>
          <a:xfrm>
            <a:off x="386165" y="1735030"/>
            <a:ext cx="10860992" cy="3900874"/>
            <a:chOff x="676014" y="4338149"/>
            <a:chExt cx="5163312" cy="1728857"/>
          </a:xfrm>
        </p:grpSpPr>
        <p:sp>
          <p:nvSpPr>
            <p:cNvPr id="36" name="Shape 12">
              <a:extLst>
                <a:ext uri="{FF2B5EF4-FFF2-40B4-BE49-F238E27FC236}">
                  <a16:creationId xmlns:a16="http://schemas.microsoft.com/office/drawing/2014/main" id="{85A13995-2907-5DA7-7C54-F41F124DC9D6}"/>
                </a:ext>
              </a:extLst>
            </p:cNvPr>
            <p:cNvSpPr/>
            <p:nvPr/>
          </p:nvSpPr>
          <p:spPr>
            <a:xfrm>
              <a:off x="676014" y="4338149"/>
              <a:ext cx="5163312" cy="1728857"/>
            </a:xfrm>
            <a:prstGeom prst="roundRect">
              <a:avLst>
                <a:gd name="adj" fmla="val 21622"/>
              </a:avLst>
            </a:prstGeom>
            <a:solidFill>
              <a:srgbClr val="14243A"/>
            </a:solidFill>
            <a:ln w="8890">
              <a:solidFill>
                <a:srgbClr val="2A4158"/>
              </a:solidFill>
              <a:prstDash val="solid"/>
            </a:ln>
          </p:spPr>
          <p:txBody>
            <a:bodyPr/>
            <a:lstStyle/>
            <a:p>
              <a:endParaRPr lang="es-MX" noProof="0" dirty="0"/>
            </a:p>
          </p:txBody>
        </p:sp>
        <p:sp>
          <p:nvSpPr>
            <p:cNvPr id="37" name="Text 13">
              <a:extLst>
                <a:ext uri="{FF2B5EF4-FFF2-40B4-BE49-F238E27FC236}">
                  <a16:creationId xmlns:a16="http://schemas.microsoft.com/office/drawing/2014/main" id="{C0F063F9-54FD-66F1-9202-2767107901FE}"/>
                </a:ext>
              </a:extLst>
            </p:cNvPr>
            <p:cNvSpPr/>
            <p:nvPr/>
          </p:nvSpPr>
          <p:spPr>
            <a:xfrm>
              <a:off x="1125193" y="4468119"/>
              <a:ext cx="3088928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s-MX" b="1" dirty="0">
                  <a:solidFill>
                    <a:srgbClr val="53D4D0"/>
                  </a:solidFill>
                  <a:latin typeface="Aptos" pitchFamily="34" charset="0"/>
                </a:rPr>
                <a:t>Fase 4. Extracción y análisis de datos</a:t>
              </a:r>
              <a:endParaRPr lang="es-MX" dirty="0"/>
            </a:p>
          </p:txBody>
        </p:sp>
        <p:sp>
          <p:nvSpPr>
            <p:cNvPr id="38" name="Text 14">
              <a:extLst>
                <a:ext uri="{FF2B5EF4-FFF2-40B4-BE49-F238E27FC236}">
                  <a16:creationId xmlns:a16="http://schemas.microsoft.com/office/drawing/2014/main" id="{FD02D2EA-99FA-445A-D20C-8E7952C61D11}"/>
                </a:ext>
              </a:extLst>
            </p:cNvPr>
            <p:cNvSpPr/>
            <p:nvPr/>
          </p:nvSpPr>
          <p:spPr>
            <a:xfrm>
              <a:off x="1125193" y="4727731"/>
              <a:ext cx="4264954" cy="115927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s-MX" noProof="0" dirty="0">
                  <a:solidFill>
                    <a:srgbClr val="F4F7FC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Longitud de onda y potencia óptica inyectada.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s-MX" noProof="0" dirty="0">
                  <a:solidFill>
                    <a:srgbClr val="F4F7FC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Atenuación óptica en dB.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s-MX" noProof="0" dirty="0">
                  <a:solidFill>
                    <a:srgbClr val="F4F7FC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Tipo de componente y protección utilizada.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s-MX" noProof="0" dirty="0">
                  <a:solidFill>
                    <a:srgbClr val="F4F7FC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Señales reflejadas y umbrales de detección.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s-MX" noProof="0" dirty="0">
                  <a:solidFill>
                    <a:srgbClr val="F4F7FC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Tasa de clave secreta y posibles fugas de información, cuando estén documentadas.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3B9C466-4F45-FF5F-DA0B-DF2FCB93A610}"/>
              </a:ext>
            </a:extLst>
          </p:cNvPr>
          <p:cNvGrpSpPr/>
          <p:nvPr/>
        </p:nvGrpSpPr>
        <p:grpSpPr>
          <a:xfrm>
            <a:off x="646817" y="6407736"/>
            <a:ext cx="10927080" cy="329184"/>
            <a:chOff x="646817" y="6407736"/>
            <a:chExt cx="10927080" cy="329184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6D6D34A-0A5D-C5C1-4D4F-B91E334B2C3F}"/>
                </a:ext>
              </a:extLst>
            </p:cNvPr>
            <p:cNvSpPr/>
            <p:nvPr/>
          </p:nvSpPr>
          <p:spPr>
            <a:xfrm>
              <a:off x="646817" y="6407736"/>
              <a:ext cx="10927080" cy="13716"/>
            </a:xfrm>
            <a:prstGeom prst="rect">
              <a:avLst/>
            </a:prstGeom>
            <a:solidFill>
              <a:srgbClr val="3A4D6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19F86B4-670D-D326-4E7F-F79727E751F5}"/>
                </a:ext>
              </a:extLst>
            </p:cNvPr>
            <p:cNvSpPr txBox="1"/>
            <p:nvPr/>
          </p:nvSpPr>
          <p:spPr>
            <a:xfrm>
              <a:off x="665105" y="6517464"/>
              <a:ext cx="7232744" cy="219456"/>
            </a:xfrm>
            <a:prstGeom prst="rect">
              <a:avLst/>
            </a:prstGeom>
            <a:noFill/>
          </p:spPr>
          <p:txBody>
            <a:bodyPr wrap="square" lIns="27432" tIns="18288" rIns="27432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 sz="1000" b="0">
                  <a:solidFill>
                    <a:srgbClr val="A3B5CB"/>
                  </a:solidFill>
                  <a:latin typeface="Aptos"/>
                </a:defRPr>
              </a:pPr>
              <a:r>
                <a: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USAL  ·  </a:t>
              </a:r>
              <a:r>
                <a:rPr kumimoji="0" sz="10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Investigación</a:t>
              </a:r>
              <a:r>
                <a: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 </a:t>
              </a:r>
              <a:r>
                <a:rPr kumimoji="0" sz="10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en</a:t>
              </a:r>
              <a:r>
                <a: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 </a:t>
              </a:r>
              <a:r>
                <a:rPr kumimoji="0" sz="10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Ciberseguridad</a:t>
              </a:r>
              <a:r>
                <a: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  ·  2026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68CC433-3F81-2F2F-7DBC-7AD7C307049E}"/>
                </a:ext>
              </a:extLst>
            </p:cNvPr>
            <p:cNvSpPr txBox="1"/>
            <p:nvPr/>
          </p:nvSpPr>
          <p:spPr>
            <a:xfrm>
              <a:off x="10522337" y="6508320"/>
              <a:ext cx="914400" cy="218521"/>
            </a:xfrm>
            <a:prstGeom prst="rect">
              <a:avLst/>
            </a:prstGeom>
            <a:noFill/>
          </p:spPr>
          <p:txBody>
            <a:bodyPr wrap="square" lIns="27432" tIns="18288" rIns="27432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 sz="1000" b="0">
                  <a:solidFill>
                    <a:srgbClr val="A3B5CB"/>
                  </a:solidFill>
                  <a:latin typeface="Aptos"/>
                </a:defRPr>
              </a:pPr>
              <a:r>
                <a:rPr lang="en-US" sz="1000" dirty="0">
                  <a:solidFill>
                    <a:schemeClr val="bg1"/>
                  </a:solidFill>
                  <a:latin typeface="Aptos"/>
                </a:rPr>
                <a:t>14</a:t>
              </a:r>
              <a:r>
                <a: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 / </a:t>
              </a: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25</a:t>
              </a:r>
              <a:endParaRPr kumimoji="0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</p:grpSp>
      <p:sp>
        <p:nvSpPr>
          <p:cNvPr id="24" name="Text 2">
            <a:extLst>
              <a:ext uri="{FF2B5EF4-FFF2-40B4-BE49-F238E27FC236}">
                <a16:creationId xmlns:a16="http://schemas.microsoft.com/office/drawing/2014/main" id="{654D2755-F38F-50E4-CE68-D6B28EB7D7FC}"/>
              </a:ext>
            </a:extLst>
          </p:cNvPr>
          <p:cNvSpPr/>
          <p:nvPr/>
        </p:nvSpPr>
        <p:spPr>
          <a:xfrm>
            <a:off x="502920" y="768096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MX" sz="2900" b="1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Fases de la metodología de la investigación</a:t>
            </a:r>
            <a:endParaRPr lang="es-MX" sz="2900" noProof="0" dirty="0"/>
          </a:p>
        </p:txBody>
      </p:sp>
      <p:sp>
        <p:nvSpPr>
          <p:cNvPr id="14" name="Rectangle 45">
            <a:extLst>
              <a:ext uri="{FF2B5EF4-FFF2-40B4-BE49-F238E27FC236}">
                <a16:creationId xmlns:a16="http://schemas.microsoft.com/office/drawing/2014/main" id="{AA715DA0-FBF0-4B34-6653-6DC5A7F9AC55}"/>
              </a:ext>
            </a:extLst>
          </p:cNvPr>
          <p:cNvSpPr/>
          <p:nvPr/>
        </p:nvSpPr>
        <p:spPr>
          <a:xfrm>
            <a:off x="362243" y="268664"/>
            <a:ext cx="100584" cy="365760"/>
          </a:xfrm>
          <a:prstGeom prst="rect">
            <a:avLst/>
          </a:prstGeom>
          <a:solidFill>
            <a:srgbClr val="2AC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TextBox 47">
            <a:extLst>
              <a:ext uri="{FF2B5EF4-FFF2-40B4-BE49-F238E27FC236}">
                <a16:creationId xmlns:a16="http://schemas.microsoft.com/office/drawing/2014/main" id="{635A204E-F1AB-73DE-B7B2-3BC59015B0B7}"/>
              </a:ext>
            </a:extLst>
          </p:cNvPr>
          <p:cNvSpPr txBox="1"/>
          <p:nvPr/>
        </p:nvSpPr>
        <p:spPr>
          <a:xfrm>
            <a:off x="502920" y="291654"/>
            <a:ext cx="9144000" cy="310854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1100" b="1">
                <a:solidFill>
                  <a:srgbClr val="2ACED8"/>
                </a:solidFill>
                <a:latin typeface="Aptos"/>
              </a:defRPr>
            </a:pPr>
            <a:r>
              <a:rPr kumimoji="0" lang="es-MX" sz="1600" b="1" i="0" u="none" strike="noStrike" kern="1200" cap="none" spc="0" normalizeH="0" baseline="0" noProof="0" dirty="0">
                <a:ln>
                  <a:noFill/>
                </a:ln>
                <a:solidFill>
                  <a:srgbClr val="2ACED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srgbClr val="2ACED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DISEÑO METODOLÓGICO DE LA INVESTIGACIÓN</a:t>
            </a:r>
            <a:endParaRPr kumimoji="0" lang="es-MX" sz="1600" b="1" i="0" u="none" strike="noStrike" kern="1200" cap="none" spc="0" normalizeH="0" baseline="0" noProof="0" dirty="0">
              <a:ln>
                <a:noFill/>
              </a:ln>
              <a:solidFill>
                <a:srgbClr val="2ACED8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39148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B894CB-BC14-D049-20FD-7D9D7C41E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>
            <a:extLst>
              <a:ext uri="{FF2B5EF4-FFF2-40B4-BE49-F238E27FC236}">
                <a16:creationId xmlns:a16="http://schemas.microsoft.com/office/drawing/2014/main" id="{9321D4B1-D910-F72E-72FE-F7887ADF71C7}"/>
              </a:ext>
            </a:extLst>
          </p:cNvPr>
          <p:cNvSpPr/>
          <p:nvPr/>
        </p:nvSpPr>
        <p:spPr>
          <a:xfrm>
            <a:off x="502920" y="1490472"/>
            <a:ext cx="11109960" cy="0"/>
          </a:xfrm>
          <a:prstGeom prst="line">
            <a:avLst/>
          </a:prstGeom>
          <a:noFill/>
          <a:ln w="12700">
            <a:solidFill>
              <a:srgbClr val="2A4158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073E25F-00E1-48E5-5844-402724F9037F}"/>
              </a:ext>
            </a:extLst>
          </p:cNvPr>
          <p:cNvGrpSpPr/>
          <p:nvPr/>
        </p:nvGrpSpPr>
        <p:grpSpPr>
          <a:xfrm>
            <a:off x="548640" y="1886592"/>
            <a:ext cx="11109960" cy="3881946"/>
            <a:chOff x="-1983074" y="4393720"/>
            <a:chExt cx="8342131" cy="1728857"/>
          </a:xfrm>
        </p:grpSpPr>
        <p:sp>
          <p:nvSpPr>
            <p:cNvPr id="14" name="Shape 12">
              <a:extLst>
                <a:ext uri="{FF2B5EF4-FFF2-40B4-BE49-F238E27FC236}">
                  <a16:creationId xmlns:a16="http://schemas.microsoft.com/office/drawing/2014/main" id="{647D6290-E0FB-61F5-7618-FC7ED419484E}"/>
                </a:ext>
              </a:extLst>
            </p:cNvPr>
            <p:cNvSpPr/>
            <p:nvPr/>
          </p:nvSpPr>
          <p:spPr>
            <a:xfrm>
              <a:off x="-1983074" y="4393720"/>
              <a:ext cx="8342131" cy="1728857"/>
            </a:xfrm>
            <a:prstGeom prst="roundRect">
              <a:avLst>
                <a:gd name="adj" fmla="val 21622"/>
              </a:avLst>
            </a:prstGeom>
            <a:solidFill>
              <a:srgbClr val="14243A"/>
            </a:solidFill>
            <a:ln w="8890">
              <a:solidFill>
                <a:srgbClr val="2A4158"/>
              </a:solidFill>
              <a:prstDash val="solid"/>
            </a:ln>
          </p:spPr>
          <p:txBody>
            <a:bodyPr/>
            <a:lstStyle/>
            <a:p>
              <a:endParaRPr lang="es-MX" noProof="0" dirty="0"/>
            </a:p>
          </p:txBody>
        </p:sp>
        <p:sp>
          <p:nvSpPr>
            <p:cNvPr id="15" name="Text 13">
              <a:extLst>
                <a:ext uri="{FF2B5EF4-FFF2-40B4-BE49-F238E27FC236}">
                  <a16:creationId xmlns:a16="http://schemas.microsoft.com/office/drawing/2014/main" id="{311EFB21-5D5B-C7FC-DDF1-C8D7C2B6EE1B}"/>
                </a:ext>
              </a:extLst>
            </p:cNvPr>
            <p:cNvSpPr/>
            <p:nvPr/>
          </p:nvSpPr>
          <p:spPr>
            <a:xfrm>
              <a:off x="-1532263" y="4506658"/>
              <a:ext cx="5163312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s-MX" b="1" dirty="0">
                  <a:solidFill>
                    <a:srgbClr val="53D4D0"/>
                  </a:solidFill>
                  <a:latin typeface="Aptos" pitchFamily="34" charset="0"/>
                </a:rPr>
                <a:t>Fase 5. Diseño del caso de estudio</a:t>
              </a:r>
              <a:endParaRPr lang="es-MX" dirty="0"/>
            </a:p>
          </p:txBody>
        </p:sp>
        <p:sp>
          <p:nvSpPr>
            <p:cNvPr id="16" name="Text 14">
              <a:extLst>
                <a:ext uri="{FF2B5EF4-FFF2-40B4-BE49-F238E27FC236}">
                  <a16:creationId xmlns:a16="http://schemas.microsoft.com/office/drawing/2014/main" id="{793D680B-FB8C-2846-A8B8-03B4761B4970}"/>
                </a:ext>
              </a:extLst>
            </p:cNvPr>
            <p:cNvSpPr/>
            <p:nvPr/>
          </p:nvSpPr>
          <p:spPr>
            <a:xfrm>
              <a:off x="-1532263" y="4787750"/>
              <a:ext cx="7614834" cy="10881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s-MX" sz="1700" noProof="0" dirty="0">
                  <a:solidFill>
                    <a:srgbClr val="F4F7FC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Escenario A: arquitectura QKD de referencia.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s-MX" sz="1700" noProof="0" dirty="0">
                  <a:solidFill>
                    <a:srgbClr val="F4F7FC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Escenario B: aislamiento convencional mediante aisladores o circuladores.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s-MX" sz="1700" noProof="0" dirty="0">
                  <a:solidFill>
                    <a:srgbClr val="F4F7FC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Escenario C: protecciones adicionales o reforzadas.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s-MX" sz="1700" noProof="0" dirty="0">
                  <a:solidFill>
                    <a:srgbClr val="F4F7FC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Comparación bajo condiciones ópticas documentadas y compatibles.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6B863E1D-13EE-2218-3D1F-F1B31C868599}"/>
              </a:ext>
            </a:extLst>
          </p:cNvPr>
          <p:cNvGrpSpPr/>
          <p:nvPr/>
        </p:nvGrpSpPr>
        <p:grpSpPr>
          <a:xfrm>
            <a:off x="646817" y="6407736"/>
            <a:ext cx="10927080" cy="329184"/>
            <a:chOff x="646817" y="6407736"/>
            <a:chExt cx="10927080" cy="329184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A70EA11-5E65-C004-EEB9-BF1C5215399F}"/>
                </a:ext>
              </a:extLst>
            </p:cNvPr>
            <p:cNvSpPr/>
            <p:nvPr/>
          </p:nvSpPr>
          <p:spPr>
            <a:xfrm>
              <a:off x="646817" y="6407736"/>
              <a:ext cx="10927080" cy="13716"/>
            </a:xfrm>
            <a:prstGeom prst="rect">
              <a:avLst/>
            </a:prstGeom>
            <a:solidFill>
              <a:srgbClr val="3A4D6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42243E9-CB62-27F1-6163-91E8D5911947}"/>
                </a:ext>
              </a:extLst>
            </p:cNvPr>
            <p:cNvSpPr txBox="1"/>
            <p:nvPr/>
          </p:nvSpPr>
          <p:spPr>
            <a:xfrm>
              <a:off x="665105" y="6517464"/>
              <a:ext cx="7232744" cy="219456"/>
            </a:xfrm>
            <a:prstGeom prst="rect">
              <a:avLst/>
            </a:prstGeom>
            <a:noFill/>
          </p:spPr>
          <p:txBody>
            <a:bodyPr wrap="square" lIns="27432" tIns="18288" rIns="27432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 sz="1000" b="0">
                  <a:solidFill>
                    <a:srgbClr val="A3B5CB"/>
                  </a:solidFill>
                  <a:latin typeface="Aptos"/>
                </a:defRPr>
              </a:pPr>
              <a:r>
                <a: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USAL  ·  </a:t>
              </a:r>
              <a:r>
                <a:rPr kumimoji="0" sz="10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Investigación</a:t>
              </a:r>
              <a:r>
                <a: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 </a:t>
              </a:r>
              <a:r>
                <a:rPr kumimoji="0" sz="10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en</a:t>
              </a:r>
              <a:r>
                <a: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 </a:t>
              </a:r>
              <a:r>
                <a:rPr kumimoji="0" sz="10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Ciberseguridad</a:t>
              </a:r>
              <a:r>
                <a: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  ·  2026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D3B2B5B-78C3-E1D4-C4F1-C7368E79BEB1}"/>
                </a:ext>
              </a:extLst>
            </p:cNvPr>
            <p:cNvSpPr txBox="1"/>
            <p:nvPr/>
          </p:nvSpPr>
          <p:spPr>
            <a:xfrm>
              <a:off x="10522337" y="6508320"/>
              <a:ext cx="914400" cy="218521"/>
            </a:xfrm>
            <a:prstGeom prst="rect">
              <a:avLst/>
            </a:prstGeom>
            <a:noFill/>
          </p:spPr>
          <p:txBody>
            <a:bodyPr wrap="square" lIns="27432" tIns="18288" rIns="27432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 sz="1000" b="0">
                  <a:solidFill>
                    <a:srgbClr val="A3B5CB"/>
                  </a:solidFill>
                  <a:latin typeface="Aptos"/>
                </a:defRPr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15</a:t>
              </a:r>
              <a:r>
                <a: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/ </a:t>
              </a: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25</a:t>
              </a:r>
              <a:endParaRPr kumimoji="0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</p:grpSp>
      <p:sp>
        <p:nvSpPr>
          <p:cNvPr id="18" name="Text 2">
            <a:extLst>
              <a:ext uri="{FF2B5EF4-FFF2-40B4-BE49-F238E27FC236}">
                <a16:creationId xmlns:a16="http://schemas.microsoft.com/office/drawing/2014/main" id="{936C3419-13B3-B849-BED0-78DA6AE99319}"/>
              </a:ext>
            </a:extLst>
          </p:cNvPr>
          <p:cNvSpPr/>
          <p:nvPr/>
        </p:nvSpPr>
        <p:spPr>
          <a:xfrm>
            <a:off x="502920" y="768096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MX" sz="2900" b="1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Fases de la metodología de la investigación</a:t>
            </a:r>
            <a:endParaRPr lang="es-MX" sz="2900" noProof="0" dirty="0"/>
          </a:p>
        </p:txBody>
      </p:sp>
      <p:sp>
        <p:nvSpPr>
          <p:cNvPr id="17" name="Rectangle 45">
            <a:extLst>
              <a:ext uri="{FF2B5EF4-FFF2-40B4-BE49-F238E27FC236}">
                <a16:creationId xmlns:a16="http://schemas.microsoft.com/office/drawing/2014/main" id="{2182ADB7-E922-2CC8-2275-72E0CEACC009}"/>
              </a:ext>
            </a:extLst>
          </p:cNvPr>
          <p:cNvSpPr/>
          <p:nvPr/>
        </p:nvSpPr>
        <p:spPr>
          <a:xfrm>
            <a:off x="362243" y="268664"/>
            <a:ext cx="100584" cy="365760"/>
          </a:xfrm>
          <a:prstGeom prst="rect">
            <a:avLst/>
          </a:prstGeom>
          <a:solidFill>
            <a:srgbClr val="2AC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TextBox 47">
            <a:extLst>
              <a:ext uri="{FF2B5EF4-FFF2-40B4-BE49-F238E27FC236}">
                <a16:creationId xmlns:a16="http://schemas.microsoft.com/office/drawing/2014/main" id="{E4B1400D-7915-987C-7C95-A31D37954994}"/>
              </a:ext>
            </a:extLst>
          </p:cNvPr>
          <p:cNvSpPr txBox="1"/>
          <p:nvPr/>
        </p:nvSpPr>
        <p:spPr>
          <a:xfrm>
            <a:off x="502920" y="291654"/>
            <a:ext cx="9144000" cy="310854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1100" b="1">
                <a:solidFill>
                  <a:srgbClr val="2ACED8"/>
                </a:solidFill>
                <a:latin typeface="Aptos"/>
              </a:defRPr>
            </a:pPr>
            <a:r>
              <a:rPr kumimoji="0" lang="es-MX" sz="1600" b="1" i="0" u="none" strike="noStrike" kern="1200" cap="none" spc="0" normalizeH="0" baseline="0" noProof="0" dirty="0">
                <a:ln>
                  <a:noFill/>
                </a:ln>
                <a:solidFill>
                  <a:srgbClr val="2ACED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srgbClr val="2ACED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DISEÑO METODOLÓGICO DE LA INVESTIGACIÓN</a:t>
            </a:r>
            <a:endParaRPr kumimoji="0" lang="es-MX" sz="1600" b="1" i="0" u="none" strike="noStrike" kern="1200" cap="none" spc="0" normalizeH="0" baseline="0" noProof="0" dirty="0">
              <a:ln>
                <a:noFill/>
              </a:ln>
              <a:solidFill>
                <a:srgbClr val="2ACED8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675946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CB0BBC-5645-61DA-BF58-775C56EF9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>
            <a:extLst>
              <a:ext uri="{FF2B5EF4-FFF2-40B4-BE49-F238E27FC236}">
                <a16:creationId xmlns:a16="http://schemas.microsoft.com/office/drawing/2014/main" id="{E7C7C5ED-954E-6F0B-72C2-421B29456B49}"/>
              </a:ext>
            </a:extLst>
          </p:cNvPr>
          <p:cNvSpPr/>
          <p:nvPr/>
        </p:nvSpPr>
        <p:spPr>
          <a:xfrm>
            <a:off x="502920" y="1490472"/>
            <a:ext cx="11109960" cy="0"/>
          </a:xfrm>
          <a:prstGeom prst="line">
            <a:avLst/>
          </a:prstGeom>
          <a:noFill/>
          <a:ln w="12700">
            <a:solidFill>
              <a:srgbClr val="2A4158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5AAA3AA4-0517-22D1-CC84-782F7EB42D38}"/>
              </a:ext>
            </a:extLst>
          </p:cNvPr>
          <p:cNvGrpSpPr/>
          <p:nvPr/>
        </p:nvGrpSpPr>
        <p:grpSpPr>
          <a:xfrm>
            <a:off x="520269" y="1739932"/>
            <a:ext cx="11114595" cy="3426425"/>
            <a:chOff x="1819172" y="4347330"/>
            <a:chExt cx="10720297" cy="1728857"/>
          </a:xfrm>
        </p:grpSpPr>
        <p:sp>
          <p:nvSpPr>
            <p:cNvPr id="32" name="Shape 12">
              <a:extLst>
                <a:ext uri="{FF2B5EF4-FFF2-40B4-BE49-F238E27FC236}">
                  <a16:creationId xmlns:a16="http://schemas.microsoft.com/office/drawing/2014/main" id="{3B75605A-C5EA-8BF2-4B1E-9DF2FDD5ADE7}"/>
                </a:ext>
              </a:extLst>
            </p:cNvPr>
            <p:cNvSpPr/>
            <p:nvPr/>
          </p:nvSpPr>
          <p:spPr>
            <a:xfrm>
              <a:off x="1819172" y="4347330"/>
              <a:ext cx="10720297" cy="1728857"/>
            </a:xfrm>
            <a:prstGeom prst="roundRect">
              <a:avLst>
                <a:gd name="adj" fmla="val 21622"/>
              </a:avLst>
            </a:prstGeom>
            <a:solidFill>
              <a:srgbClr val="14243A"/>
            </a:solidFill>
            <a:ln w="8890">
              <a:solidFill>
                <a:srgbClr val="2A4158"/>
              </a:solidFill>
              <a:prstDash val="solid"/>
            </a:ln>
          </p:spPr>
          <p:txBody>
            <a:bodyPr/>
            <a:lstStyle/>
            <a:p>
              <a:endParaRPr lang="es-MX" noProof="0" dirty="0"/>
            </a:p>
          </p:txBody>
        </p:sp>
        <p:sp>
          <p:nvSpPr>
            <p:cNvPr id="33" name="Text 13">
              <a:extLst>
                <a:ext uri="{FF2B5EF4-FFF2-40B4-BE49-F238E27FC236}">
                  <a16:creationId xmlns:a16="http://schemas.microsoft.com/office/drawing/2014/main" id="{62DB8889-6BA8-F3BE-CC06-C89F49CFB1FD}"/>
                </a:ext>
              </a:extLst>
            </p:cNvPr>
            <p:cNvSpPr/>
            <p:nvPr/>
          </p:nvSpPr>
          <p:spPr>
            <a:xfrm>
              <a:off x="2864284" y="4438516"/>
              <a:ext cx="9653980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s-MX" b="1" dirty="0">
                  <a:solidFill>
                    <a:srgbClr val="53D4D0"/>
                  </a:solidFill>
                  <a:latin typeface="Aptos" pitchFamily="34" charset="0"/>
                </a:rPr>
                <a:t>Fase 6. Evaluación de resultados y conclusiones</a:t>
              </a:r>
              <a:endParaRPr lang="es-MX" dirty="0"/>
            </a:p>
          </p:txBody>
        </p:sp>
        <p:sp>
          <p:nvSpPr>
            <p:cNvPr id="34" name="Text 14">
              <a:extLst>
                <a:ext uri="{FF2B5EF4-FFF2-40B4-BE49-F238E27FC236}">
                  <a16:creationId xmlns:a16="http://schemas.microsoft.com/office/drawing/2014/main" id="{4C3AC00F-7423-CFD8-D304-BDD8A35DA139}"/>
                </a:ext>
              </a:extLst>
            </p:cNvPr>
            <p:cNvSpPr/>
            <p:nvPr/>
          </p:nvSpPr>
          <p:spPr>
            <a:xfrm>
              <a:off x="2864284" y="4773867"/>
              <a:ext cx="9199345" cy="10881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s-MX" sz="2000" noProof="0" dirty="0">
                  <a:solidFill>
                    <a:srgbClr val="F4F7FC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Tablas comparativas y gráficas.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s-MX" sz="2000" noProof="0" dirty="0">
                  <a:solidFill>
                    <a:srgbClr val="F4F7FC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Normalización de unidades y condiciones experimentales.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s-MX" sz="2000" noProof="0" dirty="0">
                  <a:solidFill>
                    <a:srgbClr val="F4F7FC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Evaluación de la eficacia de las contramedidas.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s-MX" sz="2000" noProof="0" dirty="0">
                  <a:solidFill>
                    <a:srgbClr val="F4F7FC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Identificación de vulnerabilidades y limitaciones.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s-MX" sz="2000" noProof="0" dirty="0">
                  <a:solidFill>
                    <a:srgbClr val="F4F7FC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Contraste de la hipótesis inicial.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685777E7-FCFE-912D-89E8-E9A16894A815}"/>
              </a:ext>
            </a:extLst>
          </p:cNvPr>
          <p:cNvGrpSpPr/>
          <p:nvPr/>
        </p:nvGrpSpPr>
        <p:grpSpPr>
          <a:xfrm>
            <a:off x="646817" y="6407736"/>
            <a:ext cx="10927080" cy="424102"/>
            <a:chOff x="646817" y="6407736"/>
            <a:chExt cx="10927080" cy="424102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D2A6661-544E-639B-ED2E-C28CFE5EF9BE}"/>
                </a:ext>
              </a:extLst>
            </p:cNvPr>
            <p:cNvSpPr/>
            <p:nvPr/>
          </p:nvSpPr>
          <p:spPr>
            <a:xfrm>
              <a:off x="646817" y="6407736"/>
              <a:ext cx="10927080" cy="13716"/>
            </a:xfrm>
            <a:prstGeom prst="rect">
              <a:avLst/>
            </a:prstGeom>
            <a:solidFill>
              <a:srgbClr val="3A4D6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8AB243C-7FF5-8FC5-1BE8-A099432331DE}"/>
                </a:ext>
              </a:extLst>
            </p:cNvPr>
            <p:cNvSpPr txBox="1"/>
            <p:nvPr/>
          </p:nvSpPr>
          <p:spPr>
            <a:xfrm>
              <a:off x="665105" y="6517464"/>
              <a:ext cx="7232744" cy="219456"/>
            </a:xfrm>
            <a:prstGeom prst="rect">
              <a:avLst/>
            </a:prstGeom>
            <a:noFill/>
          </p:spPr>
          <p:txBody>
            <a:bodyPr wrap="square" lIns="27432" tIns="18288" rIns="27432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 sz="1000" b="0">
                  <a:solidFill>
                    <a:srgbClr val="A3B5CB"/>
                  </a:solidFill>
                  <a:latin typeface="Aptos"/>
                </a:defRPr>
              </a:pPr>
              <a:r>
                <a: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USAL  ·  </a:t>
              </a:r>
              <a:r>
                <a:rPr kumimoji="0" sz="10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Investigación</a:t>
              </a:r>
              <a:r>
                <a: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 </a:t>
              </a:r>
              <a:r>
                <a:rPr kumimoji="0" sz="10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en</a:t>
              </a:r>
              <a:r>
                <a: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 </a:t>
              </a:r>
              <a:r>
                <a:rPr kumimoji="0" sz="10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Ciberseguridad</a:t>
              </a:r>
              <a:r>
                <a: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  ·  2026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D8AE9EA-D262-8E21-B314-3181ACC0F0AE}"/>
                </a:ext>
              </a:extLst>
            </p:cNvPr>
            <p:cNvSpPr txBox="1"/>
            <p:nvPr/>
          </p:nvSpPr>
          <p:spPr>
            <a:xfrm>
              <a:off x="10522337" y="6508320"/>
              <a:ext cx="914400" cy="218521"/>
            </a:xfrm>
            <a:prstGeom prst="rect">
              <a:avLst/>
            </a:prstGeom>
            <a:noFill/>
          </p:spPr>
          <p:txBody>
            <a:bodyPr wrap="square" lIns="27432" tIns="18288" rIns="27432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 sz="1000" b="0">
                  <a:solidFill>
                    <a:srgbClr val="A3B5CB"/>
                  </a:solidFill>
                  <a:latin typeface="Aptos"/>
                </a:defRPr>
              </a:pPr>
              <a:r>
                <a:rPr lang="en-US" sz="1000" dirty="0">
                  <a:solidFill>
                    <a:schemeClr val="bg1"/>
                  </a:solidFill>
                  <a:latin typeface="Aptos"/>
                </a:rPr>
                <a:t>16</a:t>
              </a:r>
              <a:r>
                <a: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/ </a:t>
              </a: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25</a:t>
              </a:r>
              <a:endParaRPr kumimoji="0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  <p:sp>
          <p:nvSpPr>
            <p:cNvPr id="13" name="Slide Number Placeholder 7">
              <a:extLst>
                <a:ext uri="{FF2B5EF4-FFF2-40B4-BE49-F238E27FC236}">
                  <a16:creationId xmlns:a16="http://schemas.microsoft.com/office/drawing/2014/main" id="{3643830C-BF2A-3F97-C3FF-65BD931FC4B2}"/>
                </a:ext>
              </a:extLst>
            </p:cNvPr>
            <p:cNvSpPr txBox="1">
              <a:spLocks/>
            </p:cNvSpPr>
            <p:nvPr/>
          </p:nvSpPr>
          <p:spPr>
            <a:xfrm>
              <a:off x="8537448" y="6466713"/>
              <a:ext cx="2133600" cy="365125"/>
            </a:xfrm>
            <a:prstGeom prst="rect">
              <a:avLst/>
            </a:prstGeom>
          </p:spPr>
          <p:txBody>
            <a:bodyPr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000" dirty="0">
                <a:solidFill>
                  <a:schemeClr val="bg1"/>
                </a:solidFill>
                <a:latin typeface="Aptos"/>
              </a:endParaRPr>
            </a:p>
          </p:txBody>
        </p:sp>
      </p:grpSp>
      <p:sp>
        <p:nvSpPr>
          <p:cNvPr id="18" name="Text 2">
            <a:extLst>
              <a:ext uri="{FF2B5EF4-FFF2-40B4-BE49-F238E27FC236}">
                <a16:creationId xmlns:a16="http://schemas.microsoft.com/office/drawing/2014/main" id="{38D21155-F0CB-A5BC-092E-F71BF47CBD55}"/>
              </a:ext>
            </a:extLst>
          </p:cNvPr>
          <p:cNvSpPr/>
          <p:nvPr/>
        </p:nvSpPr>
        <p:spPr>
          <a:xfrm>
            <a:off x="502920" y="768096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MX" sz="2900" b="1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Fases de la metodología de la investigación</a:t>
            </a:r>
            <a:endParaRPr lang="es-MX" sz="2900" noProof="0" dirty="0"/>
          </a:p>
        </p:txBody>
      </p:sp>
      <p:sp>
        <p:nvSpPr>
          <p:cNvPr id="15" name="Rectangle 45">
            <a:extLst>
              <a:ext uri="{FF2B5EF4-FFF2-40B4-BE49-F238E27FC236}">
                <a16:creationId xmlns:a16="http://schemas.microsoft.com/office/drawing/2014/main" id="{0F666748-857D-705E-FDBF-94F2BDA9185D}"/>
              </a:ext>
            </a:extLst>
          </p:cNvPr>
          <p:cNvSpPr/>
          <p:nvPr/>
        </p:nvSpPr>
        <p:spPr>
          <a:xfrm>
            <a:off x="362243" y="268664"/>
            <a:ext cx="100584" cy="365760"/>
          </a:xfrm>
          <a:prstGeom prst="rect">
            <a:avLst/>
          </a:prstGeom>
          <a:solidFill>
            <a:srgbClr val="2AC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TextBox 47">
            <a:extLst>
              <a:ext uri="{FF2B5EF4-FFF2-40B4-BE49-F238E27FC236}">
                <a16:creationId xmlns:a16="http://schemas.microsoft.com/office/drawing/2014/main" id="{43D791EB-358D-031C-8D07-6D49BF7B4487}"/>
              </a:ext>
            </a:extLst>
          </p:cNvPr>
          <p:cNvSpPr txBox="1"/>
          <p:nvPr/>
        </p:nvSpPr>
        <p:spPr>
          <a:xfrm>
            <a:off x="502920" y="291654"/>
            <a:ext cx="9144000" cy="310854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1100" b="1">
                <a:solidFill>
                  <a:srgbClr val="2ACED8"/>
                </a:solidFill>
                <a:latin typeface="Aptos"/>
              </a:defRPr>
            </a:pPr>
            <a:r>
              <a:rPr kumimoji="0" lang="es-MX" sz="1600" b="1" i="0" u="none" strike="noStrike" kern="1200" cap="none" spc="0" normalizeH="0" baseline="0" noProof="0" dirty="0">
                <a:ln>
                  <a:noFill/>
                </a:ln>
                <a:solidFill>
                  <a:srgbClr val="2ACED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srgbClr val="2ACED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DISEÑO METODOLÓGICO DE LA INVESTIGACIÓN</a:t>
            </a:r>
            <a:endParaRPr kumimoji="0" lang="es-MX" sz="1600" b="1" i="0" u="none" strike="noStrike" kern="1200" cap="none" spc="0" normalizeH="0" baseline="0" noProof="0" dirty="0">
              <a:ln>
                <a:noFill/>
              </a:ln>
              <a:solidFill>
                <a:srgbClr val="2ACED8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69545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9D0084-7458-1751-DCFD-7B6EDF64A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AB704E74-6CC1-983E-6B4F-C51AE6173601}"/>
              </a:ext>
            </a:extLst>
          </p:cNvPr>
          <p:cNvSpPr/>
          <p:nvPr/>
        </p:nvSpPr>
        <p:spPr>
          <a:xfrm>
            <a:off x="502920" y="768096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MX" sz="2900" b="1" noProof="0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s-MX" sz="2900" b="1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Selección transparente con PRISMA 2020</a:t>
            </a:r>
            <a:endParaRPr lang="es-MX" sz="2900" noProof="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D87808B-CA08-2030-EE71-28FA3FB70772}"/>
              </a:ext>
            </a:extLst>
          </p:cNvPr>
          <p:cNvSpPr/>
          <p:nvPr/>
        </p:nvSpPr>
        <p:spPr>
          <a:xfrm>
            <a:off x="502920" y="1490472"/>
            <a:ext cx="11109960" cy="0"/>
          </a:xfrm>
          <a:prstGeom prst="line">
            <a:avLst/>
          </a:prstGeom>
          <a:noFill/>
          <a:ln w="12700">
            <a:solidFill>
              <a:srgbClr val="2A4158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5F46B38-C946-D6BC-3257-1517C8B39510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603233" y="2034170"/>
            <a:ext cx="1248927" cy="124892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D839DB6-ED46-57BC-9C1C-6A12860B4A4A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527740" y="2038529"/>
            <a:ext cx="1244568" cy="124456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7EC1558-F4B1-3CFC-DE03-16C2EFAF1676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68940" y="2020199"/>
            <a:ext cx="1248927" cy="1248927"/>
          </a:xfrm>
          <a:prstGeom prst="rect">
            <a:avLst/>
          </a:prstGeom>
        </p:spPr>
      </p:pic>
      <p:sp>
        <p:nvSpPr>
          <p:cNvPr id="27" name="Text 14">
            <a:extLst>
              <a:ext uri="{FF2B5EF4-FFF2-40B4-BE49-F238E27FC236}">
                <a16:creationId xmlns:a16="http://schemas.microsoft.com/office/drawing/2014/main" id="{75E803D3-58F2-F064-7579-8D4A396204EB}"/>
              </a:ext>
            </a:extLst>
          </p:cNvPr>
          <p:cNvSpPr/>
          <p:nvPr/>
        </p:nvSpPr>
        <p:spPr>
          <a:xfrm>
            <a:off x="1940743" y="2082037"/>
            <a:ext cx="223937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MX" sz="1700" b="1" noProof="0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1.Identificación </a:t>
            </a:r>
            <a:r>
              <a:rPr lang="es-MX" sz="1700" noProof="0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Registros de Scopus, Web of Science e IEEE Xplore</a:t>
            </a:r>
            <a:endParaRPr lang="es-MX" sz="1700" dirty="0">
              <a:solidFill>
                <a:srgbClr val="F4F7FC"/>
              </a:solidFill>
              <a:latin typeface="Aptos" pitchFamily="34" charset="0"/>
            </a:endParaRPr>
          </a:p>
        </p:txBody>
      </p:sp>
      <p:sp>
        <p:nvSpPr>
          <p:cNvPr id="29" name="Text 14">
            <a:extLst>
              <a:ext uri="{FF2B5EF4-FFF2-40B4-BE49-F238E27FC236}">
                <a16:creationId xmlns:a16="http://schemas.microsoft.com/office/drawing/2014/main" id="{A14AF00C-2507-E00C-54AA-72F3F9464B67}"/>
              </a:ext>
            </a:extLst>
          </p:cNvPr>
          <p:cNvSpPr/>
          <p:nvPr/>
        </p:nvSpPr>
        <p:spPr>
          <a:xfrm>
            <a:off x="6051326" y="2018893"/>
            <a:ext cx="223937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MX" sz="1700" b="1" noProof="0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Eliminación de duplicados</a:t>
            </a:r>
          </a:p>
          <a:p>
            <a:r>
              <a:rPr lang="es-MX" sz="1700" noProof="0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de referencias con Zotero</a:t>
            </a:r>
            <a:endParaRPr lang="es-MX" sz="1700" dirty="0">
              <a:solidFill>
                <a:srgbClr val="F4F7FC"/>
              </a:solidFill>
              <a:latin typeface="Aptos" pitchFamily="34" charset="0"/>
            </a:endParaRPr>
          </a:p>
        </p:txBody>
      </p:sp>
      <p:sp>
        <p:nvSpPr>
          <p:cNvPr id="33" name="Text 14">
            <a:extLst>
              <a:ext uri="{FF2B5EF4-FFF2-40B4-BE49-F238E27FC236}">
                <a16:creationId xmlns:a16="http://schemas.microsoft.com/office/drawing/2014/main" id="{714B2CCD-753D-8FAF-C68B-D131BD516A80}"/>
              </a:ext>
            </a:extLst>
          </p:cNvPr>
          <p:cNvSpPr/>
          <p:nvPr/>
        </p:nvSpPr>
        <p:spPr>
          <a:xfrm>
            <a:off x="9902174" y="2062254"/>
            <a:ext cx="223937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MX" sz="1700" b="1" noProof="0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Cribado</a:t>
            </a:r>
          </a:p>
          <a:p>
            <a:r>
              <a:rPr lang="es-MX" sz="1700" noProof="0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Revisión de títulos y resúmenes</a:t>
            </a:r>
            <a:endParaRPr lang="es-MX" sz="1700" dirty="0">
              <a:solidFill>
                <a:srgbClr val="F4F7FC"/>
              </a:solidFill>
              <a:latin typeface="Aptos" pitchFamily="34" charset="0"/>
            </a:endParaRP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057E12B4-C7B9-458C-42CB-1EA30FF49E6F}"/>
              </a:ext>
            </a:extLst>
          </p:cNvPr>
          <p:cNvGrpSpPr/>
          <p:nvPr/>
        </p:nvGrpSpPr>
        <p:grpSpPr>
          <a:xfrm>
            <a:off x="8422462" y="4101061"/>
            <a:ext cx="3769538" cy="1407290"/>
            <a:chOff x="410577" y="4134558"/>
            <a:chExt cx="3769538" cy="1407290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840E4EBD-0F8F-95B2-7AEB-C72BDB0DFAA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410577" y="4134558"/>
              <a:ext cx="1407290" cy="1407290"/>
            </a:xfrm>
            <a:prstGeom prst="rect">
              <a:avLst/>
            </a:prstGeom>
          </p:spPr>
        </p:pic>
        <p:sp>
          <p:nvSpPr>
            <p:cNvPr id="39" name="Text 14">
              <a:extLst>
                <a:ext uri="{FF2B5EF4-FFF2-40B4-BE49-F238E27FC236}">
                  <a16:creationId xmlns:a16="http://schemas.microsoft.com/office/drawing/2014/main" id="{103DCE08-40C0-B876-D165-ADE1937535CF}"/>
                </a:ext>
              </a:extLst>
            </p:cNvPr>
            <p:cNvSpPr/>
            <p:nvPr/>
          </p:nvSpPr>
          <p:spPr>
            <a:xfrm>
              <a:off x="1940743" y="4347690"/>
              <a:ext cx="2239372" cy="10881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s-MX" sz="1700" b="1" noProof="0" dirty="0">
                  <a:solidFill>
                    <a:srgbClr val="F4F7FC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4. Evaluación de texto completo</a:t>
              </a:r>
            </a:p>
            <a:p>
              <a:r>
                <a:rPr lang="es-MX" sz="1700" noProof="0" dirty="0">
                  <a:solidFill>
                    <a:srgbClr val="F4F7FC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Aplicación de criterios de inclusión y exclusión</a:t>
              </a:r>
              <a:endParaRPr lang="es-MX" sz="1700" dirty="0">
                <a:solidFill>
                  <a:srgbClr val="F4F7FC"/>
                </a:solidFill>
                <a:latin typeface="Aptos" pitchFamily="34" charset="0"/>
              </a:endParaRP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442FB3B4-43AF-F787-2EBB-F50A1305CA47}"/>
              </a:ext>
            </a:extLst>
          </p:cNvPr>
          <p:cNvGrpSpPr/>
          <p:nvPr/>
        </p:nvGrpSpPr>
        <p:grpSpPr>
          <a:xfrm>
            <a:off x="4428133" y="4263783"/>
            <a:ext cx="3613181" cy="1244568"/>
            <a:chOff x="4677517" y="4244004"/>
            <a:chExt cx="3613181" cy="1244568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56EC2AF7-F26D-C068-1014-868BC1E0AA7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4677517" y="4244004"/>
              <a:ext cx="1244568" cy="1244568"/>
            </a:xfrm>
            <a:prstGeom prst="rect">
              <a:avLst/>
            </a:prstGeom>
          </p:spPr>
        </p:pic>
        <p:sp>
          <p:nvSpPr>
            <p:cNvPr id="43" name="Text 14">
              <a:extLst>
                <a:ext uri="{FF2B5EF4-FFF2-40B4-BE49-F238E27FC236}">
                  <a16:creationId xmlns:a16="http://schemas.microsoft.com/office/drawing/2014/main" id="{47F1B157-2AE4-E673-B3AF-321BDA94F3AB}"/>
                </a:ext>
              </a:extLst>
            </p:cNvPr>
            <p:cNvSpPr/>
            <p:nvPr/>
          </p:nvSpPr>
          <p:spPr>
            <a:xfrm>
              <a:off x="6051326" y="4322220"/>
              <a:ext cx="2239372" cy="10881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s-MX" sz="1700" b="1" noProof="0" dirty="0">
                  <a:solidFill>
                    <a:srgbClr val="F4F7FC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5. Evaluación de calidad</a:t>
              </a:r>
            </a:p>
            <a:p>
              <a:r>
                <a:rPr lang="es-MX" sz="1700" noProof="0" dirty="0">
                  <a:solidFill>
                    <a:srgbClr val="F4F7FC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Verificación de cuartiles JCR y criterios bibliográficos</a:t>
              </a:r>
              <a:endParaRPr lang="es-MX" sz="1700" dirty="0">
                <a:solidFill>
                  <a:srgbClr val="F4F7FC"/>
                </a:solidFill>
                <a:latin typeface="Aptos" pitchFamily="34" charset="0"/>
              </a:endParaRP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0CCA65C6-B1D0-41D0-37B5-759490DF739E}"/>
              </a:ext>
            </a:extLst>
          </p:cNvPr>
          <p:cNvGrpSpPr/>
          <p:nvPr/>
        </p:nvGrpSpPr>
        <p:grpSpPr>
          <a:xfrm>
            <a:off x="257461" y="4157231"/>
            <a:ext cx="3720358" cy="1351120"/>
            <a:chOff x="8421188" y="4190728"/>
            <a:chExt cx="3720358" cy="1351120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4084E8FE-5B85-D2D2-28C1-FF25D8D296D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8421188" y="4190728"/>
              <a:ext cx="1351120" cy="1351120"/>
            </a:xfrm>
            <a:prstGeom prst="rect">
              <a:avLst/>
            </a:prstGeom>
          </p:spPr>
        </p:pic>
        <p:sp>
          <p:nvSpPr>
            <p:cNvPr id="47" name="Text 14">
              <a:extLst>
                <a:ext uri="{FF2B5EF4-FFF2-40B4-BE49-F238E27FC236}">
                  <a16:creationId xmlns:a16="http://schemas.microsoft.com/office/drawing/2014/main" id="{AFBC112B-3DFA-6B8B-E83C-C2F639B33564}"/>
                </a:ext>
              </a:extLst>
            </p:cNvPr>
            <p:cNvSpPr/>
            <p:nvPr/>
          </p:nvSpPr>
          <p:spPr>
            <a:xfrm>
              <a:off x="9902174" y="4410204"/>
              <a:ext cx="2239372" cy="10881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s-MX" sz="1700" b="1" noProof="0" dirty="0">
                  <a:solidFill>
                    <a:srgbClr val="F4F7FC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6. Inclusión final</a:t>
              </a:r>
            </a:p>
            <a:p>
              <a:r>
                <a:rPr lang="es-MX" sz="1700" noProof="0" dirty="0">
                  <a:solidFill>
                    <a:srgbClr val="F4F7FC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Estudios seleccionados para el análisis y el caso de estudio</a:t>
              </a:r>
              <a:endParaRPr lang="es-MX" sz="1700" dirty="0">
                <a:solidFill>
                  <a:srgbClr val="F4F7FC"/>
                </a:solidFill>
                <a:latin typeface="Aptos" pitchFamily="34" charset="0"/>
              </a:endParaRPr>
            </a:p>
          </p:txBody>
        </p:sp>
      </p:grpSp>
      <p:pic>
        <p:nvPicPr>
          <p:cNvPr id="50" name="Picture 49">
            <a:extLst>
              <a:ext uri="{FF2B5EF4-FFF2-40B4-BE49-F238E27FC236}">
                <a16:creationId xmlns:a16="http://schemas.microsoft.com/office/drawing/2014/main" id="{313FB094-457E-02D4-1409-3272E9BA3C5C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105831" y="2474182"/>
            <a:ext cx="387615" cy="387615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5EC688EF-60C0-08AF-2921-383C9D50B0BA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339290" y="2412514"/>
            <a:ext cx="387615" cy="387615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E752D603-0AA9-88BF-BBF8-3521DFF11BB8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5400000">
            <a:off x="10173705" y="3478250"/>
            <a:ext cx="387615" cy="387615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F539A645-EC17-7A02-2B65-E6DE2E81D481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10800000">
            <a:off x="8034847" y="4697951"/>
            <a:ext cx="387615" cy="387615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DA9E8907-2C57-132F-F359-107BE4AEBFA7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10800000">
            <a:off x="3986307" y="4697952"/>
            <a:ext cx="387615" cy="387615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D74D4D6A-3A74-8E31-F7C0-B772D10FEFE3}"/>
              </a:ext>
            </a:extLst>
          </p:cNvPr>
          <p:cNvGrpSpPr/>
          <p:nvPr/>
        </p:nvGrpSpPr>
        <p:grpSpPr>
          <a:xfrm>
            <a:off x="646817" y="6407736"/>
            <a:ext cx="10927080" cy="329184"/>
            <a:chOff x="646817" y="6407736"/>
            <a:chExt cx="10927080" cy="329184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3A00857-F10F-C5A5-DB6E-2D1D512C15FB}"/>
                </a:ext>
              </a:extLst>
            </p:cNvPr>
            <p:cNvSpPr/>
            <p:nvPr/>
          </p:nvSpPr>
          <p:spPr>
            <a:xfrm>
              <a:off x="646817" y="6407736"/>
              <a:ext cx="10927080" cy="13716"/>
            </a:xfrm>
            <a:prstGeom prst="rect">
              <a:avLst/>
            </a:prstGeom>
            <a:solidFill>
              <a:srgbClr val="3A4D6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E5A0FC2-ED5D-1CA7-16E4-031CF91F6BA0}"/>
                </a:ext>
              </a:extLst>
            </p:cNvPr>
            <p:cNvSpPr txBox="1"/>
            <p:nvPr/>
          </p:nvSpPr>
          <p:spPr>
            <a:xfrm>
              <a:off x="665105" y="6517464"/>
              <a:ext cx="7232744" cy="219456"/>
            </a:xfrm>
            <a:prstGeom prst="rect">
              <a:avLst/>
            </a:prstGeom>
            <a:noFill/>
          </p:spPr>
          <p:txBody>
            <a:bodyPr wrap="square" lIns="27432" tIns="18288" rIns="27432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 sz="1000" b="0">
                  <a:solidFill>
                    <a:srgbClr val="A3B5CB"/>
                  </a:solidFill>
                  <a:latin typeface="Aptos"/>
                </a:defRPr>
              </a:pPr>
              <a:r>
                <a: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USAL  ·  </a:t>
              </a:r>
              <a:r>
                <a:rPr kumimoji="0" sz="10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Investigación</a:t>
              </a:r>
              <a:r>
                <a: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 </a:t>
              </a:r>
              <a:r>
                <a:rPr kumimoji="0" sz="10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en</a:t>
              </a:r>
              <a:r>
                <a: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 </a:t>
              </a:r>
              <a:r>
                <a:rPr kumimoji="0" sz="10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Ciberseguridad</a:t>
              </a:r>
              <a:r>
                <a: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  ·  2026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7D96B9A-8C41-79BA-11F9-B04835417A07}"/>
                </a:ext>
              </a:extLst>
            </p:cNvPr>
            <p:cNvSpPr txBox="1"/>
            <p:nvPr/>
          </p:nvSpPr>
          <p:spPr>
            <a:xfrm>
              <a:off x="10522337" y="6508320"/>
              <a:ext cx="914400" cy="218521"/>
            </a:xfrm>
            <a:prstGeom prst="rect">
              <a:avLst/>
            </a:prstGeom>
            <a:noFill/>
          </p:spPr>
          <p:txBody>
            <a:bodyPr wrap="square" lIns="27432" tIns="18288" rIns="27432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 sz="1000" b="0">
                  <a:solidFill>
                    <a:srgbClr val="A3B5CB"/>
                  </a:solidFill>
                  <a:latin typeface="Aptos"/>
                </a:defRPr>
              </a:pPr>
              <a:r>
                <a:rPr lang="en-US" sz="1000" dirty="0">
                  <a:solidFill>
                    <a:schemeClr val="bg1"/>
                  </a:solidFill>
                  <a:latin typeface="Aptos"/>
                </a:rPr>
                <a:t>17</a:t>
              </a:r>
              <a:r>
                <a: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 / </a:t>
              </a: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25</a:t>
              </a:r>
              <a:endParaRPr kumimoji="0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</p:grpSp>
      <p:sp>
        <p:nvSpPr>
          <p:cNvPr id="30" name="Rectangle 45">
            <a:extLst>
              <a:ext uri="{FF2B5EF4-FFF2-40B4-BE49-F238E27FC236}">
                <a16:creationId xmlns:a16="http://schemas.microsoft.com/office/drawing/2014/main" id="{89EB769A-A431-2800-762C-73B94077747C}"/>
              </a:ext>
            </a:extLst>
          </p:cNvPr>
          <p:cNvSpPr/>
          <p:nvPr/>
        </p:nvSpPr>
        <p:spPr>
          <a:xfrm>
            <a:off x="362243" y="268664"/>
            <a:ext cx="100584" cy="365760"/>
          </a:xfrm>
          <a:prstGeom prst="rect">
            <a:avLst/>
          </a:prstGeom>
          <a:solidFill>
            <a:srgbClr val="2AC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TextBox 47">
            <a:extLst>
              <a:ext uri="{FF2B5EF4-FFF2-40B4-BE49-F238E27FC236}">
                <a16:creationId xmlns:a16="http://schemas.microsoft.com/office/drawing/2014/main" id="{49075084-2444-1ED2-1F11-B51F941EC45A}"/>
              </a:ext>
            </a:extLst>
          </p:cNvPr>
          <p:cNvSpPr txBox="1"/>
          <p:nvPr/>
        </p:nvSpPr>
        <p:spPr>
          <a:xfrm>
            <a:off x="502920" y="291654"/>
            <a:ext cx="9144000" cy="310854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1100" b="1">
                <a:solidFill>
                  <a:srgbClr val="2ACED8"/>
                </a:solidFill>
                <a:latin typeface="Aptos"/>
              </a:defRPr>
            </a:pPr>
            <a:r>
              <a:rPr kumimoji="0" lang="es-MX" sz="1600" b="1" i="0" u="none" strike="noStrike" kern="1200" cap="none" spc="0" normalizeH="0" baseline="0" noProof="0" dirty="0">
                <a:ln>
                  <a:noFill/>
                </a:ln>
                <a:solidFill>
                  <a:srgbClr val="2ACED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srgbClr val="2ACED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SELECCIÓN TRANSPARENTE CON PRISMA 2020</a:t>
            </a:r>
            <a:endParaRPr kumimoji="0" lang="es-MX" sz="1600" b="1" i="0" u="none" strike="noStrike" kern="1200" cap="none" spc="0" normalizeH="0" baseline="0" noProof="0" dirty="0">
              <a:ln>
                <a:noFill/>
              </a:ln>
              <a:solidFill>
                <a:srgbClr val="2ACED8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59805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7B5C1E-BAA6-7F0D-B698-D31BF2CC2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FD85A724-CBEB-9990-E154-3F717AAAD135}"/>
              </a:ext>
            </a:extLst>
          </p:cNvPr>
          <p:cNvSpPr/>
          <p:nvPr/>
        </p:nvSpPr>
        <p:spPr>
          <a:xfrm>
            <a:off x="502920" y="768096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MX" sz="2900" b="1" noProof="0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s-MX" sz="2900" b="1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que recopilaremos de artículos JCR Q1</a:t>
            </a:r>
            <a:endParaRPr lang="es-MX" sz="2900" noProof="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D21DE99-9869-4085-B38F-51D9E1B576F5}"/>
              </a:ext>
            </a:extLst>
          </p:cNvPr>
          <p:cNvSpPr/>
          <p:nvPr/>
        </p:nvSpPr>
        <p:spPr>
          <a:xfrm>
            <a:off x="502920" y="1490472"/>
            <a:ext cx="11109960" cy="0"/>
          </a:xfrm>
          <a:prstGeom prst="line">
            <a:avLst/>
          </a:prstGeom>
          <a:noFill/>
          <a:ln w="12700">
            <a:solidFill>
              <a:srgbClr val="2A4158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5269098-3A92-4898-B25B-32EE2E4BE15F}"/>
              </a:ext>
            </a:extLst>
          </p:cNvPr>
          <p:cNvGrpSpPr/>
          <p:nvPr/>
        </p:nvGrpSpPr>
        <p:grpSpPr>
          <a:xfrm>
            <a:off x="502920" y="1547260"/>
            <a:ext cx="10881360" cy="1798281"/>
            <a:chOff x="777240" y="4522630"/>
            <a:chExt cx="10881360" cy="1798281"/>
          </a:xfrm>
        </p:grpSpPr>
        <p:sp>
          <p:nvSpPr>
            <p:cNvPr id="10" name="Text 8">
              <a:extLst>
                <a:ext uri="{FF2B5EF4-FFF2-40B4-BE49-F238E27FC236}">
                  <a16:creationId xmlns:a16="http://schemas.microsoft.com/office/drawing/2014/main" id="{096D2194-BB16-A03C-4CE1-F85EA408ABBE}"/>
                </a:ext>
              </a:extLst>
            </p:cNvPr>
            <p:cNvSpPr/>
            <p:nvPr/>
          </p:nvSpPr>
          <p:spPr>
            <a:xfrm>
              <a:off x="982980" y="5315071"/>
              <a:ext cx="10149840" cy="10058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s-MX" sz="2200" dirty="0">
                  <a:solidFill>
                    <a:srgbClr val="F4F7FC"/>
                  </a:solidFill>
                  <a:latin typeface="Aptos" pitchFamily="34" charset="0"/>
                </a:rPr>
                <a:t>Entenderemos la relación entre las variables medibles y la seguridad de los sistemas QDK</a:t>
              </a:r>
              <a:endParaRPr lang="es-MX" sz="2200" noProof="0" dirty="0"/>
            </a:p>
          </p:txBody>
        </p:sp>
        <p:sp>
          <p:nvSpPr>
            <p:cNvPr id="13" name="Text 6">
              <a:extLst>
                <a:ext uri="{FF2B5EF4-FFF2-40B4-BE49-F238E27FC236}">
                  <a16:creationId xmlns:a16="http://schemas.microsoft.com/office/drawing/2014/main" id="{C276F568-F654-9C29-62BF-D8C877C6F701}"/>
                </a:ext>
              </a:extLst>
            </p:cNvPr>
            <p:cNvSpPr/>
            <p:nvPr/>
          </p:nvSpPr>
          <p:spPr>
            <a:xfrm>
              <a:off x="777240" y="4522630"/>
              <a:ext cx="10881360" cy="10058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s-MX" sz="2700" b="1" dirty="0">
                  <a:solidFill>
                    <a:srgbClr val="53D4D0"/>
                  </a:solidFill>
                  <a:latin typeface="Aptos" pitchFamily="34" charset="0"/>
                </a:rPr>
                <a:t>Variables a medir</a:t>
              </a:r>
              <a:endParaRPr lang="es-MX" sz="2700" noProof="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E25684F-129D-8B82-0263-4DDAB85019B2}"/>
              </a:ext>
            </a:extLst>
          </p:cNvPr>
          <p:cNvGrpSpPr/>
          <p:nvPr/>
        </p:nvGrpSpPr>
        <p:grpSpPr>
          <a:xfrm>
            <a:off x="502920" y="3476203"/>
            <a:ext cx="10881360" cy="1933956"/>
            <a:chOff x="777240" y="4522630"/>
            <a:chExt cx="10881360" cy="1933956"/>
          </a:xfrm>
        </p:grpSpPr>
        <p:sp>
          <p:nvSpPr>
            <p:cNvPr id="16" name="Text 8">
              <a:extLst>
                <a:ext uri="{FF2B5EF4-FFF2-40B4-BE49-F238E27FC236}">
                  <a16:creationId xmlns:a16="http://schemas.microsoft.com/office/drawing/2014/main" id="{667723A5-F8C5-A6F8-F4B2-2241ECA4C72C}"/>
                </a:ext>
              </a:extLst>
            </p:cNvPr>
            <p:cNvSpPr/>
            <p:nvPr/>
          </p:nvSpPr>
          <p:spPr>
            <a:xfrm>
              <a:off x="982980" y="4882214"/>
              <a:ext cx="10149840" cy="15743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s-MX" sz="2200" noProof="0" dirty="0">
                  <a:solidFill>
                    <a:srgbClr val="F4F7FC"/>
                  </a:solidFill>
                  <a:latin typeface="Aptos" pitchFamily="34" charset="0"/>
                </a:rPr>
                <a:t>Identificar los ataques de inyección óptica, evaluar las contramedidas y definir parámetros para comparar la seguridad de los sistemas QKD.</a:t>
              </a:r>
              <a:endParaRPr lang="es-MX" sz="2200" noProof="0" dirty="0"/>
            </a:p>
          </p:txBody>
        </p:sp>
        <p:sp>
          <p:nvSpPr>
            <p:cNvPr id="17" name="Text 6">
              <a:extLst>
                <a:ext uri="{FF2B5EF4-FFF2-40B4-BE49-F238E27FC236}">
                  <a16:creationId xmlns:a16="http://schemas.microsoft.com/office/drawing/2014/main" id="{65E8CDC5-D24C-3954-AADF-7600055F82E2}"/>
                </a:ext>
              </a:extLst>
            </p:cNvPr>
            <p:cNvSpPr/>
            <p:nvPr/>
          </p:nvSpPr>
          <p:spPr>
            <a:xfrm>
              <a:off x="777240" y="4522630"/>
              <a:ext cx="10881360" cy="10058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s-MX" sz="2700" b="1" noProof="0" dirty="0">
                  <a:solidFill>
                    <a:srgbClr val="53D4D0"/>
                  </a:solidFill>
                  <a:latin typeface="Aptos" pitchFamily="34" charset="0"/>
                </a:rPr>
                <a:t>Objetivos </a:t>
              </a:r>
              <a:endParaRPr lang="es-MX" sz="2700" noProof="0" dirty="0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6FE3C1C1-2619-F7AB-6040-ED8B7E8A0627}"/>
              </a:ext>
            </a:extLst>
          </p:cNvPr>
          <p:cNvGrpSpPr/>
          <p:nvPr/>
        </p:nvGrpSpPr>
        <p:grpSpPr>
          <a:xfrm>
            <a:off x="646817" y="6407736"/>
            <a:ext cx="10927080" cy="329184"/>
            <a:chOff x="646817" y="6407736"/>
            <a:chExt cx="10927080" cy="329184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B032844-7CBA-768E-731F-3F75F3369E9D}"/>
                </a:ext>
              </a:extLst>
            </p:cNvPr>
            <p:cNvSpPr/>
            <p:nvPr/>
          </p:nvSpPr>
          <p:spPr>
            <a:xfrm>
              <a:off x="646817" y="6407736"/>
              <a:ext cx="10927080" cy="13716"/>
            </a:xfrm>
            <a:prstGeom prst="rect">
              <a:avLst/>
            </a:prstGeom>
            <a:solidFill>
              <a:srgbClr val="3A4D6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515B50E-29B4-CC98-8BAF-EB7D7C6338AE}"/>
                </a:ext>
              </a:extLst>
            </p:cNvPr>
            <p:cNvSpPr txBox="1"/>
            <p:nvPr/>
          </p:nvSpPr>
          <p:spPr>
            <a:xfrm>
              <a:off x="665105" y="6517464"/>
              <a:ext cx="7232744" cy="219456"/>
            </a:xfrm>
            <a:prstGeom prst="rect">
              <a:avLst/>
            </a:prstGeom>
            <a:noFill/>
          </p:spPr>
          <p:txBody>
            <a:bodyPr wrap="square" lIns="27432" tIns="18288" rIns="27432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 sz="1000" b="0">
                  <a:solidFill>
                    <a:srgbClr val="A3B5CB"/>
                  </a:solidFill>
                  <a:latin typeface="Aptos"/>
                </a:defRPr>
              </a:pPr>
              <a:r>
                <a: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USAL  ·  </a:t>
              </a:r>
              <a:r>
                <a:rPr kumimoji="0" sz="10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Investigación</a:t>
              </a:r>
              <a:r>
                <a: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 </a:t>
              </a:r>
              <a:r>
                <a:rPr kumimoji="0" sz="10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en</a:t>
              </a:r>
              <a:r>
                <a: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 </a:t>
              </a:r>
              <a:r>
                <a:rPr kumimoji="0" sz="10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Ciberseguridad</a:t>
              </a:r>
              <a:r>
                <a: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  ·  2026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6BC0881-A14B-FEC3-EA0B-1D1354A2C090}"/>
                </a:ext>
              </a:extLst>
            </p:cNvPr>
            <p:cNvSpPr txBox="1"/>
            <p:nvPr/>
          </p:nvSpPr>
          <p:spPr>
            <a:xfrm>
              <a:off x="10522337" y="6508320"/>
              <a:ext cx="914400" cy="218521"/>
            </a:xfrm>
            <a:prstGeom prst="rect">
              <a:avLst/>
            </a:prstGeom>
            <a:noFill/>
          </p:spPr>
          <p:txBody>
            <a:bodyPr wrap="square" lIns="27432" tIns="18288" rIns="27432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 sz="1000" b="0">
                  <a:solidFill>
                    <a:srgbClr val="A3B5CB"/>
                  </a:solidFill>
                  <a:latin typeface="Aptos"/>
                </a:defRPr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18</a:t>
              </a:r>
              <a:r>
                <a: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 / </a:t>
              </a: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25</a:t>
              </a:r>
              <a:endParaRPr kumimoji="0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</p:grpSp>
      <p:sp>
        <p:nvSpPr>
          <p:cNvPr id="20" name="Rectangle 45">
            <a:extLst>
              <a:ext uri="{FF2B5EF4-FFF2-40B4-BE49-F238E27FC236}">
                <a16:creationId xmlns:a16="http://schemas.microsoft.com/office/drawing/2014/main" id="{0394A72A-F4FB-5B28-FCB0-A9A331114737}"/>
              </a:ext>
            </a:extLst>
          </p:cNvPr>
          <p:cNvSpPr/>
          <p:nvPr/>
        </p:nvSpPr>
        <p:spPr>
          <a:xfrm>
            <a:off x="362243" y="268664"/>
            <a:ext cx="100584" cy="365760"/>
          </a:xfrm>
          <a:prstGeom prst="rect">
            <a:avLst/>
          </a:prstGeom>
          <a:solidFill>
            <a:srgbClr val="2AC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TextBox 47">
            <a:extLst>
              <a:ext uri="{FF2B5EF4-FFF2-40B4-BE49-F238E27FC236}">
                <a16:creationId xmlns:a16="http://schemas.microsoft.com/office/drawing/2014/main" id="{B6689C7F-043B-1891-22ED-672BC8D2E65A}"/>
              </a:ext>
            </a:extLst>
          </p:cNvPr>
          <p:cNvSpPr txBox="1"/>
          <p:nvPr/>
        </p:nvSpPr>
        <p:spPr>
          <a:xfrm>
            <a:off x="502920" y="332688"/>
            <a:ext cx="9144000" cy="23391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1100" b="1">
                <a:solidFill>
                  <a:srgbClr val="2ACED8"/>
                </a:solidFill>
                <a:latin typeface="Aptos"/>
              </a:defRPr>
            </a:pP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srgbClr val="2ACED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DATOS QUE RECOPILAREMOS DE ARTICULOS JCR Q1</a:t>
            </a:r>
          </a:p>
        </p:txBody>
      </p:sp>
    </p:spTree>
    <p:extLst>
      <p:ext uri="{BB962C8B-B14F-4D97-AF65-F5344CB8AC3E}">
        <p14:creationId xmlns:p14="http://schemas.microsoft.com/office/powerpoint/2010/main" val="8914252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4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768096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2900" b="1" noProof="0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que recopilaremos de artículos JCR Q1</a:t>
            </a:r>
            <a:endParaRPr lang="es-MX" sz="2900" noProof="0" dirty="0"/>
          </a:p>
        </p:txBody>
      </p:sp>
      <p:sp>
        <p:nvSpPr>
          <p:cNvPr id="5" name="Shape 3"/>
          <p:cNvSpPr/>
          <p:nvPr/>
        </p:nvSpPr>
        <p:spPr>
          <a:xfrm>
            <a:off x="502920" y="1490472"/>
            <a:ext cx="11109960" cy="0"/>
          </a:xfrm>
          <a:prstGeom prst="line">
            <a:avLst/>
          </a:prstGeom>
          <a:noFill/>
          <a:ln w="12700">
            <a:solidFill>
              <a:srgbClr val="2A4158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000" noProof="0" dirty="0">
                <a:solidFill>
                  <a:srgbClr val="B6C7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Investigación en Ciberseguridad  ·  USAL  ·  2026</a:t>
            </a:r>
            <a:endParaRPr lang="es-MX" sz="1000" noProof="0" dirty="0"/>
          </a:p>
        </p:txBody>
      </p:sp>
      <p:sp>
        <p:nvSpPr>
          <p:cNvPr id="8" name="Shape 6"/>
          <p:cNvSpPr/>
          <p:nvPr/>
        </p:nvSpPr>
        <p:spPr>
          <a:xfrm>
            <a:off x="685800" y="1801368"/>
            <a:ext cx="10789920" cy="676656"/>
          </a:xfrm>
          <a:prstGeom prst="roundRect">
            <a:avLst>
              <a:gd name="adj" fmla="val 21622"/>
            </a:avLst>
          </a:prstGeom>
          <a:solidFill>
            <a:srgbClr val="14243A"/>
          </a:solidFill>
          <a:ln w="8890">
            <a:solidFill>
              <a:srgbClr val="2A4158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9" name="Text 7"/>
          <p:cNvSpPr/>
          <p:nvPr/>
        </p:nvSpPr>
        <p:spPr>
          <a:xfrm>
            <a:off x="932688" y="1911096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800" b="1" noProof="0" dirty="0">
                <a:solidFill>
                  <a:srgbClr val="53D4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Ataque</a:t>
            </a:r>
            <a:endParaRPr lang="es-MX" sz="1800" noProof="0" dirty="0"/>
          </a:p>
        </p:txBody>
      </p:sp>
      <p:sp>
        <p:nvSpPr>
          <p:cNvPr id="10" name="Text 8"/>
          <p:cNvSpPr/>
          <p:nvPr/>
        </p:nvSpPr>
        <p:spPr>
          <a:xfrm>
            <a:off x="3813048" y="1901952"/>
            <a:ext cx="7406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700" noProof="0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Longitud de onda (nm), potencia (</a:t>
            </a:r>
            <a:r>
              <a:rPr lang="es-MX" sz="1700" noProof="0" dirty="0" err="1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mW</a:t>
            </a:r>
            <a:r>
              <a:rPr lang="es-MX" sz="1700" noProof="0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/W)</a:t>
            </a:r>
            <a:endParaRPr lang="es-MX" sz="1700" noProof="0" dirty="0"/>
          </a:p>
        </p:txBody>
      </p:sp>
      <p:sp>
        <p:nvSpPr>
          <p:cNvPr id="11" name="Shape 9"/>
          <p:cNvSpPr/>
          <p:nvPr/>
        </p:nvSpPr>
        <p:spPr>
          <a:xfrm>
            <a:off x="685800" y="2606040"/>
            <a:ext cx="10789920" cy="676656"/>
          </a:xfrm>
          <a:prstGeom prst="roundRect">
            <a:avLst>
              <a:gd name="adj" fmla="val 21622"/>
            </a:avLst>
          </a:prstGeom>
          <a:solidFill>
            <a:srgbClr val="0B1425"/>
          </a:solidFill>
          <a:ln w="8890">
            <a:solidFill>
              <a:srgbClr val="2A4158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12" name="Text 10"/>
          <p:cNvSpPr/>
          <p:nvPr/>
        </p:nvSpPr>
        <p:spPr>
          <a:xfrm>
            <a:off x="932688" y="271576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800" b="1" noProof="0" dirty="0">
                <a:solidFill>
                  <a:srgbClr val="53D4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Defensa</a:t>
            </a:r>
            <a:endParaRPr lang="es-MX" sz="1800" noProof="0" dirty="0"/>
          </a:p>
        </p:txBody>
      </p:sp>
      <p:sp>
        <p:nvSpPr>
          <p:cNvPr id="13" name="Text 11"/>
          <p:cNvSpPr/>
          <p:nvPr/>
        </p:nvSpPr>
        <p:spPr>
          <a:xfrm>
            <a:off x="3813048" y="2706624"/>
            <a:ext cx="7406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700" noProof="0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Aislamiento/atenuación (dB), tipo de componente</a:t>
            </a:r>
            <a:endParaRPr lang="es-MX" sz="1700" noProof="0" dirty="0"/>
          </a:p>
        </p:txBody>
      </p:sp>
      <p:sp>
        <p:nvSpPr>
          <p:cNvPr id="14" name="Shape 12"/>
          <p:cNvSpPr/>
          <p:nvPr/>
        </p:nvSpPr>
        <p:spPr>
          <a:xfrm>
            <a:off x="685800" y="3410712"/>
            <a:ext cx="10789920" cy="676656"/>
          </a:xfrm>
          <a:prstGeom prst="roundRect">
            <a:avLst>
              <a:gd name="adj" fmla="val 21622"/>
            </a:avLst>
          </a:prstGeom>
          <a:solidFill>
            <a:srgbClr val="14243A"/>
          </a:solidFill>
          <a:ln w="8890">
            <a:solidFill>
              <a:srgbClr val="2A4158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15" name="Text 13"/>
          <p:cNvSpPr/>
          <p:nvPr/>
        </p:nvSpPr>
        <p:spPr>
          <a:xfrm>
            <a:off x="932688" y="352044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800" b="1" noProof="0" dirty="0">
                <a:solidFill>
                  <a:srgbClr val="53D4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Efecto observado</a:t>
            </a:r>
            <a:endParaRPr lang="es-MX" sz="1800" noProof="0" dirty="0"/>
          </a:p>
        </p:txBody>
      </p:sp>
      <p:sp>
        <p:nvSpPr>
          <p:cNvPr id="16" name="Text 14"/>
          <p:cNvSpPr/>
          <p:nvPr/>
        </p:nvSpPr>
        <p:spPr>
          <a:xfrm>
            <a:off x="3813048" y="3511296"/>
            <a:ext cx="7406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700" noProof="0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Señal reflejada, umbrales y daño</a:t>
            </a:r>
            <a:endParaRPr lang="es-MX" sz="1700" noProof="0" dirty="0"/>
          </a:p>
        </p:txBody>
      </p:sp>
      <p:sp>
        <p:nvSpPr>
          <p:cNvPr id="17" name="Shape 15"/>
          <p:cNvSpPr/>
          <p:nvPr/>
        </p:nvSpPr>
        <p:spPr>
          <a:xfrm>
            <a:off x="685800" y="4215384"/>
            <a:ext cx="10789920" cy="676656"/>
          </a:xfrm>
          <a:prstGeom prst="roundRect">
            <a:avLst>
              <a:gd name="adj" fmla="val 21622"/>
            </a:avLst>
          </a:prstGeom>
          <a:solidFill>
            <a:srgbClr val="0B1425"/>
          </a:solidFill>
          <a:ln w="8890">
            <a:solidFill>
              <a:srgbClr val="2A4158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18" name="Text 16"/>
          <p:cNvSpPr/>
          <p:nvPr/>
        </p:nvSpPr>
        <p:spPr>
          <a:xfrm>
            <a:off x="932688" y="432511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800" b="1" noProof="0" dirty="0">
                <a:solidFill>
                  <a:srgbClr val="53D4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Impacto criptográfico</a:t>
            </a:r>
            <a:endParaRPr lang="es-MX" sz="1800" noProof="0" dirty="0"/>
          </a:p>
        </p:txBody>
      </p:sp>
      <p:sp>
        <p:nvSpPr>
          <p:cNvPr id="19" name="Text 17"/>
          <p:cNvSpPr/>
          <p:nvPr/>
        </p:nvSpPr>
        <p:spPr>
          <a:xfrm>
            <a:off x="3813048" y="4315968"/>
            <a:ext cx="7406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700" noProof="0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Información filtrada o tasa de clave, si se reporta</a:t>
            </a:r>
            <a:endParaRPr lang="es-MX" sz="1700" noProof="0" dirty="0"/>
          </a:p>
        </p:txBody>
      </p:sp>
      <p:sp>
        <p:nvSpPr>
          <p:cNvPr id="20" name="Shape 18"/>
          <p:cNvSpPr/>
          <p:nvPr/>
        </p:nvSpPr>
        <p:spPr>
          <a:xfrm>
            <a:off x="685800" y="5020056"/>
            <a:ext cx="10789920" cy="676656"/>
          </a:xfrm>
          <a:prstGeom prst="roundRect">
            <a:avLst>
              <a:gd name="adj" fmla="val 21622"/>
            </a:avLst>
          </a:prstGeom>
          <a:solidFill>
            <a:srgbClr val="14243A"/>
          </a:solidFill>
          <a:ln w="8890">
            <a:solidFill>
              <a:srgbClr val="2A4158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21" name="Text 19"/>
          <p:cNvSpPr/>
          <p:nvPr/>
        </p:nvSpPr>
        <p:spPr>
          <a:xfrm>
            <a:off x="932688" y="512978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800" b="1" noProof="0" dirty="0">
                <a:solidFill>
                  <a:srgbClr val="53D4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Contexto</a:t>
            </a:r>
            <a:endParaRPr lang="es-MX" sz="1800" noProof="0" dirty="0"/>
          </a:p>
        </p:txBody>
      </p:sp>
      <p:sp>
        <p:nvSpPr>
          <p:cNvPr id="22" name="Text 20"/>
          <p:cNvSpPr/>
          <p:nvPr/>
        </p:nvSpPr>
        <p:spPr>
          <a:xfrm>
            <a:off x="3813048" y="5120640"/>
            <a:ext cx="7406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700" noProof="0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Protocolo QKD, arquitectura y condiciones</a:t>
            </a:r>
            <a:endParaRPr lang="es-MX" sz="1700" noProof="0" dirty="0"/>
          </a:p>
        </p:txBody>
      </p:sp>
      <p:sp>
        <p:nvSpPr>
          <p:cNvPr id="23" name="Text 21"/>
          <p:cNvSpPr/>
          <p:nvPr/>
        </p:nvSpPr>
        <p:spPr>
          <a:xfrm>
            <a:off x="731520" y="5862267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500" noProof="0" dirty="0">
                <a:solidFill>
                  <a:srgbClr val="FFC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Trazabilidad: DOI · año y categoría JCR · tabla/figura/página · unidades · supuestos</a:t>
            </a:r>
            <a:endParaRPr lang="es-MX" sz="1500" noProof="0" dirty="0"/>
          </a:p>
        </p:txBody>
      </p:sp>
      <p:sp>
        <p:nvSpPr>
          <p:cNvPr id="24" name="Rectangle 11">
            <a:extLst>
              <a:ext uri="{FF2B5EF4-FFF2-40B4-BE49-F238E27FC236}">
                <a16:creationId xmlns:a16="http://schemas.microsoft.com/office/drawing/2014/main" id="{D3E0153A-267F-D733-9013-EF830EFBDF1E}"/>
              </a:ext>
            </a:extLst>
          </p:cNvPr>
          <p:cNvSpPr/>
          <p:nvPr/>
        </p:nvSpPr>
        <p:spPr>
          <a:xfrm>
            <a:off x="646817" y="6407736"/>
            <a:ext cx="10927080" cy="13716"/>
          </a:xfrm>
          <a:prstGeom prst="rect">
            <a:avLst/>
          </a:prstGeom>
          <a:solidFill>
            <a:srgbClr val="3A4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TextBox 18">
            <a:extLst>
              <a:ext uri="{FF2B5EF4-FFF2-40B4-BE49-F238E27FC236}">
                <a16:creationId xmlns:a16="http://schemas.microsoft.com/office/drawing/2014/main" id="{44F18704-6F80-5BFD-7D66-F83163A0BFC7}"/>
              </a:ext>
            </a:extLst>
          </p:cNvPr>
          <p:cNvSpPr txBox="1"/>
          <p:nvPr/>
        </p:nvSpPr>
        <p:spPr>
          <a:xfrm>
            <a:off x="10522337" y="6508320"/>
            <a:ext cx="914400" cy="218521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1000" b="0">
                <a:solidFill>
                  <a:srgbClr val="A3B5CB"/>
                </a:solidFill>
                <a:latin typeface="Aptos"/>
              </a:defRPr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1</a:t>
            </a:r>
            <a:r>
              <a:rPr lang="en-US" sz="1000" dirty="0">
                <a:solidFill>
                  <a:schemeClr val="bg1"/>
                </a:solidFill>
                <a:latin typeface="Aptos"/>
              </a:rPr>
              <a:t>9</a:t>
            </a: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/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25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6" name="Rectangle 45">
            <a:extLst>
              <a:ext uri="{FF2B5EF4-FFF2-40B4-BE49-F238E27FC236}">
                <a16:creationId xmlns:a16="http://schemas.microsoft.com/office/drawing/2014/main" id="{5ABDDD74-9F25-31B8-30D9-6208C7AE916E}"/>
              </a:ext>
            </a:extLst>
          </p:cNvPr>
          <p:cNvSpPr/>
          <p:nvPr/>
        </p:nvSpPr>
        <p:spPr>
          <a:xfrm>
            <a:off x="362243" y="268664"/>
            <a:ext cx="100584" cy="365760"/>
          </a:xfrm>
          <a:prstGeom prst="rect">
            <a:avLst/>
          </a:prstGeom>
          <a:solidFill>
            <a:srgbClr val="2AC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TextBox 47">
            <a:extLst>
              <a:ext uri="{FF2B5EF4-FFF2-40B4-BE49-F238E27FC236}">
                <a16:creationId xmlns:a16="http://schemas.microsoft.com/office/drawing/2014/main" id="{F0BF2C2D-F21B-6D7A-3170-6D791F7E170A}"/>
              </a:ext>
            </a:extLst>
          </p:cNvPr>
          <p:cNvSpPr txBox="1"/>
          <p:nvPr/>
        </p:nvSpPr>
        <p:spPr>
          <a:xfrm>
            <a:off x="502920" y="332688"/>
            <a:ext cx="9144000" cy="23391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1100" b="1">
                <a:solidFill>
                  <a:srgbClr val="2ACED8"/>
                </a:solidFill>
                <a:latin typeface="Aptos"/>
              </a:defRPr>
            </a:pP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srgbClr val="2ACED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DATOS QUE RECOPILAREMOS DE ARTICULOS JCR Q1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B8F8C8-6428-9AED-8BF0-23F07646F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960A025C-BD07-D144-1877-4B1FDEDA0435}"/>
              </a:ext>
            </a:extLst>
          </p:cNvPr>
          <p:cNvSpPr/>
          <p:nvPr/>
        </p:nvSpPr>
        <p:spPr>
          <a:xfrm>
            <a:off x="502920" y="768096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MX" sz="2900" b="1" noProof="0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s-MX" sz="2900" b="1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Búsqueda exploratoria</a:t>
            </a:r>
            <a:endParaRPr lang="es-MX" sz="2900" noProof="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EC4F93F-8FE4-5820-D576-0D1B645DB223}"/>
              </a:ext>
            </a:extLst>
          </p:cNvPr>
          <p:cNvSpPr/>
          <p:nvPr/>
        </p:nvSpPr>
        <p:spPr>
          <a:xfrm>
            <a:off x="502920" y="1490472"/>
            <a:ext cx="11109960" cy="0"/>
          </a:xfrm>
          <a:prstGeom prst="line">
            <a:avLst/>
          </a:prstGeom>
          <a:noFill/>
          <a:ln w="12700">
            <a:solidFill>
              <a:srgbClr val="2A4158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9" name="Shape 12">
            <a:extLst>
              <a:ext uri="{FF2B5EF4-FFF2-40B4-BE49-F238E27FC236}">
                <a16:creationId xmlns:a16="http://schemas.microsoft.com/office/drawing/2014/main" id="{C7EE8770-52F7-9D7D-61B3-2ADB52F8D46D}"/>
              </a:ext>
            </a:extLst>
          </p:cNvPr>
          <p:cNvSpPr/>
          <p:nvPr/>
        </p:nvSpPr>
        <p:spPr>
          <a:xfrm>
            <a:off x="500915" y="3453396"/>
            <a:ext cx="3240000" cy="2160000"/>
          </a:xfrm>
          <a:prstGeom prst="roundRect">
            <a:avLst>
              <a:gd name="adj" fmla="val 21622"/>
            </a:avLst>
          </a:prstGeom>
          <a:solidFill>
            <a:srgbClr val="14243A"/>
          </a:solidFill>
          <a:ln w="8890">
            <a:solidFill>
              <a:srgbClr val="2A4158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10" name="Text 13">
            <a:extLst>
              <a:ext uri="{FF2B5EF4-FFF2-40B4-BE49-F238E27FC236}">
                <a16:creationId xmlns:a16="http://schemas.microsoft.com/office/drawing/2014/main" id="{667CCCB2-112D-F282-8ACF-BB0AABEC405E}"/>
              </a:ext>
            </a:extLst>
          </p:cNvPr>
          <p:cNvSpPr/>
          <p:nvPr/>
        </p:nvSpPr>
        <p:spPr>
          <a:xfrm>
            <a:off x="920660" y="3863662"/>
            <a:ext cx="23424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MX" b="1" dirty="0">
                <a:solidFill>
                  <a:srgbClr val="53D4D0"/>
                </a:solidFill>
                <a:latin typeface="Aptos" pitchFamily="34" charset="0"/>
              </a:rPr>
              <a:t>1. Longitud de onda</a:t>
            </a:r>
            <a:endParaRPr lang="es-MX" dirty="0"/>
          </a:p>
        </p:txBody>
      </p:sp>
      <p:sp>
        <p:nvSpPr>
          <p:cNvPr id="12" name="Text 14">
            <a:extLst>
              <a:ext uri="{FF2B5EF4-FFF2-40B4-BE49-F238E27FC236}">
                <a16:creationId xmlns:a16="http://schemas.microsoft.com/office/drawing/2014/main" id="{33D4AE60-AE86-D50A-AB57-1003203A7692}"/>
              </a:ext>
            </a:extLst>
          </p:cNvPr>
          <p:cNvSpPr/>
          <p:nvPr/>
        </p:nvSpPr>
        <p:spPr>
          <a:xfrm>
            <a:off x="1033595" y="4221811"/>
            <a:ext cx="2037298" cy="953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MX" sz="1700" noProof="0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Longitud de onda de la luz inyectada, expresada en nm.</a:t>
            </a:r>
            <a:endParaRPr lang="es-MX" sz="1700" dirty="0">
              <a:solidFill>
                <a:srgbClr val="F4F7FC"/>
              </a:solidFill>
              <a:latin typeface="Aptos" pitchFamily="34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7CFB24D-957C-036B-826F-A66DFC090680}"/>
              </a:ext>
            </a:extLst>
          </p:cNvPr>
          <p:cNvGrpSpPr/>
          <p:nvPr/>
        </p:nvGrpSpPr>
        <p:grpSpPr>
          <a:xfrm>
            <a:off x="4136095" y="3471686"/>
            <a:ext cx="3240000" cy="2160000"/>
            <a:chOff x="500915" y="1786690"/>
            <a:chExt cx="3783264" cy="1728857"/>
          </a:xfrm>
        </p:grpSpPr>
        <p:sp>
          <p:nvSpPr>
            <p:cNvPr id="15" name="Shape 12">
              <a:extLst>
                <a:ext uri="{FF2B5EF4-FFF2-40B4-BE49-F238E27FC236}">
                  <a16:creationId xmlns:a16="http://schemas.microsoft.com/office/drawing/2014/main" id="{7A8DDE21-A24C-1157-364E-B8D8099DA4EA}"/>
                </a:ext>
              </a:extLst>
            </p:cNvPr>
            <p:cNvSpPr/>
            <p:nvPr/>
          </p:nvSpPr>
          <p:spPr>
            <a:xfrm>
              <a:off x="500915" y="1786690"/>
              <a:ext cx="3783264" cy="1728857"/>
            </a:xfrm>
            <a:prstGeom prst="roundRect">
              <a:avLst>
                <a:gd name="adj" fmla="val 21622"/>
              </a:avLst>
            </a:prstGeom>
            <a:solidFill>
              <a:srgbClr val="14243A"/>
            </a:solidFill>
            <a:ln w="8890">
              <a:solidFill>
                <a:srgbClr val="2A4158"/>
              </a:solidFill>
              <a:prstDash val="solid"/>
            </a:ln>
          </p:spPr>
          <p:txBody>
            <a:bodyPr/>
            <a:lstStyle/>
            <a:p>
              <a:endParaRPr lang="es-MX" noProof="0" dirty="0"/>
            </a:p>
          </p:txBody>
        </p:sp>
        <p:sp>
          <p:nvSpPr>
            <p:cNvPr id="16" name="Text 13">
              <a:extLst>
                <a:ext uri="{FF2B5EF4-FFF2-40B4-BE49-F238E27FC236}">
                  <a16:creationId xmlns:a16="http://schemas.microsoft.com/office/drawing/2014/main" id="{20AD3318-1F24-D969-1B36-49272AFB998F}"/>
                </a:ext>
              </a:extLst>
            </p:cNvPr>
            <p:cNvSpPr/>
            <p:nvPr/>
          </p:nvSpPr>
          <p:spPr>
            <a:xfrm>
              <a:off x="894588" y="1997645"/>
              <a:ext cx="2196955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s-MX" b="1" dirty="0">
                  <a:solidFill>
                    <a:srgbClr val="53D4D0"/>
                  </a:solidFill>
                  <a:latin typeface="Aptos" pitchFamily="34" charset="0"/>
                </a:rPr>
                <a:t>2. Potencia óptica</a:t>
              </a:r>
              <a:endParaRPr lang="es-MX" dirty="0"/>
            </a:p>
          </p:txBody>
        </p:sp>
      </p:grpSp>
      <p:sp>
        <p:nvSpPr>
          <p:cNvPr id="18" name="Text 14">
            <a:extLst>
              <a:ext uri="{FF2B5EF4-FFF2-40B4-BE49-F238E27FC236}">
                <a16:creationId xmlns:a16="http://schemas.microsoft.com/office/drawing/2014/main" id="{E48E30A0-276C-AFA2-4265-009D8B4D83DA}"/>
              </a:ext>
            </a:extLst>
          </p:cNvPr>
          <p:cNvSpPr/>
          <p:nvPr/>
        </p:nvSpPr>
        <p:spPr>
          <a:xfrm>
            <a:off x="4503621" y="4194756"/>
            <a:ext cx="240384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MX" sz="1700" dirty="0">
                <a:solidFill>
                  <a:srgbClr val="F4F7FC"/>
                </a:solidFill>
                <a:latin typeface="Aptos" pitchFamily="34" charset="0"/>
              </a:rPr>
              <a:t>Potencia de la señal inyectada, con sus unidades y condiciones de medida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9B889F4-45F5-FDC9-7070-DF4D0A602C9F}"/>
              </a:ext>
            </a:extLst>
          </p:cNvPr>
          <p:cNvGrpSpPr/>
          <p:nvPr/>
        </p:nvGrpSpPr>
        <p:grpSpPr>
          <a:xfrm>
            <a:off x="7771275" y="3429000"/>
            <a:ext cx="3240000" cy="2160000"/>
            <a:chOff x="500915" y="1786690"/>
            <a:chExt cx="3580278" cy="1728857"/>
          </a:xfrm>
        </p:grpSpPr>
        <p:sp>
          <p:nvSpPr>
            <p:cNvPr id="20" name="Shape 12">
              <a:extLst>
                <a:ext uri="{FF2B5EF4-FFF2-40B4-BE49-F238E27FC236}">
                  <a16:creationId xmlns:a16="http://schemas.microsoft.com/office/drawing/2014/main" id="{5CA87002-C4EF-11E8-CCE7-AB78FCD8875A}"/>
                </a:ext>
              </a:extLst>
            </p:cNvPr>
            <p:cNvSpPr/>
            <p:nvPr/>
          </p:nvSpPr>
          <p:spPr>
            <a:xfrm>
              <a:off x="500915" y="1786690"/>
              <a:ext cx="3580278" cy="1728857"/>
            </a:xfrm>
            <a:prstGeom prst="roundRect">
              <a:avLst>
                <a:gd name="adj" fmla="val 21622"/>
              </a:avLst>
            </a:prstGeom>
            <a:solidFill>
              <a:srgbClr val="14243A"/>
            </a:solidFill>
            <a:ln w="8890">
              <a:solidFill>
                <a:srgbClr val="2A4158"/>
              </a:solidFill>
              <a:prstDash val="solid"/>
            </a:ln>
          </p:spPr>
          <p:txBody>
            <a:bodyPr/>
            <a:lstStyle/>
            <a:p>
              <a:endParaRPr lang="es-MX" noProof="0" dirty="0"/>
            </a:p>
          </p:txBody>
        </p:sp>
        <p:sp>
          <p:nvSpPr>
            <p:cNvPr id="22" name="Text 13">
              <a:extLst>
                <a:ext uri="{FF2B5EF4-FFF2-40B4-BE49-F238E27FC236}">
                  <a16:creationId xmlns:a16="http://schemas.microsoft.com/office/drawing/2014/main" id="{0CB6D716-EE46-E1EE-3F31-1E090D8C3AA9}"/>
                </a:ext>
              </a:extLst>
            </p:cNvPr>
            <p:cNvSpPr/>
            <p:nvPr/>
          </p:nvSpPr>
          <p:spPr>
            <a:xfrm>
              <a:off x="894588" y="1997645"/>
              <a:ext cx="2196955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s-MX" b="1" dirty="0">
                  <a:solidFill>
                    <a:srgbClr val="53D4D0"/>
                  </a:solidFill>
                  <a:latin typeface="Aptos" pitchFamily="34" charset="0"/>
                </a:rPr>
                <a:t>3. Contramedidas</a:t>
              </a:r>
              <a:endParaRPr lang="es-MX" dirty="0"/>
            </a:p>
          </p:txBody>
        </p:sp>
      </p:grpSp>
      <p:sp>
        <p:nvSpPr>
          <p:cNvPr id="27" name="Text 14">
            <a:extLst>
              <a:ext uri="{FF2B5EF4-FFF2-40B4-BE49-F238E27FC236}">
                <a16:creationId xmlns:a16="http://schemas.microsoft.com/office/drawing/2014/main" id="{2922033D-3780-6CEA-5D5D-64872C53CFFC}"/>
              </a:ext>
            </a:extLst>
          </p:cNvPr>
          <p:cNvSpPr/>
          <p:nvPr/>
        </p:nvSpPr>
        <p:spPr>
          <a:xfrm>
            <a:off x="8163835" y="4064830"/>
            <a:ext cx="3101285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MX" sz="1700" dirty="0">
                <a:solidFill>
                  <a:srgbClr val="F4F7FC"/>
                </a:solidFill>
                <a:latin typeface="Aptos" pitchFamily="34" charset="0"/>
              </a:rPr>
              <a:t>Atenuación óptica (dB) y componentes de protección utilizados.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7544EF6-BD4C-DDFF-9A43-95DA4845C76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053" r="66763" b="20995"/>
          <a:stretch>
            <a:fillRect/>
          </a:stretch>
        </p:blipFill>
        <p:spPr>
          <a:xfrm>
            <a:off x="1173545" y="1713669"/>
            <a:ext cx="1757398" cy="153482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C7A3635-5D6C-D481-7EB5-16C2842692A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892" r="35419" b="19716"/>
          <a:stretch>
            <a:fillRect/>
          </a:stretch>
        </p:blipFill>
        <p:spPr>
          <a:xfrm>
            <a:off x="4627807" y="1508761"/>
            <a:ext cx="2279654" cy="192394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11FDB39F-2D9F-71E6-2415-3B168AC5B09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6522" r="4501" b="19546"/>
          <a:stretch>
            <a:fillRect/>
          </a:stretch>
        </p:blipFill>
        <p:spPr>
          <a:xfrm>
            <a:off x="8393103" y="1572769"/>
            <a:ext cx="1996343" cy="1788172"/>
          </a:xfrm>
          <a:prstGeom prst="rect">
            <a:avLst/>
          </a:prstGeom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34F31379-7397-260B-7F9F-40CCE1B699E4}"/>
              </a:ext>
            </a:extLst>
          </p:cNvPr>
          <p:cNvGrpSpPr/>
          <p:nvPr/>
        </p:nvGrpSpPr>
        <p:grpSpPr>
          <a:xfrm>
            <a:off x="646817" y="6407736"/>
            <a:ext cx="10927080" cy="329184"/>
            <a:chOff x="646817" y="6407736"/>
            <a:chExt cx="10927080" cy="329184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5FF619AB-C69A-1C37-5474-3819ABBA4100}"/>
                </a:ext>
              </a:extLst>
            </p:cNvPr>
            <p:cNvSpPr/>
            <p:nvPr/>
          </p:nvSpPr>
          <p:spPr>
            <a:xfrm>
              <a:off x="646817" y="6407736"/>
              <a:ext cx="10927080" cy="13716"/>
            </a:xfrm>
            <a:prstGeom prst="rect">
              <a:avLst/>
            </a:prstGeom>
            <a:solidFill>
              <a:srgbClr val="3A4D6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4DF5CBB1-13F0-361B-C541-1A76394F5B1B}"/>
                </a:ext>
              </a:extLst>
            </p:cNvPr>
            <p:cNvSpPr txBox="1"/>
            <p:nvPr/>
          </p:nvSpPr>
          <p:spPr>
            <a:xfrm>
              <a:off x="665105" y="6517464"/>
              <a:ext cx="7232744" cy="219456"/>
            </a:xfrm>
            <a:prstGeom prst="rect">
              <a:avLst/>
            </a:prstGeom>
            <a:noFill/>
          </p:spPr>
          <p:txBody>
            <a:bodyPr wrap="square" lIns="27432" tIns="18288" rIns="27432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 sz="1000" b="0">
                  <a:solidFill>
                    <a:srgbClr val="A3B5CB"/>
                  </a:solidFill>
                  <a:latin typeface="Aptos"/>
                </a:defRPr>
              </a:pPr>
              <a:r>
                <a: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USAL  ·  </a:t>
              </a:r>
              <a:r>
                <a:rPr kumimoji="0" sz="10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Investigación</a:t>
              </a:r>
              <a:r>
                <a: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 </a:t>
              </a:r>
              <a:r>
                <a:rPr kumimoji="0" sz="10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en</a:t>
              </a:r>
              <a:r>
                <a: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 </a:t>
              </a:r>
              <a:r>
                <a:rPr kumimoji="0" sz="10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Ciberseguridad</a:t>
              </a:r>
              <a:r>
                <a: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  ·  2026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8882D49E-6354-5589-8BFC-01FF1DDAD164}"/>
                </a:ext>
              </a:extLst>
            </p:cNvPr>
            <p:cNvSpPr txBox="1"/>
            <p:nvPr/>
          </p:nvSpPr>
          <p:spPr>
            <a:xfrm>
              <a:off x="10522337" y="6508320"/>
              <a:ext cx="914400" cy="218521"/>
            </a:xfrm>
            <a:prstGeom prst="rect">
              <a:avLst/>
            </a:prstGeom>
            <a:noFill/>
          </p:spPr>
          <p:txBody>
            <a:bodyPr wrap="square" lIns="27432" tIns="18288" rIns="27432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 sz="1000" b="0">
                  <a:solidFill>
                    <a:srgbClr val="A3B5CB"/>
                  </a:solidFill>
                  <a:latin typeface="Aptos"/>
                </a:defRPr>
              </a:pPr>
              <a:r>
                <a:rPr lang="en-US" sz="1000" dirty="0">
                  <a:solidFill>
                    <a:schemeClr val="bg1"/>
                  </a:solidFill>
                  <a:latin typeface="Aptos"/>
                </a:rPr>
                <a:t>20</a:t>
              </a:r>
              <a:r>
                <a: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 / </a:t>
              </a: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25</a:t>
              </a:r>
              <a:endParaRPr kumimoji="0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</p:grpSp>
      <p:sp>
        <p:nvSpPr>
          <p:cNvPr id="24" name="Rectangle 45">
            <a:extLst>
              <a:ext uri="{FF2B5EF4-FFF2-40B4-BE49-F238E27FC236}">
                <a16:creationId xmlns:a16="http://schemas.microsoft.com/office/drawing/2014/main" id="{6618E171-5889-0C64-0711-3884BB8AC026}"/>
              </a:ext>
            </a:extLst>
          </p:cNvPr>
          <p:cNvSpPr/>
          <p:nvPr/>
        </p:nvSpPr>
        <p:spPr>
          <a:xfrm>
            <a:off x="362243" y="268664"/>
            <a:ext cx="100584" cy="365760"/>
          </a:xfrm>
          <a:prstGeom prst="rect">
            <a:avLst/>
          </a:prstGeom>
          <a:solidFill>
            <a:srgbClr val="2AC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TextBox 47">
            <a:extLst>
              <a:ext uri="{FF2B5EF4-FFF2-40B4-BE49-F238E27FC236}">
                <a16:creationId xmlns:a16="http://schemas.microsoft.com/office/drawing/2014/main" id="{0E2465D3-465D-FAF8-61B2-BADEF399B1DE}"/>
              </a:ext>
            </a:extLst>
          </p:cNvPr>
          <p:cNvSpPr txBox="1"/>
          <p:nvPr/>
        </p:nvSpPr>
        <p:spPr>
          <a:xfrm>
            <a:off x="502920" y="291654"/>
            <a:ext cx="9144000" cy="310854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1100" b="1">
                <a:solidFill>
                  <a:srgbClr val="2ACED8"/>
                </a:solidFill>
                <a:latin typeface="Aptos"/>
              </a:defRPr>
            </a:pPr>
            <a:r>
              <a:rPr kumimoji="0" lang="es-MX" sz="1600" b="1" i="0" u="none" strike="noStrike" kern="1200" cap="none" spc="0" normalizeH="0" baseline="0" noProof="0" dirty="0">
                <a:ln>
                  <a:noFill/>
                </a:ln>
                <a:solidFill>
                  <a:srgbClr val="2ACED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  <a:r>
              <a:rPr lang="es-MX" sz="1100" b="1" dirty="0">
                <a:solidFill>
                  <a:srgbClr val="2ACED8"/>
                </a:solidFill>
                <a:latin typeface="Aptos"/>
              </a:rPr>
              <a:t>BUSQUEDA EXPLORATORIA</a:t>
            </a:r>
            <a:endParaRPr kumimoji="0" lang="es-MX" sz="1600" b="1" i="0" u="none" strike="noStrike" kern="1200" cap="none" spc="0" normalizeH="0" baseline="0" noProof="0" dirty="0">
              <a:ln>
                <a:noFill/>
              </a:ln>
              <a:solidFill>
                <a:srgbClr val="2ACED8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856537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DA66E3-0F2A-C1EC-431F-07C2AAEB8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F91F15F4-9905-3CBD-F742-CFBD95F81CB1}"/>
              </a:ext>
            </a:extLst>
          </p:cNvPr>
          <p:cNvSpPr/>
          <p:nvPr/>
        </p:nvSpPr>
        <p:spPr>
          <a:xfrm>
            <a:off x="502920" y="768096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MX" sz="2900" b="1" noProof="0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s-MX" sz="2900" b="1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Búsqueda exploratoria</a:t>
            </a:r>
            <a:endParaRPr lang="es-MX" sz="2900" noProof="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06F0962-BF71-B05A-5289-BB1DC692AC1F}"/>
              </a:ext>
            </a:extLst>
          </p:cNvPr>
          <p:cNvSpPr/>
          <p:nvPr/>
        </p:nvSpPr>
        <p:spPr>
          <a:xfrm>
            <a:off x="502920" y="1490472"/>
            <a:ext cx="11109960" cy="0"/>
          </a:xfrm>
          <a:prstGeom prst="line">
            <a:avLst/>
          </a:prstGeom>
          <a:noFill/>
          <a:ln w="12700">
            <a:solidFill>
              <a:srgbClr val="2A4158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289A796-353A-5E75-E839-F99EAE64BF9A}"/>
              </a:ext>
            </a:extLst>
          </p:cNvPr>
          <p:cNvGrpSpPr/>
          <p:nvPr/>
        </p:nvGrpSpPr>
        <p:grpSpPr>
          <a:xfrm>
            <a:off x="903676" y="3865323"/>
            <a:ext cx="2880000" cy="2160000"/>
            <a:chOff x="500914" y="1786690"/>
            <a:chExt cx="3486052" cy="1728857"/>
          </a:xfrm>
        </p:grpSpPr>
        <p:sp>
          <p:nvSpPr>
            <p:cNvPr id="29" name="Shape 12">
              <a:extLst>
                <a:ext uri="{FF2B5EF4-FFF2-40B4-BE49-F238E27FC236}">
                  <a16:creationId xmlns:a16="http://schemas.microsoft.com/office/drawing/2014/main" id="{4F264D43-19EF-6FD5-3028-E9B9E7AFD13B}"/>
                </a:ext>
              </a:extLst>
            </p:cNvPr>
            <p:cNvSpPr/>
            <p:nvPr/>
          </p:nvSpPr>
          <p:spPr>
            <a:xfrm>
              <a:off x="500914" y="1786690"/>
              <a:ext cx="3486052" cy="1728857"/>
            </a:xfrm>
            <a:prstGeom prst="roundRect">
              <a:avLst>
                <a:gd name="adj" fmla="val 21622"/>
              </a:avLst>
            </a:prstGeom>
            <a:solidFill>
              <a:srgbClr val="14243A"/>
            </a:solidFill>
            <a:ln w="8890">
              <a:solidFill>
                <a:srgbClr val="2A4158"/>
              </a:solidFill>
              <a:prstDash val="solid"/>
            </a:ln>
          </p:spPr>
          <p:txBody>
            <a:bodyPr/>
            <a:lstStyle/>
            <a:p>
              <a:endParaRPr lang="es-MX" noProof="0" dirty="0"/>
            </a:p>
          </p:txBody>
        </p:sp>
        <p:sp>
          <p:nvSpPr>
            <p:cNvPr id="31" name="Text 13">
              <a:extLst>
                <a:ext uri="{FF2B5EF4-FFF2-40B4-BE49-F238E27FC236}">
                  <a16:creationId xmlns:a16="http://schemas.microsoft.com/office/drawing/2014/main" id="{8426C2A5-381B-D9DE-3469-97EE3A2BAEF4}"/>
                </a:ext>
              </a:extLst>
            </p:cNvPr>
            <p:cNvSpPr/>
            <p:nvPr/>
          </p:nvSpPr>
          <p:spPr>
            <a:xfrm>
              <a:off x="894588" y="1997645"/>
              <a:ext cx="2892535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s-MX" b="1" dirty="0">
                  <a:solidFill>
                    <a:srgbClr val="53D4D0"/>
                  </a:solidFill>
                  <a:latin typeface="Aptos" pitchFamily="34" charset="0"/>
                </a:rPr>
                <a:t>4. Efectos experimentales</a:t>
              </a:r>
              <a:endParaRPr lang="es-MX" dirty="0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C881185C-1724-AFF7-A68D-4E80E87FFDC0}"/>
              </a:ext>
            </a:extLst>
          </p:cNvPr>
          <p:cNvGrpSpPr/>
          <p:nvPr/>
        </p:nvGrpSpPr>
        <p:grpSpPr>
          <a:xfrm>
            <a:off x="4082566" y="3883163"/>
            <a:ext cx="3600000" cy="2160000"/>
            <a:chOff x="772401" y="1786690"/>
            <a:chExt cx="2792734" cy="1728857"/>
          </a:xfrm>
        </p:grpSpPr>
        <p:sp>
          <p:nvSpPr>
            <p:cNvPr id="36" name="Shape 12">
              <a:extLst>
                <a:ext uri="{FF2B5EF4-FFF2-40B4-BE49-F238E27FC236}">
                  <a16:creationId xmlns:a16="http://schemas.microsoft.com/office/drawing/2014/main" id="{47783773-D7E8-CE60-2328-6E01402A2C3A}"/>
                </a:ext>
              </a:extLst>
            </p:cNvPr>
            <p:cNvSpPr/>
            <p:nvPr/>
          </p:nvSpPr>
          <p:spPr>
            <a:xfrm>
              <a:off x="772401" y="1786690"/>
              <a:ext cx="2792734" cy="1728857"/>
            </a:xfrm>
            <a:prstGeom prst="roundRect">
              <a:avLst>
                <a:gd name="adj" fmla="val 21622"/>
              </a:avLst>
            </a:prstGeom>
            <a:solidFill>
              <a:srgbClr val="14243A"/>
            </a:solidFill>
            <a:ln w="8890">
              <a:solidFill>
                <a:srgbClr val="2A4158"/>
              </a:solidFill>
              <a:prstDash val="solid"/>
            </a:ln>
          </p:spPr>
          <p:txBody>
            <a:bodyPr/>
            <a:lstStyle/>
            <a:p>
              <a:endParaRPr lang="es-MX" noProof="0" dirty="0"/>
            </a:p>
          </p:txBody>
        </p:sp>
        <p:sp>
          <p:nvSpPr>
            <p:cNvPr id="39" name="Text 13">
              <a:extLst>
                <a:ext uri="{FF2B5EF4-FFF2-40B4-BE49-F238E27FC236}">
                  <a16:creationId xmlns:a16="http://schemas.microsoft.com/office/drawing/2014/main" id="{1A489E6F-1B83-7148-F7ED-130A7EEB911E}"/>
                </a:ext>
              </a:extLst>
            </p:cNvPr>
            <p:cNvSpPr/>
            <p:nvPr/>
          </p:nvSpPr>
          <p:spPr>
            <a:xfrm>
              <a:off x="959493" y="1984220"/>
              <a:ext cx="2196955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s-MX" b="1" dirty="0">
                  <a:solidFill>
                    <a:srgbClr val="53D4D0"/>
                  </a:solidFill>
                  <a:latin typeface="Aptos" pitchFamily="34" charset="0"/>
                </a:rPr>
                <a:t>5. Métricas de seguridad</a:t>
              </a:r>
              <a:endParaRPr lang="es-MX" dirty="0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2A83565C-B100-B33F-8C7F-B972B2350A64}"/>
              </a:ext>
            </a:extLst>
          </p:cNvPr>
          <p:cNvGrpSpPr/>
          <p:nvPr/>
        </p:nvGrpSpPr>
        <p:grpSpPr>
          <a:xfrm>
            <a:off x="8227812" y="3953490"/>
            <a:ext cx="2909942" cy="2160000"/>
            <a:chOff x="500915" y="1786690"/>
            <a:chExt cx="2909942" cy="1728857"/>
          </a:xfrm>
        </p:grpSpPr>
        <p:sp>
          <p:nvSpPr>
            <p:cNvPr id="43" name="Shape 12">
              <a:extLst>
                <a:ext uri="{FF2B5EF4-FFF2-40B4-BE49-F238E27FC236}">
                  <a16:creationId xmlns:a16="http://schemas.microsoft.com/office/drawing/2014/main" id="{4C18CF41-6C5E-F153-4CF4-FE0075FA73BD}"/>
                </a:ext>
              </a:extLst>
            </p:cNvPr>
            <p:cNvSpPr/>
            <p:nvPr/>
          </p:nvSpPr>
          <p:spPr>
            <a:xfrm>
              <a:off x="500915" y="1786690"/>
              <a:ext cx="2909942" cy="1728857"/>
            </a:xfrm>
            <a:prstGeom prst="roundRect">
              <a:avLst>
                <a:gd name="adj" fmla="val 21622"/>
              </a:avLst>
            </a:prstGeom>
            <a:solidFill>
              <a:srgbClr val="14243A"/>
            </a:solidFill>
            <a:ln w="8890">
              <a:solidFill>
                <a:srgbClr val="2A4158"/>
              </a:solidFill>
              <a:prstDash val="solid"/>
            </a:ln>
          </p:spPr>
          <p:txBody>
            <a:bodyPr/>
            <a:lstStyle/>
            <a:p>
              <a:endParaRPr lang="es-MX" noProof="0" dirty="0"/>
            </a:p>
          </p:txBody>
        </p:sp>
        <p:sp>
          <p:nvSpPr>
            <p:cNvPr id="45" name="Text 13">
              <a:extLst>
                <a:ext uri="{FF2B5EF4-FFF2-40B4-BE49-F238E27FC236}">
                  <a16:creationId xmlns:a16="http://schemas.microsoft.com/office/drawing/2014/main" id="{01D3E7A3-75FB-377C-6E21-99FCF5983115}"/>
                </a:ext>
              </a:extLst>
            </p:cNvPr>
            <p:cNvSpPr/>
            <p:nvPr/>
          </p:nvSpPr>
          <p:spPr>
            <a:xfrm>
              <a:off x="819658" y="1876326"/>
              <a:ext cx="2196955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s-MX" b="1" dirty="0">
                  <a:solidFill>
                    <a:srgbClr val="53D4D0"/>
                  </a:solidFill>
                  <a:latin typeface="Aptos" pitchFamily="34" charset="0"/>
                </a:rPr>
                <a:t>6. Trazabilidad</a:t>
              </a:r>
              <a:endParaRPr lang="es-MX" dirty="0"/>
            </a:p>
          </p:txBody>
        </p:sp>
      </p:grpSp>
      <p:sp>
        <p:nvSpPr>
          <p:cNvPr id="49" name="Text 14">
            <a:extLst>
              <a:ext uri="{FF2B5EF4-FFF2-40B4-BE49-F238E27FC236}">
                <a16:creationId xmlns:a16="http://schemas.microsoft.com/office/drawing/2014/main" id="{88D0472C-E501-539E-2694-948C7472AEC0}"/>
              </a:ext>
            </a:extLst>
          </p:cNvPr>
          <p:cNvSpPr/>
          <p:nvPr/>
        </p:nvSpPr>
        <p:spPr>
          <a:xfrm>
            <a:off x="1254661" y="4475189"/>
            <a:ext cx="2120456" cy="1532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MX" sz="1700" dirty="0">
                <a:solidFill>
                  <a:srgbClr val="F4F7FC"/>
                </a:solidFill>
                <a:latin typeface="Aptos" pitchFamily="34" charset="0"/>
              </a:rPr>
              <a:t>Señales reflejadas, umbrales de funcionamiento y daños en dispositivos.</a:t>
            </a:r>
          </a:p>
        </p:txBody>
      </p:sp>
      <p:sp>
        <p:nvSpPr>
          <p:cNvPr id="51" name="Text 14">
            <a:extLst>
              <a:ext uri="{FF2B5EF4-FFF2-40B4-BE49-F238E27FC236}">
                <a16:creationId xmlns:a16="http://schemas.microsoft.com/office/drawing/2014/main" id="{18F17567-12A5-D970-528F-E1E3A60A9C48}"/>
              </a:ext>
            </a:extLst>
          </p:cNvPr>
          <p:cNvSpPr/>
          <p:nvPr/>
        </p:nvSpPr>
        <p:spPr>
          <a:xfrm>
            <a:off x="4353861" y="4697329"/>
            <a:ext cx="2832005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MX" sz="1700" dirty="0">
                <a:solidFill>
                  <a:srgbClr val="F4F7FC"/>
                </a:solidFill>
                <a:latin typeface="Aptos" pitchFamily="34" charset="0"/>
              </a:rPr>
              <a:t>Filtración estimada de información y tasa de generación de claves secreta, cuando estén disponibles</a:t>
            </a:r>
          </a:p>
        </p:txBody>
      </p:sp>
      <p:sp>
        <p:nvSpPr>
          <p:cNvPr id="53" name="Text 14">
            <a:extLst>
              <a:ext uri="{FF2B5EF4-FFF2-40B4-BE49-F238E27FC236}">
                <a16:creationId xmlns:a16="http://schemas.microsoft.com/office/drawing/2014/main" id="{59F628C8-858B-1DF7-CB66-259B441C10C9}"/>
              </a:ext>
            </a:extLst>
          </p:cNvPr>
          <p:cNvSpPr/>
          <p:nvPr/>
        </p:nvSpPr>
        <p:spPr>
          <a:xfrm>
            <a:off x="8546555" y="4631557"/>
            <a:ext cx="2390784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MX" sz="1700" dirty="0">
                <a:solidFill>
                  <a:srgbClr val="F4F7FC"/>
                </a:solidFill>
                <a:latin typeface="Aptos" pitchFamily="34" charset="0"/>
              </a:rPr>
              <a:t>Unidades, condiciones experimentales y referencia exacta de cada dato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0D2D3E1-0FA1-A488-AB4A-D132D3C870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495" t="445" r="66915" b="20655"/>
          <a:stretch>
            <a:fillRect/>
          </a:stretch>
        </p:blipFill>
        <p:spPr>
          <a:xfrm>
            <a:off x="971099" y="1360386"/>
            <a:ext cx="2595353" cy="247408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649CA46-E073-1AB0-AE69-A2ECF7F8F5C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430" r="34560" b="23734"/>
          <a:stretch>
            <a:fillRect/>
          </a:stretch>
        </p:blipFill>
        <p:spPr>
          <a:xfrm>
            <a:off x="4695892" y="1449608"/>
            <a:ext cx="2800215" cy="2295638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3240AB25-B952-E7D2-2C90-D38507D253F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6785" r="4750" b="19901"/>
          <a:stretch>
            <a:fillRect/>
          </a:stretch>
        </p:blipFill>
        <p:spPr>
          <a:xfrm>
            <a:off x="8357478" y="1426464"/>
            <a:ext cx="2650611" cy="2486163"/>
          </a:xfrm>
          <a:prstGeom prst="rect">
            <a:avLst/>
          </a:prstGeom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23E965A3-9BC3-AF4C-E026-3E3FFE56F0B3}"/>
              </a:ext>
            </a:extLst>
          </p:cNvPr>
          <p:cNvGrpSpPr/>
          <p:nvPr/>
        </p:nvGrpSpPr>
        <p:grpSpPr>
          <a:xfrm>
            <a:off x="646817" y="6407736"/>
            <a:ext cx="10927080" cy="329184"/>
            <a:chOff x="646817" y="6407736"/>
            <a:chExt cx="10927080" cy="329184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E6459045-F54C-E7D3-F8F2-2E1B37198D4D}"/>
                </a:ext>
              </a:extLst>
            </p:cNvPr>
            <p:cNvSpPr/>
            <p:nvPr/>
          </p:nvSpPr>
          <p:spPr>
            <a:xfrm>
              <a:off x="646817" y="6407736"/>
              <a:ext cx="10927080" cy="13716"/>
            </a:xfrm>
            <a:prstGeom prst="rect">
              <a:avLst/>
            </a:prstGeom>
            <a:solidFill>
              <a:srgbClr val="3A4D6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964FBB3-9B55-6494-5E4D-186532F0D53F}"/>
                </a:ext>
              </a:extLst>
            </p:cNvPr>
            <p:cNvSpPr txBox="1"/>
            <p:nvPr/>
          </p:nvSpPr>
          <p:spPr>
            <a:xfrm>
              <a:off x="665105" y="6517464"/>
              <a:ext cx="7232744" cy="219456"/>
            </a:xfrm>
            <a:prstGeom prst="rect">
              <a:avLst/>
            </a:prstGeom>
            <a:noFill/>
          </p:spPr>
          <p:txBody>
            <a:bodyPr wrap="square" lIns="27432" tIns="18288" rIns="27432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 sz="1000" b="0">
                  <a:solidFill>
                    <a:srgbClr val="A3B5CB"/>
                  </a:solidFill>
                  <a:latin typeface="Aptos"/>
                </a:defRPr>
              </a:pPr>
              <a:r>
                <a: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USAL  ·  </a:t>
              </a:r>
              <a:r>
                <a:rPr kumimoji="0" sz="10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Investigación</a:t>
              </a:r>
              <a:r>
                <a: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 </a:t>
              </a:r>
              <a:r>
                <a:rPr kumimoji="0" sz="10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en</a:t>
              </a:r>
              <a:r>
                <a: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 </a:t>
              </a:r>
              <a:r>
                <a:rPr kumimoji="0" sz="10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Ciberseguridad</a:t>
              </a:r>
              <a:r>
                <a: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  ·  2026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63E34E56-2E13-FC57-48B8-AC2F5C488B58}"/>
                </a:ext>
              </a:extLst>
            </p:cNvPr>
            <p:cNvSpPr txBox="1"/>
            <p:nvPr/>
          </p:nvSpPr>
          <p:spPr>
            <a:xfrm>
              <a:off x="10522337" y="6508320"/>
              <a:ext cx="914400" cy="218521"/>
            </a:xfrm>
            <a:prstGeom prst="rect">
              <a:avLst/>
            </a:prstGeom>
            <a:noFill/>
          </p:spPr>
          <p:txBody>
            <a:bodyPr wrap="square" lIns="27432" tIns="18288" rIns="27432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 sz="1000" b="0">
                  <a:solidFill>
                    <a:srgbClr val="A3B5CB"/>
                  </a:solidFill>
                  <a:latin typeface="Aptos"/>
                </a:defRPr>
              </a:pPr>
              <a:r>
                <a:rPr lang="en-US" sz="1000" dirty="0">
                  <a:solidFill>
                    <a:schemeClr val="bg1"/>
                  </a:solidFill>
                  <a:latin typeface="Aptos"/>
                </a:rPr>
                <a:t>21</a:t>
              </a:r>
              <a:r>
                <a: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 / </a:t>
              </a: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25</a:t>
              </a:r>
              <a:endParaRPr kumimoji="0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</p:grpSp>
      <p:sp>
        <p:nvSpPr>
          <p:cNvPr id="27" name="Rectangle 45">
            <a:extLst>
              <a:ext uri="{FF2B5EF4-FFF2-40B4-BE49-F238E27FC236}">
                <a16:creationId xmlns:a16="http://schemas.microsoft.com/office/drawing/2014/main" id="{3FE4BCA4-5FCC-969C-CA23-86D3AD80AA6F}"/>
              </a:ext>
            </a:extLst>
          </p:cNvPr>
          <p:cNvSpPr/>
          <p:nvPr/>
        </p:nvSpPr>
        <p:spPr>
          <a:xfrm>
            <a:off x="362243" y="268664"/>
            <a:ext cx="100584" cy="365760"/>
          </a:xfrm>
          <a:prstGeom prst="rect">
            <a:avLst/>
          </a:prstGeom>
          <a:solidFill>
            <a:srgbClr val="2AC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TextBox 47">
            <a:extLst>
              <a:ext uri="{FF2B5EF4-FFF2-40B4-BE49-F238E27FC236}">
                <a16:creationId xmlns:a16="http://schemas.microsoft.com/office/drawing/2014/main" id="{EB6AA40B-F80A-BFE6-FDE7-E6142E9337C3}"/>
              </a:ext>
            </a:extLst>
          </p:cNvPr>
          <p:cNvSpPr txBox="1"/>
          <p:nvPr/>
        </p:nvSpPr>
        <p:spPr>
          <a:xfrm>
            <a:off x="502920" y="291654"/>
            <a:ext cx="9144000" cy="310854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1100" b="1">
                <a:solidFill>
                  <a:srgbClr val="2ACED8"/>
                </a:solidFill>
                <a:latin typeface="Aptos"/>
              </a:defRPr>
            </a:pPr>
            <a:r>
              <a:rPr kumimoji="0" lang="es-MX" sz="1600" b="1" i="0" u="none" strike="noStrike" kern="1200" cap="none" spc="0" normalizeH="0" baseline="0" noProof="0" dirty="0">
                <a:ln>
                  <a:noFill/>
                </a:ln>
                <a:solidFill>
                  <a:srgbClr val="2ACED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  <a:r>
              <a:rPr lang="es-MX" sz="1100" b="1" dirty="0">
                <a:solidFill>
                  <a:srgbClr val="2ACED8"/>
                </a:solidFill>
                <a:latin typeface="Aptos"/>
              </a:rPr>
              <a:t>BUSQUEDA EXPLORATORIA</a:t>
            </a:r>
            <a:endParaRPr kumimoji="0" lang="es-MX" sz="1600" b="1" i="0" u="none" strike="noStrike" kern="1200" cap="none" spc="0" normalizeH="0" baseline="0" noProof="0" dirty="0">
              <a:ln>
                <a:noFill/>
              </a:ln>
              <a:solidFill>
                <a:srgbClr val="2ACED8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098117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A74F51-E1F3-8FA4-85C6-CFFF04C13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A1A4BE34-8618-C156-3C6C-8CBEE2FD9168}"/>
              </a:ext>
            </a:extLst>
          </p:cNvPr>
          <p:cNvSpPr/>
          <p:nvPr/>
        </p:nvSpPr>
        <p:spPr>
          <a:xfrm>
            <a:off x="502920" y="768096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MX" sz="2900" b="1" noProof="0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 de estudio previsto: tres escenarios</a:t>
            </a:r>
            <a:endParaRPr lang="es-MX" sz="2900" noProof="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C2561FC-0C58-34D9-CE09-BAD5D858665B}"/>
              </a:ext>
            </a:extLst>
          </p:cNvPr>
          <p:cNvSpPr/>
          <p:nvPr/>
        </p:nvSpPr>
        <p:spPr>
          <a:xfrm>
            <a:off x="502920" y="1490472"/>
            <a:ext cx="11109960" cy="0"/>
          </a:xfrm>
          <a:prstGeom prst="line">
            <a:avLst/>
          </a:prstGeom>
          <a:noFill/>
          <a:ln w="12700">
            <a:solidFill>
              <a:srgbClr val="2A4158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29" name="Text 14">
            <a:extLst>
              <a:ext uri="{FF2B5EF4-FFF2-40B4-BE49-F238E27FC236}">
                <a16:creationId xmlns:a16="http://schemas.microsoft.com/office/drawing/2014/main" id="{0BDF29C8-D837-F8E3-70C3-ABA12166C5E5}"/>
              </a:ext>
            </a:extLst>
          </p:cNvPr>
          <p:cNvSpPr/>
          <p:nvPr/>
        </p:nvSpPr>
        <p:spPr>
          <a:xfrm>
            <a:off x="4388185" y="3861946"/>
            <a:ext cx="223937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MX" sz="1700" b="1" noProof="0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Eliminación de duplicados</a:t>
            </a:r>
          </a:p>
          <a:p>
            <a:r>
              <a:rPr lang="es-MX" sz="1700" dirty="0">
                <a:solidFill>
                  <a:srgbClr val="F4F7FC"/>
                </a:solidFill>
                <a:latin typeface="Aptos" pitchFamily="34" charset="0"/>
              </a:rPr>
              <a:t>Uso de aisladores o circuladores ópticos</a:t>
            </a:r>
          </a:p>
        </p:txBody>
      </p:sp>
      <p:sp>
        <p:nvSpPr>
          <p:cNvPr id="33" name="Text 14">
            <a:extLst>
              <a:ext uri="{FF2B5EF4-FFF2-40B4-BE49-F238E27FC236}">
                <a16:creationId xmlns:a16="http://schemas.microsoft.com/office/drawing/2014/main" id="{F1BC9812-4F4F-5EF8-6B2A-83493D7A65EF}"/>
              </a:ext>
            </a:extLst>
          </p:cNvPr>
          <p:cNvSpPr/>
          <p:nvPr/>
        </p:nvSpPr>
        <p:spPr>
          <a:xfrm>
            <a:off x="8209392" y="3865865"/>
            <a:ext cx="2502151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MX" sz="1700" b="1" noProof="0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</a:t>
            </a:r>
            <a:r>
              <a:rPr lang="es-MX" sz="1700" b="1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Protección reforzada</a:t>
            </a:r>
            <a:endParaRPr lang="es-MX" sz="1700" b="1" noProof="0" dirty="0">
              <a:solidFill>
                <a:srgbClr val="F4F7FC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r>
              <a:rPr lang="es-MX" sz="1700" dirty="0">
                <a:solidFill>
                  <a:srgbClr val="F4F7FC"/>
                </a:solidFill>
                <a:latin typeface="Aptos" pitchFamily="34" charset="0"/>
              </a:rPr>
              <a:t>Contramedidas adicionales respaldadas por la literatura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207DCCC-06D2-3F81-E002-E727ABED0460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068005" y="2037401"/>
            <a:ext cx="1582148" cy="1582148"/>
          </a:xfrm>
          <a:prstGeom prst="rect">
            <a:avLst/>
          </a:prstGeom>
        </p:spPr>
      </p:pic>
      <p:sp>
        <p:nvSpPr>
          <p:cNvPr id="14" name="Text 14">
            <a:extLst>
              <a:ext uri="{FF2B5EF4-FFF2-40B4-BE49-F238E27FC236}">
                <a16:creationId xmlns:a16="http://schemas.microsoft.com/office/drawing/2014/main" id="{6785A4B3-5257-BF29-CD60-1FBA3F01C0CD}"/>
              </a:ext>
            </a:extLst>
          </p:cNvPr>
          <p:cNvSpPr/>
          <p:nvPr/>
        </p:nvSpPr>
        <p:spPr>
          <a:xfrm>
            <a:off x="985163" y="3861946"/>
            <a:ext cx="223937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MX" sz="1700" b="1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r>
              <a:rPr lang="es-MX" sz="1700" b="1" noProof="0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 </a:t>
            </a:r>
            <a:r>
              <a:rPr lang="es-MX" sz="1700" b="1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Referencia</a:t>
            </a:r>
            <a:endParaRPr lang="es-MX" sz="1700" b="1" noProof="0" dirty="0">
              <a:solidFill>
                <a:srgbClr val="F4F7FC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r>
              <a:rPr lang="es-MX" sz="1700" dirty="0">
                <a:solidFill>
                  <a:srgbClr val="F4F7FC"/>
                </a:solidFill>
                <a:latin typeface="Aptos" pitchFamily="34" charset="0"/>
              </a:rPr>
              <a:t>Arquitectura QDK y protección óptica de partida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ABD4B5F-4324-DAC2-CA4C-E50227E1923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437687" y="2024431"/>
            <a:ext cx="1755217" cy="175521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F1C7A89-3841-8204-C142-EC0C80A89252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209392" y="1907695"/>
            <a:ext cx="1702710" cy="1702710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2753F7D2-ABBF-F578-55FC-5306ABA941E7}"/>
              </a:ext>
            </a:extLst>
          </p:cNvPr>
          <p:cNvGrpSpPr/>
          <p:nvPr/>
        </p:nvGrpSpPr>
        <p:grpSpPr>
          <a:xfrm>
            <a:off x="646817" y="6407736"/>
            <a:ext cx="10927080" cy="329184"/>
            <a:chOff x="646817" y="6407736"/>
            <a:chExt cx="10927080" cy="329184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EEF9C32-FE96-1D23-1AD6-5D1FBDB9BF97}"/>
                </a:ext>
              </a:extLst>
            </p:cNvPr>
            <p:cNvSpPr/>
            <p:nvPr/>
          </p:nvSpPr>
          <p:spPr>
            <a:xfrm>
              <a:off x="646817" y="6407736"/>
              <a:ext cx="10927080" cy="13716"/>
            </a:xfrm>
            <a:prstGeom prst="rect">
              <a:avLst/>
            </a:prstGeom>
            <a:solidFill>
              <a:srgbClr val="3A4D6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983CD57-98DE-B44A-932C-2127E40FE355}"/>
                </a:ext>
              </a:extLst>
            </p:cNvPr>
            <p:cNvSpPr txBox="1"/>
            <p:nvPr/>
          </p:nvSpPr>
          <p:spPr>
            <a:xfrm>
              <a:off x="665105" y="6517464"/>
              <a:ext cx="7232744" cy="219456"/>
            </a:xfrm>
            <a:prstGeom prst="rect">
              <a:avLst/>
            </a:prstGeom>
            <a:noFill/>
          </p:spPr>
          <p:txBody>
            <a:bodyPr wrap="square" lIns="27432" tIns="18288" rIns="27432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 sz="1000" b="0">
                  <a:solidFill>
                    <a:srgbClr val="A3B5CB"/>
                  </a:solidFill>
                  <a:latin typeface="Aptos"/>
                </a:defRPr>
              </a:pPr>
              <a:r>
                <a: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USAL  ·  </a:t>
              </a:r>
              <a:r>
                <a:rPr kumimoji="0" sz="10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Investigación</a:t>
              </a:r>
              <a:r>
                <a: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 </a:t>
              </a:r>
              <a:r>
                <a:rPr kumimoji="0" sz="10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en</a:t>
              </a:r>
              <a:r>
                <a: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 </a:t>
              </a:r>
              <a:r>
                <a:rPr kumimoji="0" sz="10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Ciberseguridad</a:t>
              </a:r>
              <a:r>
                <a: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  ·  2026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5D79E55-734C-2C4F-2D5D-3269D4629D66}"/>
                </a:ext>
              </a:extLst>
            </p:cNvPr>
            <p:cNvSpPr txBox="1"/>
            <p:nvPr/>
          </p:nvSpPr>
          <p:spPr>
            <a:xfrm>
              <a:off x="10522337" y="6508320"/>
              <a:ext cx="914400" cy="218521"/>
            </a:xfrm>
            <a:prstGeom prst="rect">
              <a:avLst/>
            </a:prstGeom>
            <a:noFill/>
          </p:spPr>
          <p:txBody>
            <a:bodyPr wrap="square" lIns="27432" tIns="18288" rIns="27432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 sz="1000" b="0">
                  <a:solidFill>
                    <a:srgbClr val="A3B5CB"/>
                  </a:solidFill>
                  <a:latin typeface="Aptos"/>
                </a:defRPr>
              </a:pPr>
              <a:r>
                <a:rPr lang="en-US" sz="1000" dirty="0">
                  <a:solidFill>
                    <a:schemeClr val="bg1"/>
                  </a:solidFill>
                  <a:latin typeface="Aptos"/>
                </a:rPr>
                <a:t>22</a:t>
              </a:r>
              <a:r>
                <a: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/ </a:t>
              </a: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25</a:t>
              </a:r>
              <a:endParaRPr kumimoji="0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</p:grpSp>
      <p:sp>
        <p:nvSpPr>
          <p:cNvPr id="16" name="Rectangle 45">
            <a:extLst>
              <a:ext uri="{FF2B5EF4-FFF2-40B4-BE49-F238E27FC236}">
                <a16:creationId xmlns:a16="http://schemas.microsoft.com/office/drawing/2014/main" id="{C6AFB116-99C9-0622-A13C-BD991A661B4A}"/>
              </a:ext>
            </a:extLst>
          </p:cNvPr>
          <p:cNvSpPr/>
          <p:nvPr/>
        </p:nvSpPr>
        <p:spPr>
          <a:xfrm>
            <a:off x="362243" y="268664"/>
            <a:ext cx="100584" cy="365760"/>
          </a:xfrm>
          <a:prstGeom prst="rect">
            <a:avLst/>
          </a:prstGeom>
          <a:solidFill>
            <a:srgbClr val="2AC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TextBox 47">
            <a:extLst>
              <a:ext uri="{FF2B5EF4-FFF2-40B4-BE49-F238E27FC236}">
                <a16:creationId xmlns:a16="http://schemas.microsoft.com/office/drawing/2014/main" id="{3805A6FB-A1FE-2F03-93A6-E3D416BDB461}"/>
              </a:ext>
            </a:extLst>
          </p:cNvPr>
          <p:cNvSpPr txBox="1"/>
          <p:nvPr/>
        </p:nvSpPr>
        <p:spPr>
          <a:xfrm>
            <a:off x="502920" y="291654"/>
            <a:ext cx="9144000" cy="310854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1100" b="1">
                <a:solidFill>
                  <a:srgbClr val="2ACED8"/>
                </a:solidFill>
                <a:latin typeface="Aptos"/>
              </a:defRPr>
            </a:pPr>
            <a:r>
              <a:rPr kumimoji="0" lang="es-MX" sz="1600" b="1" i="0" u="none" strike="noStrike" kern="1200" cap="none" spc="0" normalizeH="0" baseline="0" noProof="0" dirty="0">
                <a:ln>
                  <a:noFill/>
                </a:ln>
                <a:solidFill>
                  <a:srgbClr val="2ACED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srgbClr val="2ACED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CASO DE ESTUDIO PREVISTO: TRES ESCENARIOS</a:t>
            </a:r>
            <a:endParaRPr kumimoji="0" lang="es-MX" sz="1600" b="1" i="0" u="none" strike="noStrike" kern="1200" cap="none" spc="0" normalizeH="0" baseline="0" noProof="0" dirty="0">
              <a:ln>
                <a:noFill/>
              </a:ln>
              <a:solidFill>
                <a:srgbClr val="2ACED8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5732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F7EC9C-885A-DC02-CADC-B7F399A4C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CFDE1D0F-004F-A9A1-1801-D062F47A5E7B}"/>
              </a:ext>
            </a:extLst>
          </p:cNvPr>
          <p:cNvSpPr/>
          <p:nvPr/>
        </p:nvSpPr>
        <p:spPr>
          <a:xfrm>
            <a:off x="502920" y="768096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MX" sz="2900" b="1" noProof="0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Análisis y resultados esperados</a:t>
            </a:r>
            <a:endParaRPr lang="es-MX" sz="2900" noProof="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B339FF7-A52C-587B-1389-284DCAD50951}"/>
              </a:ext>
            </a:extLst>
          </p:cNvPr>
          <p:cNvSpPr/>
          <p:nvPr/>
        </p:nvSpPr>
        <p:spPr>
          <a:xfrm>
            <a:off x="502920" y="1490472"/>
            <a:ext cx="11109960" cy="0"/>
          </a:xfrm>
          <a:prstGeom prst="line">
            <a:avLst/>
          </a:prstGeom>
          <a:noFill/>
          <a:ln w="12700">
            <a:solidFill>
              <a:srgbClr val="2A4158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622BE83-4F51-5637-9479-E221CC1D6A9D}"/>
              </a:ext>
            </a:extLst>
          </p:cNvPr>
          <p:cNvGrpSpPr/>
          <p:nvPr/>
        </p:nvGrpSpPr>
        <p:grpSpPr>
          <a:xfrm>
            <a:off x="258047" y="1786689"/>
            <a:ext cx="2880000" cy="3600000"/>
            <a:chOff x="500914" y="1786689"/>
            <a:chExt cx="2880000" cy="3600000"/>
          </a:xfrm>
        </p:grpSpPr>
        <p:sp>
          <p:nvSpPr>
            <p:cNvPr id="9" name="Shape 12">
              <a:extLst>
                <a:ext uri="{FF2B5EF4-FFF2-40B4-BE49-F238E27FC236}">
                  <a16:creationId xmlns:a16="http://schemas.microsoft.com/office/drawing/2014/main" id="{6E9395DE-6A74-0583-4E1F-8A3C77019475}"/>
                </a:ext>
              </a:extLst>
            </p:cNvPr>
            <p:cNvSpPr/>
            <p:nvPr/>
          </p:nvSpPr>
          <p:spPr>
            <a:xfrm>
              <a:off x="500914" y="1786689"/>
              <a:ext cx="2880000" cy="3600000"/>
            </a:xfrm>
            <a:prstGeom prst="roundRect">
              <a:avLst>
                <a:gd name="adj" fmla="val 21622"/>
              </a:avLst>
            </a:prstGeom>
            <a:solidFill>
              <a:srgbClr val="14243A"/>
            </a:solidFill>
            <a:ln w="8890">
              <a:solidFill>
                <a:srgbClr val="2A4158"/>
              </a:solidFill>
              <a:prstDash val="solid"/>
            </a:ln>
          </p:spPr>
          <p:txBody>
            <a:bodyPr/>
            <a:lstStyle/>
            <a:p>
              <a:endParaRPr lang="es-MX" noProof="0" dirty="0"/>
            </a:p>
          </p:txBody>
        </p:sp>
        <p:sp>
          <p:nvSpPr>
            <p:cNvPr id="10" name="Text 13">
              <a:extLst>
                <a:ext uri="{FF2B5EF4-FFF2-40B4-BE49-F238E27FC236}">
                  <a16:creationId xmlns:a16="http://schemas.microsoft.com/office/drawing/2014/main" id="{80E74037-B313-DDF0-54CA-C506EB2166B6}"/>
                </a:ext>
              </a:extLst>
            </p:cNvPr>
            <p:cNvSpPr/>
            <p:nvPr/>
          </p:nvSpPr>
          <p:spPr>
            <a:xfrm>
              <a:off x="839954" y="2025290"/>
              <a:ext cx="2174349" cy="83778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s-MX" b="1" dirty="0">
                  <a:solidFill>
                    <a:srgbClr val="53D4D0"/>
                  </a:solidFill>
                  <a:latin typeface="Aptos" pitchFamily="34" charset="0"/>
                </a:rPr>
                <a:t>1. Método de análisis</a:t>
              </a:r>
              <a:endParaRPr lang="es-MX" dirty="0"/>
            </a:p>
          </p:txBody>
        </p:sp>
        <p:sp>
          <p:nvSpPr>
            <p:cNvPr id="12" name="Text 14">
              <a:extLst>
                <a:ext uri="{FF2B5EF4-FFF2-40B4-BE49-F238E27FC236}">
                  <a16:creationId xmlns:a16="http://schemas.microsoft.com/office/drawing/2014/main" id="{4B440301-1360-5F42-7327-2F1DA722E06E}"/>
                </a:ext>
              </a:extLst>
            </p:cNvPr>
            <p:cNvSpPr/>
            <p:nvPr/>
          </p:nvSpPr>
          <p:spPr>
            <a:xfrm>
              <a:off x="745787" y="3101676"/>
              <a:ext cx="2037298" cy="10881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s-MX" sz="1700" noProof="0" dirty="0">
                  <a:solidFill>
                    <a:srgbClr val="F4F7FC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Tablas comparativas,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s-MX" sz="1700" dirty="0">
                  <a:solidFill>
                    <a:srgbClr val="F4F7FC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G</a:t>
              </a:r>
              <a:r>
                <a:rPr lang="es-MX" sz="1700" noProof="0" dirty="0" err="1">
                  <a:solidFill>
                    <a:srgbClr val="F4F7FC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ráficas</a:t>
              </a:r>
              <a:endParaRPr lang="es-MX" sz="1700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s-MX" sz="1700" noProof="0" dirty="0">
                  <a:solidFill>
                    <a:srgbClr val="F4F7FC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Normalización de unidades.</a:t>
              </a:r>
              <a:endParaRPr lang="es-MX" sz="1700" dirty="0">
                <a:solidFill>
                  <a:srgbClr val="F4F7FC"/>
                </a:solidFill>
                <a:latin typeface="Aptos" pitchFamily="34" charset="0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6BB4DE7-2C17-2E16-4490-A4BAFF175731}"/>
              </a:ext>
            </a:extLst>
          </p:cNvPr>
          <p:cNvGrpSpPr/>
          <p:nvPr/>
        </p:nvGrpSpPr>
        <p:grpSpPr>
          <a:xfrm>
            <a:off x="3275882" y="1786689"/>
            <a:ext cx="2880000" cy="3600000"/>
            <a:chOff x="3183288" y="1786689"/>
            <a:chExt cx="2880000" cy="3600000"/>
          </a:xfrm>
        </p:grpSpPr>
        <p:sp>
          <p:nvSpPr>
            <p:cNvPr id="15" name="Shape 12">
              <a:extLst>
                <a:ext uri="{FF2B5EF4-FFF2-40B4-BE49-F238E27FC236}">
                  <a16:creationId xmlns:a16="http://schemas.microsoft.com/office/drawing/2014/main" id="{BF0B5B9E-F1B7-F88A-1E27-98275BE884D0}"/>
                </a:ext>
              </a:extLst>
            </p:cNvPr>
            <p:cNvSpPr/>
            <p:nvPr/>
          </p:nvSpPr>
          <p:spPr>
            <a:xfrm>
              <a:off x="3183288" y="1786689"/>
              <a:ext cx="2880000" cy="3600000"/>
            </a:xfrm>
            <a:prstGeom prst="roundRect">
              <a:avLst>
                <a:gd name="adj" fmla="val 21622"/>
              </a:avLst>
            </a:prstGeom>
            <a:solidFill>
              <a:srgbClr val="14243A"/>
            </a:solidFill>
            <a:ln w="8890">
              <a:solidFill>
                <a:srgbClr val="2A4158"/>
              </a:solidFill>
              <a:prstDash val="solid"/>
            </a:ln>
          </p:spPr>
          <p:txBody>
            <a:bodyPr/>
            <a:lstStyle/>
            <a:p>
              <a:endParaRPr lang="es-MX" noProof="0" dirty="0"/>
            </a:p>
          </p:txBody>
        </p:sp>
        <p:sp>
          <p:nvSpPr>
            <p:cNvPr id="16" name="Text 13">
              <a:extLst>
                <a:ext uri="{FF2B5EF4-FFF2-40B4-BE49-F238E27FC236}">
                  <a16:creationId xmlns:a16="http://schemas.microsoft.com/office/drawing/2014/main" id="{A29D16AF-A7FA-9EE5-2A49-91F495B3F53C}"/>
                </a:ext>
              </a:extLst>
            </p:cNvPr>
            <p:cNvSpPr/>
            <p:nvPr/>
          </p:nvSpPr>
          <p:spPr>
            <a:xfrm>
              <a:off x="3482970" y="1876775"/>
              <a:ext cx="1672426" cy="83778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s-MX" b="1" dirty="0">
                  <a:solidFill>
                    <a:srgbClr val="53D4D0"/>
                  </a:solidFill>
                  <a:latin typeface="Aptos" pitchFamily="34" charset="0"/>
                </a:rPr>
                <a:t>2. Hipótesis</a:t>
              </a:r>
              <a:endParaRPr lang="es-MX" dirty="0"/>
            </a:p>
          </p:txBody>
        </p:sp>
        <p:sp>
          <p:nvSpPr>
            <p:cNvPr id="18" name="Text 14">
              <a:extLst>
                <a:ext uri="{FF2B5EF4-FFF2-40B4-BE49-F238E27FC236}">
                  <a16:creationId xmlns:a16="http://schemas.microsoft.com/office/drawing/2014/main" id="{B181A7EB-F82E-7AAE-30DF-DAFFB28041D8}"/>
                </a:ext>
              </a:extLst>
            </p:cNvPr>
            <p:cNvSpPr/>
            <p:nvPr/>
          </p:nvSpPr>
          <p:spPr>
            <a:xfrm>
              <a:off x="3482970" y="2689495"/>
              <a:ext cx="2159683" cy="191249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s-MX" sz="1700" dirty="0">
                  <a:solidFill>
                    <a:srgbClr val="F4F7FC"/>
                  </a:solidFill>
                  <a:latin typeface="Aptos" pitchFamily="34" charset="0"/>
                </a:rPr>
                <a:t>La eficacia del aislamiento óptico puede variar según la longitud de onda y la potencia.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F70EAB4-7B0F-087A-43E3-1774E8098A8A}"/>
              </a:ext>
            </a:extLst>
          </p:cNvPr>
          <p:cNvGrpSpPr/>
          <p:nvPr/>
        </p:nvGrpSpPr>
        <p:grpSpPr>
          <a:xfrm>
            <a:off x="6272270" y="1786689"/>
            <a:ext cx="2880000" cy="3600000"/>
            <a:chOff x="6272270" y="1786689"/>
            <a:chExt cx="2880000" cy="3600000"/>
          </a:xfrm>
        </p:grpSpPr>
        <p:sp>
          <p:nvSpPr>
            <p:cNvPr id="20" name="Shape 12">
              <a:extLst>
                <a:ext uri="{FF2B5EF4-FFF2-40B4-BE49-F238E27FC236}">
                  <a16:creationId xmlns:a16="http://schemas.microsoft.com/office/drawing/2014/main" id="{88F24EFF-6D6E-A454-B9DB-DE538A7DD201}"/>
                </a:ext>
              </a:extLst>
            </p:cNvPr>
            <p:cNvSpPr/>
            <p:nvPr/>
          </p:nvSpPr>
          <p:spPr>
            <a:xfrm>
              <a:off x="6272270" y="1786689"/>
              <a:ext cx="2880000" cy="3600000"/>
            </a:xfrm>
            <a:prstGeom prst="roundRect">
              <a:avLst>
                <a:gd name="adj" fmla="val 21622"/>
              </a:avLst>
            </a:prstGeom>
            <a:solidFill>
              <a:srgbClr val="14243A"/>
            </a:solidFill>
            <a:ln w="8890">
              <a:solidFill>
                <a:srgbClr val="2A4158"/>
              </a:solidFill>
              <a:prstDash val="solid"/>
            </a:ln>
          </p:spPr>
          <p:txBody>
            <a:bodyPr/>
            <a:lstStyle/>
            <a:p>
              <a:endParaRPr lang="es-MX" noProof="0" dirty="0"/>
            </a:p>
          </p:txBody>
        </p:sp>
        <p:sp>
          <p:nvSpPr>
            <p:cNvPr id="22" name="Text 13">
              <a:extLst>
                <a:ext uri="{FF2B5EF4-FFF2-40B4-BE49-F238E27FC236}">
                  <a16:creationId xmlns:a16="http://schemas.microsoft.com/office/drawing/2014/main" id="{E33713D3-4E23-7CAA-838A-EAB72141E8E3}"/>
                </a:ext>
              </a:extLst>
            </p:cNvPr>
            <p:cNvSpPr/>
            <p:nvPr/>
          </p:nvSpPr>
          <p:spPr>
            <a:xfrm>
              <a:off x="6450444" y="1966860"/>
              <a:ext cx="2563327" cy="83778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s-MX" b="1" dirty="0">
                  <a:solidFill>
                    <a:srgbClr val="53D4D0"/>
                  </a:solidFill>
                  <a:latin typeface="Aptos" pitchFamily="34" charset="0"/>
                </a:rPr>
                <a:t>3. Resultados esperados</a:t>
              </a:r>
              <a:endParaRPr lang="es-MX" dirty="0"/>
            </a:p>
          </p:txBody>
        </p:sp>
        <p:sp>
          <p:nvSpPr>
            <p:cNvPr id="27" name="Text 14">
              <a:extLst>
                <a:ext uri="{FF2B5EF4-FFF2-40B4-BE49-F238E27FC236}">
                  <a16:creationId xmlns:a16="http://schemas.microsoft.com/office/drawing/2014/main" id="{D0015D9E-9318-9556-C516-31731C890632}"/>
                </a:ext>
              </a:extLst>
            </p:cNvPr>
            <p:cNvSpPr/>
            <p:nvPr/>
          </p:nvSpPr>
          <p:spPr>
            <a:xfrm>
              <a:off x="6632646" y="2513470"/>
              <a:ext cx="2304957" cy="239541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s-MX" sz="1700" dirty="0">
                  <a:solidFill>
                    <a:srgbClr val="F4F7FC"/>
                  </a:solidFill>
                  <a:latin typeface="Aptos" pitchFamily="34" charset="0"/>
                </a:rPr>
                <a:t>Atenuación óptica (dB)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s-MX" sz="1700" dirty="0">
                  <a:solidFill>
                    <a:srgbClr val="F4F7FC"/>
                  </a:solidFill>
                  <a:latin typeface="Aptos" pitchFamily="34" charset="0"/>
                </a:rPr>
                <a:t>Componentes de protección utilizados.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E7680BC5-0EDE-18D2-0336-52C3D81B0C2F}"/>
              </a:ext>
            </a:extLst>
          </p:cNvPr>
          <p:cNvGrpSpPr/>
          <p:nvPr/>
        </p:nvGrpSpPr>
        <p:grpSpPr>
          <a:xfrm>
            <a:off x="9282526" y="1786689"/>
            <a:ext cx="2880000" cy="3600000"/>
            <a:chOff x="9282526" y="1786689"/>
            <a:chExt cx="2880000" cy="3600000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2F2CE7E5-41DC-E5D6-20F2-B920B031FE92}"/>
                </a:ext>
              </a:extLst>
            </p:cNvPr>
            <p:cNvGrpSpPr/>
            <p:nvPr/>
          </p:nvGrpSpPr>
          <p:grpSpPr>
            <a:xfrm>
              <a:off x="9282526" y="1786689"/>
              <a:ext cx="2880000" cy="3600000"/>
              <a:chOff x="500914" y="1786690"/>
              <a:chExt cx="2635873" cy="1728857"/>
            </a:xfrm>
          </p:grpSpPr>
          <p:sp>
            <p:nvSpPr>
              <p:cNvPr id="29" name="Shape 12">
                <a:extLst>
                  <a:ext uri="{FF2B5EF4-FFF2-40B4-BE49-F238E27FC236}">
                    <a16:creationId xmlns:a16="http://schemas.microsoft.com/office/drawing/2014/main" id="{7E3B6490-3BB0-1F4F-B9B7-B6D59A532E75}"/>
                  </a:ext>
                </a:extLst>
              </p:cNvPr>
              <p:cNvSpPr/>
              <p:nvPr/>
            </p:nvSpPr>
            <p:spPr>
              <a:xfrm>
                <a:off x="500914" y="1786690"/>
                <a:ext cx="2635873" cy="1728857"/>
              </a:xfrm>
              <a:prstGeom prst="roundRect">
                <a:avLst>
                  <a:gd name="adj" fmla="val 21622"/>
                </a:avLst>
              </a:prstGeom>
              <a:solidFill>
                <a:srgbClr val="14243A"/>
              </a:solidFill>
              <a:ln w="8890">
                <a:solidFill>
                  <a:srgbClr val="2A4158"/>
                </a:solidFill>
                <a:prstDash val="solid"/>
              </a:ln>
            </p:spPr>
            <p:txBody>
              <a:bodyPr/>
              <a:lstStyle/>
              <a:p>
                <a:endParaRPr lang="es-MX" noProof="0" dirty="0"/>
              </a:p>
            </p:txBody>
          </p:sp>
          <p:sp>
            <p:nvSpPr>
              <p:cNvPr id="31" name="Text 13">
                <a:extLst>
                  <a:ext uri="{FF2B5EF4-FFF2-40B4-BE49-F238E27FC236}">
                    <a16:creationId xmlns:a16="http://schemas.microsoft.com/office/drawing/2014/main" id="{386BFE62-B699-27AC-D1F6-76951EC913B2}"/>
                  </a:ext>
                </a:extLst>
              </p:cNvPr>
              <p:cNvSpPr/>
              <p:nvPr/>
            </p:nvSpPr>
            <p:spPr>
              <a:xfrm>
                <a:off x="733938" y="1873214"/>
                <a:ext cx="2087164" cy="40233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s-MX" b="1" dirty="0">
                    <a:solidFill>
                      <a:srgbClr val="53D4D0"/>
                    </a:solidFill>
                    <a:latin typeface="Aptos" pitchFamily="34" charset="0"/>
                  </a:rPr>
                  <a:t>4. Interpretación de seguridad</a:t>
                </a:r>
                <a:endParaRPr lang="es-MX" dirty="0"/>
              </a:p>
            </p:txBody>
          </p:sp>
        </p:grpSp>
        <p:sp>
          <p:nvSpPr>
            <p:cNvPr id="49" name="Text 14">
              <a:extLst>
                <a:ext uri="{FF2B5EF4-FFF2-40B4-BE49-F238E27FC236}">
                  <a16:creationId xmlns:a16="http://schemas.microsoft.com/office/drawing/2014/main" id="{D12BD03C-EE28-9DE1-54A7-FCF846049311}"/>
                </a:ext>
              </a:extLst>
            </p:cNvPr>
            <p:cNvSpPr/>
            <p:nvPr/>
          </p:nvSpPr>
          <p:spPr>
            <a:xfrm>
              <a:off x="9646920" y="2560925"/>
              <a:ext cx="1926513" cy="189386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s-MX" sz="1700" dirty="0">
                  <a:solidFill>
                    <a:srgbClr val="F4F7FC"/>
                  </a:solidFill>
                  <a:latin typeface="Aptos" pitchFamily="34" charset="0"/>
                </a:rPr>
                <a:t>Distinguir la exposición óptica de un compromiso demostrado de la confidencialidad.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73E58FE-4C40-4E61-9D36-20D30908F8CC}"/>
              </a:ext>
            </a:extLst>
          </p:cNvPr>
          <p:cNvGrpSpPr/>
          <p:nvPr/>
        </p:nvGrpSpPr>
        <p:grpSpPr>
          <a:xfrm>
            <a:off x="646817" y="6407736"/>
            <a:ext cx="10927080" cy="329184"/>
            <a:chOff x="646817" y="6407736"/>
            <a:chExt cx="10927080" cy="329184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E922608-C796-FB22-CDFF-9BDD82C16518}"/>
                </a:ext>
              </a:extLst>
            </p:cNvPr>
            <p:cNvSpPr/>
            <p:nvPr/>
          </p:nvSpPr>
          <p:spPr>
            <a:xfrm>
              <a:off x="646817" y="6407736"/>
              <a:ext cx="10927080" cy="13716"/>
            </a:xfrm>
            <a:prstGeom prst="rect">
              <a:avLst/>
            </a:prstGeom>
            <a:solidFill>
              <a:srgbClr val="3A4D6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C0A20C2-6C5A-C576-9D84-A368B24A9A56}"/>
                </a:ext>
              </a:extLst>
            </p:cNvPr>
            <p:cNvSpPr txBox="1"/>
            <p:nvPr/>
          </p:nvSpPr>
          <p:spPr>
            <a:xfrm>
              <a:off x="665105" y="6517464"/>
              <a:ext cx="7232744" cy="219456"/>
            </a:xfrm>
            <a:prstGeom prst="rect">
              <a:avLst/>
            </a:prstGeom>
            <a:noFill/>
          </p:spPr>
          <p:txBody>
            <a:bodyPr wrap="square" lIns="27432" tIns="18288" rIns="27432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 sz="1000" b="0">
                  <a:solidFill>
                    <a:srgbClr val="A3B5CB"/>
                  </a:solidFill>
                  <a:latin typeface="Aptos"/>
                </a:defRPr>
              </a:pPr>
              <a:r>
                <a: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USAL  ·  </a:t>
              </a:r>
              <a:r>
                <a:rPr kumimoji="0" sz="10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Investigación</a:t>
              </a:r>
              <a:r>
                <a: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 </a:t>
              </a:r>
              <a:r>
                <a:rPr kumimoji="0" sz="10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en</a:t>
              </a:r>
              <a:r>
                <a: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 </a:t>
              </a:r>
              <a:r>
                <a:rPr kumimoji="0" sz="10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Ciberseguridad</a:t>
              </a:r>
              <a:r>
                <a: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  ·  2026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5586C9D-32DD-E793-9E78-638108174CF8}"/>
                </a:ext>
              </a:extLst>
            </p:cNvPr>
            <p:cNvSpPr txBox="1"/>
            <p:nvPr/>
          </p:nvSpPr>
          <p:spPr>
            <a:xfrm>
              <a:off x="10522337" y="6508320"/>
              <a:ext cx="914400" cy="218521"/>
            </a:xfrm>
            <a:prstGeom prst="rect">
              <a:avLst/>
            </a:prstGeom>
            <a:noFill/>
          </p:spPr>
          <p:txBody>
            <a:bodyPr wrap="square" lIns="27432" tIns="18288" rIns="27432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 sz="1000" b="0">
                  <a:solidFill>
                    <a:srgbClr val="A3B5CB"/>
                  </a:solidFill>
                  <a:latin typeface="Aptos"/>
                </a:defRPr>
              </a:pPr>
              <a:r>
                <a:rPr lang="en-US" sz="1000" dirty="0">
                  <a:solidFill>
                    <a:schemeClr val="bg1"/>
                  </a:solidFill>
                  <a:latin typeface="Aptos"/>
                </a:rPr>
                <a:t>23</a:t>
              </a:r>
              <a:r>
                <a: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 / </a:t>
              </a: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25</a:t>
              </a:r>
              <a:endParaRPr kumimoji="0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</p:grpSp>
      <p:sp>
        <p:nvSpPr>
          <p:cNvPr id="30" name="Rectangle 45">
            <a:extLst>
              <a:ext uri="{FF2B5EF4-FFF2-40B4-BE49-F238E27FC236}">
                <a16:creationId xmlns:a16="http://schemas.microsoft.com/office/drawing/2014/main" id="{71941648-37D6-8C55-ABA7-71853771200A}"/>
              </a:ext>
            </a:extLst>
          </p:cNvPr>
          <p:cNvSpPr/>
          <p:nvPr/>
        </p:nvSpPr>
        <p:spPr>
          <a:xfrm>
            <a:off x="362243" y="268664"/>
            <a:ext cx="100584" cy="365760"/>
          </a:xfrm>
          <a:prstGeom prst="rect">
            <a:avLst/>
          </a:prstGeom>
          <a:solidFill>
            <a:srgbClr val="2AC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TextBox 47">
            <a:extLst>
              <a:ext uri="{FF2B5EF4-FFF2-40B4-BE49-F238E27FC236}">
                <a16:creationId xmlns:a16="http://schemas.microsoft.com/office/drawing/2014/main" id="{EB75D6D5-7D0D-0AE8-3AE3-97900463D8D8}"/>
              </a:ext>
            </a:extLst>
          </p:cNvPr>
          <p:cNvSpPr txBox="1"/>
          <p:nvPr/>
        </p:nvSpPr>
        <p:spPr>
          <a:xfrm>
            <a:off x="502920" y="291654"/>
            <a:ext cx="9144000" cy="310854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1100" b="1">
                <a:solidFill>
                  <a:srgbClr val="2ACED8"/>
                </a:solidFill>
                <a:latin typeface="Aptos"/>
              </a:defRPr>
            </a:pPr>
            <a:r>
              <a:rPr kumimoji="0" lang="es-MX" sz="1600" b="1" i="0" u="none" strike="noStrike" kern="1200" cap="none" spc="0" normalizeH="0" baseline="0" noProof="0" dirty="0">
                <a:ln>
                  <a:noFill/>
                </a:ln>
                <a:solidFill>
                  <a:srgbClr val="2ACED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srgbClr val="2ACED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ANALISIS Y RESULTADOS</a:t>
            </a:r>
            <a:endParaRPr kumimoji="0" lang="es-MX" sz="1600" b="1" i="0" u="none" strike="noStrike" kern="1200" cap="none" spc="0" normalizeH="0" baseline="0" noProof="0" dirty="0">
              <a:ln>
                <a:noFill/>
              </a:ln>
              <a:solidFill>
                <a:srgbClr val="2ACED8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359170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3D2490-B1BD-F242-1FE4-F40213A6B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F1D5D7BE-02C3-42C3-E4AE-292D317EF554}"/>
              </a:ext>
            </a:extLst>
          </p:cNvPr>
          <p:cNvSpPr/>
          <p:nvPr/>
        </p:nvSpPr>
        <p:spPr>
          <a:xfrm>
            <a:off x="502920" y="768096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MX" sz="2900" b="1" noProof="0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Viabilidad, limitaciones y próximos pasos</a:t>
            </a:r>
            <a:endParaRPr lang="es-MX" sz="2900" noProof="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033D6B9-2D18-84CF-2023-172C6CBDE769}"/>
              </a:ext>
            </a:extLst>
          </p:cNvPr>
          <p:cNvSpPr/>
          <p:nvPr/>
        </p:nvSpPr>
        <p:spPr>
          <a:xfrm>
            <a:off x="502920" y="1490472"/>
            <a:ext cx="11109960" cy="0"/>
          </a:xfrm>
          <a:prstGeom prst="line">
            <a:avLst/>
          </a:prstGeom>
          <a:noFill/>
          <a:ln w="12700">
            <a:solidFill>
              <a:srgbClr val="2A4158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29" name="Text 14">
            <a:extLst>
              <a:ext uri="{FF2B5EF4-FFF2-40B4-BE49-F238E27FC236}">
                <a16:creationId xmlns:a16="http://schemas.microsoft.com/office/drawing/2014/main" id="{3223A972-FAF3-69F1-0DD4-CC5BB3C4C69D}"/>
              </a:ext>
            </a:extLst>
          </p:cNvPr>
          <p:cNvSpPr/>
          <p:nvPr/>
        </p:nvSpPr>
        <p:spPr>
          <a:xfrm>
            <a:off x="4118889" y="4137207"/>
            <a:ext cx="387802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MX" sz="1700" b="1" noProof="0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</a:t>
            </a:r>
            <a:r>
              <a:rPr lang="es-MX" sz="1700" b="1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Limitaciones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700" dirty="0">
                <a:solidFill>
                  <a:srgbClr val="F4F7FC"/>
                </a:solidFill>
                <a:latin typeface="Aptos" pitchFamily="34" charset="0"/>
              </a:rPr>
              <a:t>Diferencias entre arquitecturas QKD.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700" dirty="0">
                <a:solidFill>
                  <a:srgbClr val="F4F7FC"/>
                </a:solidFill>
                <a:latin typeface="Aptos" pitchFamily="34" charset="0"/>
              </a:rPr>
              <a:t>Condiciones experimentales.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700" dirty="0">
                <a:solidFill>
                  <a:srgbClr val="F4F7FC"/>
                </a:solidFill>
                <a:latin typeface="Aptos" pitchFamily="34" charset="0"/>
              </a:rPr>
              <a:t>heterogéneas.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700" dirty="0">
                <a:solidFill>
                  <a:srgbClr val="F4F7FC"/>
                </a:solidFill>
                <a:latin typeface="Aptos" pitchFamily="34" charset="0"/>
              </a:rPr>
              <a:t>Métricas de seguridad no uniformes.</a:t>
            </a:r>
          </a:p>
        </p:txBody>
      </p:sp>
      <p:sp>
        <p:nvSpPr>
          <p:cNvPr id="33" name="Text 14">
            <a:extLst>
              <a:ext uri="{FF2B5EF4-FFF2-40B4-BE49-F238E27FC236}">
                <a16:creationId xmlns:a16="http://schemas.microsoft.com/office/drawing/2014/main" id="{96FF2B12-DA5B-08CF-5816-CE58E09022AD}"/>
              </a:ext>
            </a:extLst>
          </p:cNvPr>
          <p:cNvSpPr/>
          <p:nvPr/>
        </p:nvSpPr>
        <p:spPr>
          <a:xfrm>
            <a:off x="8462055" y="4183551"/>
            <a:ext cx="3196545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MX" sz="1700" b="1" noProof="0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cierre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700" dirty="0">
                <a:solidFill>
                  <a:srgbClr val="F4F7FC"/>
                </a:solidFill>
                <a:latin typeface="Aptos" pitchFamily="34" charset="0"/>
              </a:rPr>
              <a:t>Completar búsqueda y selección bibliográfica.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700" dirty="0">
                <a:solidFill>
                  <a:srgbClr val="F4F7FC"/>
                </a:solidFill>
                <a:latin typeface="Aptos" pitchFamily="34" charset="0"/>
              </a:rPr>
              <a:t>Extraer y normalizar los datos.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700" dirty="0">
                <a:solidFill>
                  <a:srgbClr val="F4F7FC"/>
                </a:solidFill>
                <a:latin typeface="Aptos" pitchFamily="34" charset="0"/>
              </a:rPr>
              <a:t>Contrastar la hipótesis mediante análisis cuantitativo.</a:t>
            </a:r>
          </a:p>
        </p:txBody>
      </p:sp>
      <p:sp>
        <p:nvSpPr>
          <p:cNvPr id="14" name="Text 14">
            <a:extLst>
              <a:ext uri="{FF2B5EF4-FFF2-40B4-BE49-F238E27FC236}">
                <a16:creationId xmlns:a16="http://schemas.microsoft.com/office/drawing/2014/main" id="{58DF7466-1EC0-746C-77E5-FD3448590222}"/>
              </a:ext>
            </a:extLst>
          </p:cNvPr>
          <p:cNvSpPr/>
          <p:nvPr/>
        </p:nvSpPr>
        <p:spPr>
          <a:xfrm>
            <a:off x="502920" y="4160383"/>
            <a:ext cx="3490584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MX" sz="1700" b="1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r>
              <a:rPr lang="es-MX" sz="1700" b="1" noProof="0" dirty="0">
                <a:solidFill>
                  <a:srgbClr val="F4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 Viabilidad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700" dirty="0">
                <a:solidFill>
                  <a:srgbClr val="F4F7FC"/>
                </a:solidFill>
                <a:latin typeface="Aptos" pitchFamily="34" charset="0"/>
              </a:rPr>
              <a:t>Literatura científica disponible.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700" dirty="0">
                <a:solidFill>
                  <a:srgbClr val="F4F7FC"/>
                </a:solidFill>
                <a:latin typeface="Aptos" pitchFamily="34" charset="0"/>
              </a:rPr>
              <a:t>Mecanismos de protección identificados.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700" dirty="0">
                <a:solidFill>
                  <a:srgbClr val="F4F7FC"/>
                </a:solidFill>
                <a:latin typeface="Aptos" pitchFamily="34" charset="0"/>
              </a:rPr>
              <a:t>Análisis bibliográfico viable.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6D1D7E2-F697-045D-B14E-6BDD24CA60D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8199"/>
          <a:stretch>
            <a:fillRect/>
          </a:stretch>
        </p:blipFill>
        <p:spPr>
          <a:xfrm>
            <a:off x="3879198" y="1676944"/>
            <a:ext cx="2484052" cy="239768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09CDEE2-9AD5-F6ED-1351-D523B27270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900"/>
          <a:stretch>
            <a:fillRect/>
          </a:stretch>
        </p:blipFill>
        <p:spPr>
          <a:xfrm>
            <a:off x="8206794" y="1591206"/>
            <a:ext cx="2354526" cy="239768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B62179C-4648-295C-0D47-8E7A811703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224" y="1911682"/>
            <a:ext cx="2892311" cy="1928208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57A2966C-9C76-6ED8-83C6-DF9675F5F6E7}"/>
              </a:ext>
            </a:extLst>
          </p:cNvPr>
          <p:cNvGrpSpPr/>
          <p:nvPr/>
        </p:nvGrpSpPr>
        <p:grpSpPr>
          <a:xfrm>
            <a:off x="646817" y="6407736"/>
            <a:ext cx="10927080" cy="329184"/>
            <a:chOff x="646817" y="6407736"/>
            <a:chExt cx="10927080" cy="329184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3FB92B2-0C77-4475-8E1F-8EEE09B4B5C9}"/>
                </a:ext>
              </a:extLst>
            </p:cNvPr>
            <p:cNvSpPr/>
            <p:nvPr/>
          </p:nvSpPr>
          <p:spPr>
            <a:xfrm>
              <a:off x="646817" y="6407736"/>
              <a:ext cx="10927080" cy="13716"/>
            </a:xfrm>
            <a:prstGeom prst="rect">
              <a:avLst/>
            </a:prstGeom>
            <a:solidFill>
              <a:srgbClr val="3A4D6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C18E005-E124-5F96-6CF7-DE24095C6F27}"/>
                </a:ext>
              </a:extLst>
            </p:cNvPr>
            <p:cNvSpPr txBox="1"/>
            <p:nvPr/>
          </p:nvSpPr>
          <p:spPr>
            <a:xfrm>
              <a:off x="665105" y="6517464"/>
              <a:ext cx="7232744" cy="219456"/>
            </a:xfrm>
            <a:prstGeom prst="rect">
              <a:avLst/>
            </a:prstGeom>
            <a:noFill/>
          </p:spPr>
          <p:txBody>
            <a:bodyPr wrap="square" lIns="27432" tIns="18288" rIns="27432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 sz="1000" b="0">
                  <a:solidFill>
                    <a:srgbClr val="A3B5CB"/>
                  </a:solidFill>
                  <a:latin typeface="Aptos"/>
                </a:defRPr>
              </a:pPr>
              <a:r>
                <a: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USAL  ·  </a:t>
              </a:r>
              <a:r>
                <a:rPr kumimoji="0" sz="10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Investigación</a:t>
              </a:r>
              <a:r>
                <a: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 </a:t>
              </a:r>
              <a:r>
                <a:rPr kumimoji="0" sz="10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en</a:t>
              </a:r>
              <a:r>
                <a: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 </a:t>
              </a:r>
              <a:r>
                <a:rPr kumimoji="0" sz="10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Ciberseguridad</a:t>
              </a:r>
              <a:r>
                <a: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  ·  2026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41CE947-9730-4A40-330C-A7FF23F193FB}"/>
                </a:ext>
              </a:extLst>
            </p:cNvPr>
            <p:cNvSpPr txBox="1"/>
            <p:nvPr/>
          </p:nvSpPr>
          <p:spPr>
            <a:xfrm>
              <a:off x="10522337" y="6508320"/>
              <a:ext cx="914400" cy="218521"/>
            </a:xfrm>
            <a:prstGeom prst="rect">
              <a:avLst/>
            </a:prstGeom>
            <a:noFill/>
          </p:spPr>
          <p:txBody>
            <a:bodyPr wrap="square" lIns="27432" tIns="18288" rIns="27432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 sz="1000" b="0">
                  <a:solidFill>
                    <a:srgbClr val="A3B5CB"/>
                  </a:solidFill>
                  <a:latin typeface="Aptos"/>
                </a:defRPr>
              </a:pPr>
              <a:r>
                <a:rPr lang="en-US" sz="1000" dirty="0">
                  <a:solidFill>
                    <a:schemeClr val="bg1"/>
                  </a:solidFill>
                  <a:latin typeface="Aptos"/>
                </a:rPr>
                <a:t>24</a:t>
              </a:r>
              <a:r>
                <a: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 / </a:t>
              </a: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25</a:t>
              </a:r>
              <a:endParaRPr kumimoji="0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</p:grpSp>
      <p:sp>
        <p:nvSpPr>
          <p:cNvPr id="18" name="Rectangle 45">
            <a:extLst>
              <a:ext uri="{FF2B5EF4-FFF2-40B4-BE49-F238E27FC236}">
                <a16:creationId xmlns:a16="http://schemas.microsoft.com/office/drawing/2014/main" id="{1EB296A0-E070-39F9-770C-2CAC026127B6}"/>
              </a:ext>
            </a:extLst>
          </p:cNvPr>
          <p:cNvSpPr/>
          <p:nvPr/>
        </p:nvSpPr>
        <p:spPr>
          <a:xfrm>
            <a:off x="362243" y="268664"/>
            <a:ext cx="100584" cy="365760"/>
          </a:xfrm>
          <a:prstGeom prst="rect">
            <a:avLst/>
          </a:prstGeom>
          <a:solidFill>
            <a:srgbClr val="2AC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TextBox 47">
            <a:extLst>
              <a:ext uri="{FF2B5EF4-FFF2-40B4-BE49-F238E27FC236}">
                <a16:creationId xmlns:a16="http://schemas.microsoft.com/office/drawing/2014/main" id="{3826BEDA-D7C1-0838-3097-66F34F693531}"/>
              </a:ext>
            </a:extLst>
          </p:cNvPr>
          <p:cNvSpPr txBox="1"/>
          <p:nvPr/>
        </p:nvSpPr>
        <p:spPr>
          <a:xfrm>
            <a:off x="502920" y="291654"/>
            <a:ext cx="9144000" cy="310854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1100" b="1">
                <a:solidFill>
                  <a:srgbClr val="2ACED8"/>
                </a:solidFill>
                <a:latin typeface="Aptos"/>
              </a:defRPr>
            </a:pPr>
            <a:r>
              <a:rPr kumimoji="0" lang="es-MX" sz="1600" b="1" i="0" u="none" strike="noStrike" kern="1200" cap="none" spc="0" normalizeH="0" baseline="0" noProof="0" dirty="0">
                <a:ln>
                  <a:noFill/>
                </a:ln>
                <a:solidFill>
                  <a:srgbClr val="2ACED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srgbClr val="2ACED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ANALISIS Y RESULTADOS</a:t>
            </a:r>
            <a:endParaRPr kumimoji="0" lang="es-MX" sz="1600" b="1" i="0" u="none" strike="noStrike" kern="1200" cap="none" spc="0" normalizeH="0" baseline="0" noProof="0" dirty="0">
              <a:ln>
                <a:noFill/>
              </a:ln>
              <a:solidFill>
                <a:srgbClr val="2ACED8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53643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3DF537-B28F-EC5E-3078-03EF21B0E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>
            <a:extLst>
              <a:ext uri="{FF2B5EF4-FFF2-40B4-BE49-F238E27FC236}">
                <a16:creationId xmlns:a16="http://schemas.microsoft.com/office/drawing/2014/main" id="{93BC2BDC-87EB-168D-C03D-3651C5BEC3C1}"/>
              </a:ext>
            </a:extLst>
          </p:cNvPr>
          <p:cNvSpPr/>
          <p:nvPr/>
        </p:nvSpPr>
        <p:spPr>
          <a:xfrm>
            <a:off x="502920" y="647395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000" noProof="0" dirty="0">
                <a:solidFill>
                  <a:srgbClr val="B6C7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Investigación en Ciberseguridad  ·  USAL  ·  2026</a:t>
            </a:r>
            <a:endParaRPr lang="es-MX" sz="1000" noProof="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B253287-88E0-6797-3C22-1D866ED39C13}"/>
              </a:ext>
            </a:extLst>
          </p:cNvPr>
          <p:cNvSpPr/>
          <p:nvPr/>
        </p:nvSpPr>
        <p:spPr>
          <a:xfrm>
            <a:off x="982218" y="797351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3600" noProof="0" dirty="0">
                <a:solidFill>
                  <a:srgbClr val="4CC0BF"/>
                </a:solidFill>
              </a:rPr>
              <a:t>Gracias por su </a:t>
            </a:r>
            <a:r>
              <a:rPr lang="es-MX" sz="3600" noProof="0" dirty="0" err="1">
                <a:solidFill>
                  <a:srgbClr val="4CC0BF"/>
                </a:solidFill>
              </a:rPr>
              <a:t>atencion</a:t>
            </a:r>
            <a:endParaRPr lang="es-MX" sz="3600" noProof="0" dirty="0">
              <a:solidFill>
                <a:srgbClr val="4CC0BF"/>
              </a:solidFill>
            </a:endParaRP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B24BC636-75AF-CEBC-C5EC-480DFFC92F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3700" r="95900">
                        <a14:foregroundMark x1="20100" y1="54667" x2="20100" y2="54667"/>
                        <a14:foregroundMark x1="20500" y1="55000" x2="20500" y2="55000"/>
                        <a14:foregroundMark x1="20300" y1="45500" x2="19500" y2="62333"/>
                        <a14:foregroundMark x1="10500" y1="40167" x2="6500" y2="57500"/>
                        <a14:foregroundMark x1="6500" y1="57500" x2="13300" y2="71667"/>
                        <a14:foregroundMark x1="13300" y1="71667" x2="22500" y2="72833"/>
                        <a14:foregroundMark x1="3700" y1="71167" x2="14900" y2="72500"/>
                        <a14:foregroundMark x1="50800" y1="52833" x2="50800" y2="55833"/>
                        <a14:foregroundMark x1="59600" y1="54000" x2="69000" y2="53833"/>
                        <a14:foregroundMark x1="59800" y1="54833" x2="68700" y2="54667"/>
                        <a14:foregroundMark x1="59800" y1="55500" x2="68400" y2="55833"/>
                        <a14:foregroundMark x1="59400" y1="54500" x2="68100" y2="56000"/>
                        <a14:foregroundMark x1="60400" y1="55500" x2="66200" y2="61000"/>
                        <a14:foregroundMark x1="59400" y1="55167" x2="54200" y2="59000"/>
                        <a14:foregroundMark x1="51600" y1="52667" x2="58500" y2="52667"/>
                        <a14:foregroundMark x1="50500" y1="69667" x2="60900" y2="71167"/>
                        <a14:foregroundMark x1="60900" y1="71167" x2="52200" y2="84167"/>
                        <a14:foregroundMark x1="52200" y1="84167" x2="62500" y2="78000"/>
                        <a14:foregroundMark x1="61000" y1="72833" x2="62500" y2="79667"/>
                        <a14:foregroundMark x1="61700" y1="72500" x2="65400" y2="77667"/>
                        <a14:foregroundMark x1="72500" y1="53000" x2="75300" y2="57167"/>
                        <a14:foregroundMark x1="75300" y1="50333" x2="76200" y2="59500"/>
                        <a14:foregroundMark x1="75900" y1="50833" x2="76600" y2="53500"/>
                        <a14:foregroundMark x1="75100" y1="41667" x2="75500" y2="52000"/>
                        <a14:foregroundMark x1="78700" y1="40667" x2="77900" y2="57500"/>
                        <a14:foregroundMark x1="80100" y1="42167" x2="78600" y2="61333"/>
                        <a14:foregroundMark x1="75400" y1="61500" x2="78300" y2="65167"/>
                        <a14:foregroundMark x1="78800" y1="61500" x2="79000" y2="67333"/>
                        <a14:foregroundMark x1="75500" y1="63333" x2="75700" y2="67667"/>
                        <a14:foregroundMark x1="78700" y1="66000" x2="78800" y2="72500"/>
                        <a14:foregroundMark x1="72300" y1="69167" x2="76800" y2="73167"/>
                        <a14:foregroundMark x1="78300" y1="73333" x2="90700" y2="70833"/>
                        <a14:foregroundMark x1="90700" y1="70833" x2="95900" y2="71167"/>
                        <a14:foregroundMark x1="42400" y1="19000" x2="47000" y2="39167"/>
                        <a14:foregroundMark x1="47000" y1="39167" x2="56500" y2="29833"/>
                        <a14:foregroundMark x1="56500" y1="29833" x2="51300" y2="15000"/>
                        <a14:foregroundMark x1="51300" y1="15000" x2="47300" y2="32333"/>
                        <a14:foregroundMark x1="47300" y1="32333" x2="53400" y2="36833"/>
                        <a14:backgroundMark x1="65600" y1="46667" x2="73300" y2="45000"/>
                        <a14:backgroundMark x1="68100" y1="50500" x2="70700" y2="510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38499" y="2015789"/>
            <a:ext cx="5239385" cy="3143632"/>
          </a:xfrm>
          <a:prstGeom prst="rect">
            <a:avLst/>
          </a:prstGeom>
        </p:spPr>
      </p:pic>
      <p:sp>
        <p:nvSpPr>
          <p:cNvPr id="18" name="TextBox 3">
            <a:extLst>
              <a:ext uri="{FF2B5EF4-FFF2-40B4-BE49-F238E27FC236}">
                <a16:creationId xmlns:a16="http://schemas.microsoft.com/office/drawing/2014/main" id="{5514F43F-1217-2C47-6028-F65A8D08FBC5}"/>
              </a:ext>
            </a:extLst>
          </p:cNvPr>
          <p:cNvSpPr txBox="1"/>
          <p:nvPr/>
        </p:nvSpPr>
        <p:spPr>
          <a:xfrm>
            <a:off x="3641980" y="5126917"/>
            <a:ext cx="4542282" cy="1347035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3000" b="1">
                <a:solidFill>
                  <a:srgbClr val="F4F8FD"/>
                </a:solidFill>
                <a:latin typeface="Aptos"/>
              </a:defRPr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4F8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MARIO RODRIGUEZ DEL SASTRE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3000" b="1">
                <a:solidFill>
                  <a:srgbClr val="F4F8FD"/>
                </a:solidFill>
                <a:latin typeface="Aptos"/>
              </a:defRPr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4F8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JOSE RAMSES MORENO GONZALEZ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3000" b="1">
                <a:solidFill>
                  <a:srgbClr val="F4F8FD"/>
                </a:solidFill>
                <a:latin typeface="Aptos"/>
              </a:defRPr>
            </a:pPr>
            <a:endParaRPr kumimoji="0" sz="3000" b="1" i="0" u="none" strike="noStrike" kern="1200" cap="none" spc="0" normalizeH="0" baseline="0" noProof="0" dirty="0">
              <a:ln>
                <a:noFill/>
              </a:ln>
              <a:solidFill>
                <a:srgbClr val="F4F8FD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61299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EE6AEBCBFE49F4A974C404B456E6640" ma:contentTypeVersion="4" ma:contentTypeDescription="Create a new document." ma:contentTypeScope="" ma:versionID="86fa05b76d1b9df38b82755a8c465434">
  <xsd:schema xmlns:xsd="http://www.w3.org/2001/XMLSchema" xmlns:xs="http://www.w3.org/2001/XMLSchema" xmlns:p="http://schemas.microsoft.com/office/2006/metadata/properties" xmlns:ns3="1a360d15-4b15-4011-b661-1e7d1019a5ae" targetNamespace="http://schemas.microsoft.com/office/2006/metadata/properties" ma:root="true" ma:fieldsID="54a6226c07691acf0939a2f3f5d796e2" ns3:_="">
    <xsd:import namespace="1a360d15-4b15-4011-b661-1e7d1019a5ae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360d15-4b15-4011-b661-1e7d1019a5ae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F7140EA-9BF7-4558-87B0-17FF42D60C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BD9C84C-A5D0-4FB5-B182-1560D77EF11C}">
  <ds:schemaRefs>
    <ds:schemaRef ds:uri="http://purl.org/dc/dcmitype/"/>
    <ds:schemaRef ds:uri="http://schemas.openxmlformats.org/package/2006/metadata/core-properties"/>
    <ds:schemaRef ds:uri="http://schemas.microsoft.com/office/2006/documentManagement/types"/>
    <ds:schemaRef ds:uri="http://purl.org/dc/elements/1.1/"/>
    <ds:schemaRef ds:uri="1a360d15-4b15-4011-b661-1e7d1019a5ae"/>
    <ds:schemaRef ds:uri="http://www.w3.org/XML/1998/namespace"/>
    <ds:schemaRef ds:uri="http://purl.org/dc/terms/"/>
    <ds:schemaRef ds:uri="http://schemas.microsoft.com/office/infopath/2007/PartnerControl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216887F7-78AB-44A7-99AC-D9DF58EE8C3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a360d15-4b15-4011-b661-1e7d1019a5a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758</TotalTime>
  <Words>2498</Words>
  <Application>Microsoft Office PowerPoint</Application>
  <PresentationFormat>Panorámica</PresentationFormat>
  <Paragraphs>321</Paragraphs>
  <Slides>25</Slides>
  <Notes>25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25</vt:i4>
      </vt:variant>
    </vt:vector>
  </HeadingPairs>
  <TitlesOfParts>
    <vt:vector size="31" baseType="lpstr">
      <vt:lpstr>Aptos</vt:lpstr>
      <vt:lpstr>Aptos Mono</vt:lpstr>
      <vt:lpstr>Arial</vt:lpstr>
      <vt:lpstr>Calibri</vt:lpstr>
      <vt:lpstr>Office Theme</vt:lpstr>
      <vt:lpstr>1_Office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Seguridad de QKD frente a ataques de inyección óptica</dc:title>
  <dc:subject>Propuesta metodológica QKD</dc:subject>
  <dc:creator>Proyecto Investigación en Ciberseguridad</dc:creator>
  <cp:lastModifiedBy>mario rodriguez</cp:lastModifiedBy>
  <cp:revision>95</cp:revision>
  <dcterms:created xsi:type="dcterms:W3CDTF">2026-10-12T17:59:13Z</dcterms:created>
  <dcterms:modified xsi:type="dcterms:W3CDTF">2026-10-15T20:46:49Z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0x010100CEE6AEBCBFE49F4A974C404B456E6640</vt:lpwstr>
  </property>
</Properties>
</file>